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307" r:id="rId3"/>
    <p:sldId id="312" r:id="rId4"/>
    <p:sldId id="308" r:id="rId5"/>
    <p:sldId id="309" r:id="rId6"/>
    <p:sldId id="310" r:id="rId7"/>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17" autoAdjust="0"/>
    <p:restoredTop sz="94694"/>
  </p:normalViewPr>
  <p:slideViewPr>
    <p:cSldViewPr>
      <p:cViewPr varScale="1">
        <p:scale>
          <a:sx n="106" d="100"/>
          <a:sy n="106" d="100"/>
        </p:scale>
        <p:origin x="1872" y="17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46CF2C23-823F-47EC-91A8-369265FC2E50}" type="datetimeFigureOut">
              <a:rPr lang="fr-FR" smtClean="0"/>
              <a:t>03/11/2025</a:t>
            </a:fld>
            <a:endParaRPr lang="fr-FR"/>
          </a:p>
        </p:txBody>
      </p:sp>
      <p:sp>
        <p:nvSpPr>
          <p:cNvPr id="4" name="Espace réservé de l'image des diapositives 3"/>
          <p:cNvSpPr>
            <a:spLocks noGrp="1" noRot="1" noChangeAspect="1"/>
          </p:cNvSpPr>
          <p:nvPr>
            <p:ph type="sldImg" idx="2"/>
          </p:nvPr>
        </p:nvSpPr>
        <p:spPr>
          <a:xfrm>
            <a:off x="3543300" y="946150"/>
            <a:ext cx="3606800" cy="2551113"/>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1069975" y="3640138"/>
            <a:ext cx="8553450" cy="29781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7183438"/>
            <a:ext cx="4633913" cy="379412"/>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6057900" y="7183438"/>
            <a:ext cx="4632325" cy="379412"/>
          </a:xfrm>
          <a:prstGeom prst="rect">
            <a:avLst/>
          </a:prstGeom>
        </p:spPr>
        <p:txBody>
          <a:bodyPr vert="horz" lIns="91440" tIns="45720" rIns="91440" bIns="45720" rtlCol="0" anchor="b"/>
          <a:lstStyle>
            <a:lvl1pPr algn="r">
              <a:defRPr sz="1200"/>
            </a:lvl1pPr>
          </a:lstStyle>
          <a:p>
            <a:fld id="{21515476-492E-47BC-ACE7-7FECFB748B83}" type="slidenum">
              <a:rPr lang="fr-FR" smtClean="0"/>
              <a:t>‹N°›</a:t>
            </a:fld>
            <a:endParaRPr lang="fr-FR"/>
          </a:p>
        </p:txBody>
      </p:sp>
    </p:spTree>
    <p:extLst>
      <p:ext uri="{BB962C8B-B14F-4D97-AF65-F5344CB8AC3E}">
        <p14:creationId xmlns:p14="http://schemas.microsoft.com/office/powerpoint/2010/main" val="2158990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sz="1800" b="1" i="0">
                <a:solidFill>
                  <a:schemeClr val="bg1"/>
                </a:solidFill>
                <a:latin typeface="Century Gothic"/>
                <a:cs typeface="Century Gothic"/>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sz="11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p:txBody>
          <a:bodyPr lIns="0" tIns="0" rIns="0" bIns="0"/>
          <a:lstStyle>
            <a:lvl1pPr>
              <a:defRPr sz="600" b="0" i="1">
                <a:solidFill>
                  <a:schemeClr val="tx1"/>
                </a:solidFill>
                <a:latin typeface="Century Gothic"/>
                <a:cs typeface="Century Gothic"/>
              </a:defRPr>
            </a:lvl1pPr>
          </a:lstStyle>
          <a:p>
            <a:pPr marL="12700">
              <a:lnSpc>
                <a:spcPct val="100000"/>
              </a:lnSpc>
              <a:spcBef>
                <a:spcPts val="100"/>
              </a:spcBef>
            </a:pPr>
            <a:r>
              <a:rPr spc="-25" dirty="0"/>
              <a:t>25</a:t>
            </a:r>
          </a:p>
        </p:txBody>
      </p:sp>
      <p:sp>
        <p:nvSpPr>
          <p:cNvPr id="5" name="Holder 5"/>
          <p:cNvSpPr>
            <a:spLocks noGrp="1"/>
          </p:cNvSpPr>
          <p:nvPr>
            <p:ph type="dt" sz="half" idx="6"/>
          </p:nvPr>
        </p:nvSpPr>
        <p:spPr/>
        <p:txBody>
          <a:bodyPr lIns="0" tIns="0" rIns="0" bIns="0"/>
          <a:lstStyle>
            <a:lvl1pPr>
              <a:defRPr sz="700" b="1" i="0">
                <a:solidFill>
                  <a:schemeClr val="tx1"/>
                </a:solidFill>
                <a:latin typeface="Century Gothic"/>
                <a:cs typeface="Century Gothic"/>
              </a:defRPr>
            </a:lvl1pPr>
          </a:lstStyle>
          <a:p>
            <a:pPr marL="12700">
              <a:lnSpc>
                <a:spcPct val="100000"/>
              </a:lnSpc>
              <a:spcBef>
                <a:spcPts val="105"/>
              </a:spcBef>
            </a:pPr>
            <a:r>
              <a:rPr spc="-10" dirty="0"/>
              <a:t>Mémoire</a:t>
            </a:r>
            <a:r>
              <a:rPr spc="5" dirty="0"/>
              <a:t> </a:t>
            </a:r>
            <a:r>
              <a:rPr spc="-10" dirty="0"/>
              <a:t>technique</a:t>
            </a:r>
          </a:p>
          <a:p>
            <a:pPr marL="12700">
              <a:lnSpc>
                <a:spcPct val="100000"/>
              </a:lnSpc>
            </a:pPr>
            <a:r>
              <a:rPr b="0" dirty="0">
                <a:latin typeface="Century Gothic"/>
                <a:cs typeface="Century Gothic"/>
              </a:rPr>
              <a:t>Mission</a:t>
            </a:r>
            <a:r>
              <a:rPr b="0" spc="-5" dirty="0">
                <a:latin typeface="Century Gothic"/>
                <a:cs typeface="Century Gothic"/>
              </a:rPr>
              <a:t> </a:t>
            </a:r>
            <a:r>
              <a:rPr b="0" dirty="0">
                <a:latin typeface="Century Gothic"/>
                <a:cs typeface="Century Gothic"/>
              </a:rPr>
              <a:t>de maîtrise d’œuvre pour la réhabilitation de XXX </a:t>
            </a:r>
            <a:r>
              <a:rPr b="0" spc="-10" dirty="0">
                <a:latin typeface="Century Gothic"/>
                <a:cs typeface="Century Gothic"/>
              </a:rPr>
              <a:t>logements</a:t>
            </a:r>
            <a:r>
              <a:rPr b="0" dirty="0">
                <a:latin typeface="Century Gothic"/>
                <a:cs typeface="Century Gothic"/>
              </a:rPr>
              <a:t> au XXX rue xxxx</a:t>
            </a:r>
            <a:r>
              <a:rPr b="0" spc="200" dirty="0">
                <a:latin typeface="Century Gothic"/>
                <a:cs typeface="Century Gothic"/>
              </a:rPr>
              <a:t> </a:t>
            </a:r>
            <a:r>
              <a:rPr b="0" dirty="0">
                <a:latin typeface="Century Gothic"/>
                <a:cs typeface="Century Gothic"/>
              </a:rPr>
              <a:t>XXXXX </a:t>
            </a:r>
            <a:r>
              <a:rPr b="0" spc="-20" dirty="0">
                <a:latin typeface="Century Gothic"/>
                <a:cs typeface="Century Gothic"/>
              </a:rPr>
              <a:t>(XX)</a:t>
            </a:r>
          </a:p>
        </p:txBody>
      </p:sp>
      <p:sp>
        <p:nvSpPr>
          <p:cNvPr id="6" name="Holder 6"/>
          <p:cNvSpPr>
            <a:spLocks noGrp="1"/>
          </p:cNvSpPr>
          <p:nvPr>
            <p:ph type="sldNum" sz="quarter" idx="7"/>
          </p:nvPr>
        </p:nvSpPr>
        <p:spPr/>
        <p:txBody>
          <a:bodyPr lIns="0" tIns="0" rIns="0" bIns="0"/>
          <a:lstStyle>
            <a:lvl1pPr>
              <a:defRPr sz="800" b="0" i="1">
                <a:solidFill>
                  <a:schemeClr val="tx1"/>
                </a:solidFill>
                <a:latin typeface="Century Gothic"/>
                <a:cs typeface="Century Gothic"/>
              </a:defRPr>
            </a:lvl1pPr>
          </a:lstStyle>
          <a:p>
            <a:pPr marL="38100">
              <a:lnSpc>
                <a:spcPct val="100000"/>
              </a:lnSpc>
              <a:spcBef>
                <a:spcPts val="105"/>
              </a:spcBef>
            </a:pPr>
            <a:fld id="{81D60167-4931-47E6-BA6A-407CBD079E47}" type="slidenum">
              <a:rPr spc="-25" dirty="0"/>
              <a:t>‹N°›</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91299" y="294902"/>
            <a:ext cx="4935855" cy="299720"/>
          </a:xfrm>
          <a:prstGeom prst="rect">
            <a:avLst/>
          </a:prstGeom>
        </p:spPr>
        <p:txBody>
          <a:bodyPr lIns="0" tIns="0" rIns="0" bIns="0"/>
          <a:lstStyle>
            <a:lvl1pPr>
              <a:defRPr sz="1800" b="1" i="0">
                <a:solidFill>
                  <a:schemeClr val="bg1"/>
                </a:solidFill>
                <a:latin typeface="Century Gothic"/>
                <a:cs typeface="Century Gothic"/>
              </a:defRPr>
            </a:lvl1pPr>
          </a:lstStyle>
          <a:p>
            <a:endParaRPr/>
          </a:p>
        </p:txBody>
      </p:sp>
      <p:sp>
        <p:nvSpPr>
          <p:cNvPr id="3" name="Holder 3"/>
          <p:cNvSpPr>
            <a:spLocks noGrp="1"/>
          </p:cNvSpPr>
          <p:nvPr>
            <p:ph type="body" idx="1"/>
          </p:nvPr>
        </p:nvSpPr>
        <p:spPr>
          <a:xfrm>
            <a:off x="491299" y="1136542"/>
            <a:ext cx="4598670" cy="3653154"/>
          </a:xfrm>
          <a:prstGeom prst="rect">
            <a:avLst/>
          </a:prstGeom>
        </p:spPr>
        <p:txBody>
          <a:bodyPr lIns="0" tIns="0" rIns="0" bIns="0"/>
          <a:lstStyle>
            <a:lvl1pPr>
              <a:defRPr sz="11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p:txBody>
          <a:bodyPr lIns="0" tIns="0" rIns="0" bIns="0"/>
          <a:lstStyle>
            <a:lvl1pPr>
              <a:defRPr sz="600" b="0" i="1">
                <a:solidFill>
                  <a:schemeClr val="tx1"/>
                </a:solidFill>
                <a:latin typeface="Century Gothic"/>
                <a:cs typeface="Century Gothic"/>
              </a:defRPr>
            </a:lvl1pPr>
          </a:lstStyle>
          <a:p>
            <a:pPr marL="12700">
              <a:lnSpc>
                <a:spcPct val="100000"/>
              </a:lnSpc>
              <a:spcBef>
                <a:spcPts val="100"/>
              </a:spcBef>
            </a:pPr>
            <a:r>
              <a:rPr spc="-25" dirty="0"/>
              <a:t>25</a:t>
            </a:r>
          </a:p>
        </p:txBody>
      </p:sp>
      <p:sp>
        <p:nvSpPr>
          <p:cNvPr id="5" name="Holder 5"/>
          <p:cNvSpPr>
            <a:spLocks noGrp="1"/>
          </p:cNvSpPr>
          <p:nvPr>
            <p:ph type="dt" sz="half" idx="6"/>
          </p:nvPr>
        </p:nvSpPr>
        <p:spPr/>
        <p:txBody>
          <a:bodyPr lIns="0" tIns="0" rIns="0" bIns="0"/>
          <a:lstStyle>
            <a:lvl1pPr>
              <a:defRPr sz="700" b="1" i="0">
                <a:solidFill>
                  <a:schemeClr val="tx1"/>
                </a:solidFill>
                <a:latin typeface="Century Gothic"/>
                <a:cs typeface="Century Gothic"/>
              </a:defRPr>
            </a:lvl1pPr>
          </a:lstStyle>
          <a:p>
            <a:pPr marL="12700">
              <a:lnSpc>
                <a:spcPct val="100000"/>
              </a:lnSpc>
              <a:spcBef>
                <a:spcPts val="105"/>
              </a:spcBef>
            </a:pPr>
            <a:r>
              <a:rPr spc="-10" dirty="0"/>
              <a:t>Mémoire</a:t>
            </a:r>
            <a:r>
              <a:rPr spc="5" dirty="0"/>
              <a:t> </a:t>
            </a:r>
            <a:r>
              <a:rPr spc="-10" dirty="0"/>
              <a:t>technique</a:t>
            </a:r>
          </a:p>
          <a:p>
            <a:pPr marL="12700">
              <a:lnSpc>
                <a:spcPct val="100000"/>
              </a:lnSpc>
            </a:pPr>
            <a:r>
              <a:rPr b="0" dirty="0">
                <a:latin typeface="Century Gothic"/>
                <a:cs typeface="Century Gothic"/>
              </a:rPr>
              <a:t>Mission</a:t>
            </a:r>
            <a:r>
              <a:rPr b="0" spc="-5" dirty="0">
                <a:latin typeface="Century Gothic"/>
                <a:cs typeface="Century Gothic"/>
              </a:rPr>
              <a:t> </a:t>
            </a:r>
            <a:r>
              <a:rPr b="0" dirty="0">
                <a:latin typeface="Century Gothic"/>
                <a:cs typeface="Century Gothic"/>
              </a:rPr>
              <a:t>de maîtrise d’œuvre pour la réhabilitation de XXX </a:t>
            </a:r>
            <a:r>
              <a:rPr b="0" spc="-10" dirty="0">
                <a:latin typeface="Century Gothic"/>
                <a:cs typeface="Century Gothic"/>
              </a:rPr>
              <a:t>logements</a:t>
            </a:r>
            <a:r>
              <a:rPr b="0" dirty="0">
                <a:latin typeface="Century Gothic"/>
                <a:cs typeface="Century Gothic"/>
              </a:rPr>
              <a:t> au XXX rue xxxx</a:t>
            </a:r>
            <a:r>
              <a:rPr b="0" spc="200" dirty="0">
                <a:latin typeface="Century Gothic"/>
                <a:cs typeface="Century Gothic"/>
              </a:rPr>
              <a:t> </a:t>
            </a:r>
            <a:r>
              <a:rPr b="0" dirty="0">
                <a:latin typeface="Century Gothic"/>
                <a:cs typeface="Century Gothic"/>
              </a:rPr>
              <a:t>XXXXX </a:t>
            </a:r>
            <a:r>
              <a:rPr b="0" spc="-20" dirty="0">
                <a:latin typeface="Century Gothic"/>
                <a:cs typeface="Century Gothic"/>
              </a:rPr>
              <a:t>(XX)</a:t>
            </a:r>
          </a:p>
        </p:txBody>
      </p:sp>
      <p:sp>
        <p:nvSpPr>
          <p:cNvPr id="6" name="Holder 6"/>
          <p:cNvSpPr>
            <a:spLocks noGrp="1"/>
          </p:cNvSpPr>
          <p:nvPr>
            <p:ph type="sldNum" sz="quarter" idx="7"/>
          </p:nvPr>
        </p:nvSpPr>
        <p:spPr/>
        <p:txBody>
          <a:bodyPr lIns="0" tIns="0" rIns="0" bIns="0"/>
          <a:lstStyle>
            <a:lvl1pPr>
              <a:defRPr sz="800" b="0" i="1">
                <a:solidFill>
                  <a:schemeClr val="tx1"/>
                </a:solidFill>
                <a:latin typeface="Century Gothic"/>
                <a:cs typeface="Century Gothic"/>
              </a:defRPr>
            </a:lvl1pPr>
          </a:lstStyle>
          <a:p>
            <a:pPr marL="38100">
              <a:lnSpc>
                <a:spcPct val="100000"/>
              </a:lnSpc>
              <a:spcBef>
                <a:spcPts val="105"/>
              </a:spcBef>
            </a:pPr>
            <a:fld id="{81D60167-4931-47E6-BA6A-407CBD079E47}" type="slidenum">
              <a:rPr spc="-25" dirty="0"/>
              <a:t>‹N°›</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91299" y="294902"/>
            <a:ext cx="4935855" cy="299720"/>
          </a:xfrm>
          <a:prstGeom prst="rect">
            <a:avLst/>
          </a:prstGeom>
        </p:spPr>
        <p:txBody>
          <a:bodyPr lIns="0" tIns="0" rIns="0" bIns="0"/>
          <a:lstStyle>
            <a:lvl1pPr>
              <a:defRPr sz="1800" b="1" i="0">
                <a:solidFill>
                  <a:schemeClr val="bg1"/>
                </a:solidFill>
                <a:latin typeface="Century Gothic"/>
                <a:cs typeface="Century Gothic"/>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1">
                <a:solidFill>
                  <a:schemeClr val="tx1"/>
                </a:solidFill>
                <a:latin typeface="Century Gothic"/>
                <a:cs typeface="Century Gothic"/>
              </a:defRPr>
            </a:lvl1pPr>
          </a:lstStyle>
          <a:p>
            <a:pPr marL="12700">
              <a:lnSpc>
                <a:spcPct val="100000"/>
              </a:lnSpc>
              <a:spcBef>
                <a:spcPts val="100"/>
              </a:spcBef>
            </a:pPr>
            <a:r>
              <a:rPr spc="-25" dirty="0"/>
              <a:t>25</a:t>
            </a:r>
          </a:p>
        </p:txBody>
      </p:sp>
      <p:sp>
        <p:nvSpPr>
          <p:cNvPr id="6" name="Holder 6"/>
          <p:cNvSpPr>
            <a:spLocks noGrp="1"/>
          </p:cNvSpPr>
          <p:nvPr>
            <p:ph type="dt" sz="half" idx="6"/>
          </p:nvPr>
        </p:nvSpPr>
        <p:spPr/>
        <p:txBody>
          <a:bodyPr lIns="0" tIns="0" rIns="0" bIns="0"/>
          <a:lstStyle>
            <a:lvl1pPr>
              <a:defRPr sz="700" b="1" i="0">
                <a:solidFill>
                  <a:schemeClr val="tx1"/>
                </a:solidFill>
                <a:latin typeface="Century Gothic"/>
                <a:cs typeface="Century Gothic"/>
              </a:defRPr>
            </a:lvl1pPr>
          </a:lstStyle>
          <a:p>
            <a:pPr marL="12700">
              <a:lnSpc>
                <a:spcPct val="100000"/>
              </a:lnSpc>
              <a:spcBef>
                <a:spcPts val="105"/>
              </a:spcBef>
            </a:pPr>
            <a:r>
              <a:rPr spc="-10" dirty="0"/>
              <a:t>Mémoire</a:t>
            </a:r>
            <a:r>
              <a:rPr spc="5" dirty="0"/>
              <a:t> </a:t>
            </a:r>
            <a:r>
              <a:rPr spc="-10" dirty="0"/>
              <a:t>technique</a:t>
            </a:r>
          </a:p>
          <a:p>
            <a:pPr marL="12700">
              <a:lnSpc>
                <a:spcPct val="100000"/>
              </a:lnSpc>
            </a:pPr>
            <a:r>
              <a:rPr b="0" dirty="0">
                <a:latin typeface="Century Gothic"/>
                <a:cs typeface="Century Gothic"/>
              </a:rPr>
              <a:t>Mission</a:t>
            </a:r>
            <a:r>
              <a:rPr b="0" spc="-5" dirty="0">
                <a:latin typeface="Century Gothic"/>
                <a:cs typeface="Century Gothic"/>
              </a:rPr>
              <a:t> </a:t>
            </a:r>
            <a:r>
              <a:rPr b="0" dirty="0">
                <a:latin typeface="Century Gothic"/>
                <a:cs typeface="Century Gothic"/>
              </a:rPr>
              <a:t>de maîtrise d’œuvre pour la réhabilitation de XXX </a:t>
            </a:r>
            <a:r>
              <a:rPr b="0" spc="-10" dirty="0">
                <a:latin typeface="Century Gothic"/>
                <a:cs typeface="Century Gothic"/>
              </a:rPr>
              <a:t>logements</a:t>
            </a:r>
            <a:r>
              <a:rPr b="0" dirty="0">
                <a:latin typeface="Century Gothic"/>
                <a:cs typeface="Century Gothic"/>
              </a:rPr>
              <a:t> au XXX rue xxxx</a:t>
            </a:r>
            <a:r>
              <a:rPr b="0" spc="200" dirty="0">
                <a:latin typeface="Century Gothic"/>
                <a:cs typeface="Century Gothic"/>
              </a:rPr>
              <a:t> </a:t>
            </a:r>
            <a:r>
              <a:rPr b="0" dirty="0">
                <a:latin typeface="Century Gothic"/>
                <a:cs typeface="Century Gothic"/>
              </a:rPr>
              <a:t>XXXXX </a:t>
            </a:r>
            <a:r>
              <a:rPr b="0" spc="-20" dirty="0">
                <a:latin typeface="Century Gothic"/>
                <a:cs typeface="Century Gothic"/>
              </a:rPr>
              <a:t>(XX)</a:t>
            </a:r>
          </a:p>
        </p:txBody>
      </p:sp>
      <p:sp>
        <p:nvSpPr>
          <p:cNvPr id="7" name="Holder 7"/>
          <p:cNvSpPr>
            <a:spLocks noGrp="1"/>
          </p:cNvSpPr>
          <p:nvPr>
            <p:ph type="sldNum" sz="quarter" idx="7"/>
          </p:nvPr>
        </p:nvSpPr>
        <p:spPr/>
        <p:txBody>
          <a:bodyPr lIns="0" tIns="0" rIns="0" bIns="0"/>
          <a:lstStyle>
            <a:lvl1pPr>
              <a:defRPr sz="800" b="0" i="1">
                <a:solidFill>
                  <a:schemeClr val="tx1"/>
                </a:solidFill>
                <a:latin typeface="Century Gothic"/>
                <a:cs typeface="Century Gothic"/>
              </a:defRPr>
            </a:lvl1pPr>
          </a:lstStyle>
          <a:p>
            <a:pPr marL="38100">
              <a:lnSpc>
                <a:spcPct val="100000"/>
              </a:lnSpc>
              <a:spcBef>
                <a:spcPts val="105"/>
              </a:spcBef>
            </a:pPr>
            <a:fld id="{81D60167-4931-47E6-BA6A-407CBD079E47}" type="slidenum">
              <a:rPr spc="-25" dirty="0"/>
              <a:t>‹N°›</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91299" y="294902"/>
            <a:ext cx="4935855" cy="299720"/>
          </a:xfrm>
          <a:prstGeom prst="rect">
            <a:avLst/>
          </a:prstGeom>
        </p:spPr>
        <p:txBody>
          <a:bodyPr lIns="0" tIns="0" rIns="0" bIns="0"/>
          <a:lstStyle>
            <a:lvl1pPr>
              <a:defRPr sz="1800" b="1" i="0">
                <a:solidFill>
                  <a:schemeClr val="bg1"/>
                </a:solidFill>
                <a:latin typeface="Century Gothic"/>
                <a:cs typeface="Century Gothic"/>
              </a:defRPr>
            </a:lvl1pPr>
          </a:lstStyle>
          <a:p>
            <a:endParaRPr/>
          </a:p>
        </p:txBody>
      </p:sp>
      <p:sp>
        <p:nvSpPr>
          <p:cNvPr id="3" name="Holder 3"/>
          <p:cNvSpPr>
            <a:spLocks noGrp="1"/>
          </p:cNvSpPr>
          <p:nvPr>
            <p:ph type="ftr" sz="quarter" idx="5"/>
          </p:nvPr>
        </p:nvSpPr>
        <p:spPr/>
        <p:txBody>
          <a:bodyPr lIns="0" tIns="0" rIns="0" bIns="0"/>
          <a:lstStyle>
            <a:lvl1pPr>
              <a:defRPr sz="600" b="0" i="1">
                <a:solidFill>
                  <a:schemeClr val="tx1"/>
                </a:solidFill>
                <a:latin typeface="Century Gothic"/>
                <a:cs typeface="Century Gothic"/>
              </a:defRPr>
            </a:lvl1pPr>
          </a:lstStyle>
          <a:p>
            <a:pPr marL="12700">
              <a:lnSpc>
                <a:spcPct val="100000"/>
              </a:lnSpc>
              <a:spcBef>
                <a:spcPts val="100"/>
              </a:spcBef>
            </a:pPr>
            <a:r>
              <a:rPr spc="-25" dirty="0"/>
              <a:t>25</a:t>
            </a:r>
          </a:p>
        </p:txBody>
      </p:sp>
      <p:sp>
        <p:nvSpPr>
          <p:cNvPr id="4" name="Holder 4"/>
          <p:cNvSpPr>
            <a:spLocks noGrp="1"/>
          </p:cNvSpPr>
          <p:nvPr>
            <p:ph type="dt" sz="half" idx="6"/>
          </p:nvPr>
        </p:nvSpPr>
        <p:spPr/>
        <p:txBody>
          <a:bodyPr lIns="0" tIns="0" rIns="0" bIns="0"/>
          <a:lstStyle>
            <a:lvl1pPr>
              <a:defRPr sz="700" b="1" i="0">
                <a:solidFill>
                  <a:schemeClr val="tx1"/>
                </a:solidFill>
                <a:latin typeface="Century Gothic"/>
                <a:cs typeface="Century Gothic"/>
              </a:defRPr>
            </a:lvl1pPr>
          </a:lstStyle>
          <a:p>
            <a:pPr marL="12700">
              <a:lnSpc>
                <a:spcPct val="100000"/>
              </a:lnSpc>
              <a:spcBef>
                <a:spcPts val="105"/>
              </a:spcBef>
            </a:pPr>
            <a:r>
              <a:rPr spc="-10" dirty="0"/>
              <a:t>Mémoire</a:t>
            </a:r>
            <a:r>
              <a:rPr spc="5" dirty="0"/>
              <a:t> </a:t>
            </a:r>
            <a:r>
              <a:rPr spc="-10" dirty="0"/>
              <a:t>technique</a:t>
            </a:r>
          </a:p>
          <a:p>
            <a:pPr marL="12700">
              <a:lnSpc>
                <a:spcPct val="100000"/>
              </a:lnSpc>
            </a:pPr>
            <a:r>
              <a:rPr b="0" dirty="0">
                <a:latin typeface="Century Gothic"/>
                <a:cs typeface="Century Gothic"/>
              </a:rPr>
              <a:t>Mission</a:t>
            </a:r>
            <a:r>
              <a:rPr b="0" spc="-5" dirty="0">
                <a:latin typeface="Century Gothic"/>
                <a:cs typeface="Century Gothic"/>
              </a:rPr>
              <a:t> </a:t>
            </a:r>
            <a:r>
              <a:rPr b="0" dirty="0">
                <a:latin typeface="Century Gothic"/>
                <a:cs typeface="Century Gothic"/>
              </a:rPr>
              <a:t>de maîtrise d’œuvre pour la réhabilitation de XXX </a:t>
            </a:r>
            <a:r>
              <a:rPr b="0" spc="-10" dirty="0">
                <a:latin typeface="Century Gothic"/>
                <a:cs typeface="Century Gothic"/>
              </a:rPr>
              <a:t>logements</a:t>
            </a:r>
            <a:r>
              <a:rPr b="0" dirty="0">
                <a:latin typeface="Century Gothic"/>
                <a:cs typeface="Century Gothic"/>
              </a:rPr>
              <a:t> au XXX rue xxxx</a:t>
            </a:r>
            <a:r>
              <a:rPr b="0" spc="200" dirty="0">
                <a:latin typeface="Century Gothic"/>
                <a:cs typeface="Century Gothic"/>
              </a:rPr>
              <a:t> </a:t>
            </a:r>
            <a:r>
              <a:rPr b="0" dirty="0">
                <a:latin typeface="Century Gothic"/>
                <a:cs typeface="Century Gothic"/>
              </a:rPr>
              <a:t>XXXXX </a:t>
            </a:r>
            <a:r>
              <a:rPr b="0" spc="-20" dirty="0">
                <a:latin typeface="Century Gothic"/>
                <a:cs typeface="Century Gothic"/>
              </a:rPr>
              <a:t>(XX)</a:t>
            </a:r>
          </a:p>
        </p:txBody>
      </p:sp>
      <p:sp>
        <p:nvSpPr>
          <p:cNvPr id="5" name="Holder 5"/>
          <p:cNvSpPr>
            <a:spLocks noGrp="1"/>
          </p:cNvSpPr>
          <p:nvPr>
            <p:ph type="sldNum" sz="quarter" idx="7"/>
          </p:nvPr>
        </p:nvSpPr>
        <p:spPr/>
        <p:txBody>
          <a:bodyPr lIns="0" tIns="0" rIns="0" bIns="0"/>
          <a:lstStyle>
            <a:lvl1pPr>
              <a:defRPr sz="800" b="0" i="1">
                <a:solidFill>
                  <a:schemeClr val="tx1"/>
                </a:solidFill>
                <a:latin typeface="Century Gothic"/>
                <a:cs typeface="Century Gothic"/>
              </a:defRPr>
            </a:lvl1pPr>
          </a:lstStyle>
          <a:p>
            <a:pPr marL="38100">
              <a:lnSpc>
                <a:spcPct val="100000"/>
              </a:lnSpc>
              <a:spcBef>
                <a:spcPts val="105"/>
              </a:spcBef>
            </a:pPr>
            <a:fld id="{81D60167-4931-47E6-BA6A-407CBD079E47}" type="slidenum">
              <a:rPr spc="-25" dirty="0"/>
              <a:t>‹N°›</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1">
                <a:solidFill>
                  <a:schemeClr val="tx1"/>
                </a:solidFill>
                <a:latin typeface="Century Gothic"/>
                <a:cs typeface="Century Gothic"/>
              </a:defRPr>
            </a:lvl1pPr>
          </a:lstStyle>
          <a:p>
            <a:pPr marL="12700">
              <a:lnSpc>
                <a:spcPct val="100000"/>
              </a:lnSpc>
              <a:spcBef>
                <a:spcPts val="100"/>
              </a:spcBef>
            </a:pPr>
            <a:r>
              <a:rPr spc="-25" dirty="0"/>
              <a:t>25</a:t>
            </a:r>
          </a:p>
        </p:txBody>
      </p:sp>
      <p:sp>
        <p:nvSpPr>
          <p:cNvPr id="3" name="Holder 3"/>
          <p:cNvSpPr>
            <a:spLocks noGrp="1"/>
          </p:cNvSpPr>
          <p:nvPr>
            <p:ph type="dt" sz="half" idx="6"/>
          </p:nvPr>
        </p:nvSpPr>
        <p:spPr/>
        <p:txBody>
          <a:bodyPr lIns="0" tIns="0" rIns="0" bIns="0"/>
          <a:lstStyle>
            <a:lvl1pPr>
              <a:defRPr sz="700" b="1" i="0">
                <a:solidFill>
                  <a:schemeClr val="tx1"/>
                </a:solidFill>
                <a:latin typeface="Century Gothic"/>
                <a:cs typeface="Century Gothic"/>
              </a:defRPr>
            </a:lvl1pPr>
          </a:lstStyle>
          <a:p>
            <a:pPr marL="12700">
              <a:lnSpc>
                <a:spcPct val="100000"/>
              </a:lnSpc>
              <a:spcBef>
                <a:spcPts val="105"/>
              </a:spcBef>
            </a:pPr>
            <a:r>
              <a:rPr spc="-10" dirty="0"/>
              <a:t>Mémoire</a:t>
            </a:r>
            <a:r>
              <a:rPr spc="5" dirty="0"/>
              <a:t> </a:t>
            </a:r>
            <a:r>
              <a:rPr spc="-10" dirty="0"/>
              <a:t>technique</a:t>
            </a:r>
          </a:p>
          <a:p>
            <a:pPr marL="12700">
              <a:lnSpc>
                <a:spcPct val="100000"/>
              </a:lnSpc>
            </a:pPr>
            <a:r>
              <a:rPr b="0" dirty="0">
                <a:latin typeface="Century Gothic"/>
                <a:cs typeface="Century Gothic"/>
              </a:rPr>
              <a:t>Mission</a:t>
            </a:r>
            <a:r>
              <a:rPr b="0" spc="-5" dirty="0">
                <a:latin typeface="Century Gothic"/>
                <a:cs typeface="Century Gothic"/>
              </a:rPr>
              <a:t> </a:t>
            </a:r>
            <a:r>
              <a:rPr b="0" dirty="0">
                <a:latin typeface="Century Gothic"/>
                <a:cs typeface="Century Gothic"/>
              </a:rPr>
              <a:t>de maîtrise d’œuvre pour la réhabilitation de XXX </a:t>
            </a:r>
            <a:r>
              <a:rPr b="0" spc="-10" dirty="0">
                <a:latin typeface="Century Gothic"/>
                <a:cs typeface="Century Gothic"/>
              </a:rPr>
              <a:t>logements</a:t>
            </a:r>
            <a:r>
              <a:rPr b="0" dirty="0">
                <a:latin typeface="Century Gothic"/>
                <a:cs typeface="Century Gothic"/>
              </a:rPr>
              <a:t> au XXX rue xxxx</a:t>
            </a:r>
            <a:r>
              <a:rPr b="0" spc="200" dirty="0">
                <a:latin typeface="Century Gothic"/>
                <a:cs typeface="Century Gothic"/>
              </a:rPr>
              <a:t> </a:t>
            </a:r>
            <a:r>
              <a:rPr b="0" dirty="0">
                <a:latin typeface="Century Gothic"/>
                <a:cs typeface="Century Gothic"/>
              </a:rPr>
              <a:t>XXXXX </a:t>
            </a:r>
            <a:r>
              <a:rPr b="0" spc="-20" dirty="0">
                <a:latin typeface="Century Gothic"/>
                <a:cs typeface="Century Gothic"/>
              </a:rPr>
              <a:t>(XX)</a:t>
            </a:r>
          </a:p>
        </p:txBody>
      </p:sp>
      <p:sp>
        <p:nvSpPr>
          <p:cNvPr id="4" name="Holder 4"/>
          <p:cNvSpPr>
            <a:spLocks noGrp="1"/>
          </p:cNvSpPr>
          <p:nvPr>
            <p:ph type="sldNum" sz="quarter" idx="7"/>
          </p:nvPr>
        </p:nvSpPr>
        <p:spPr/>
        <p:txBody>
          <a:bodyPr lIns="0" tIns="0" rIns="0" bIns="0"/>
          <a:lstStyle>
            <a:lvl1pPr>
              <a:defRPr sz="800" b="0" i="1">
                <a:solidFill>
                  <a:schemeClr val="tx1"/>
                </a:solidFill>
                <a:latin typeface="Century Gothic"/>
                <a:cs typeface="Century Gothic"/>
              </a:defRPr>
            </a:lvl1pPr>
          </a:lstStyle>
          <a:p>
            <a:pPr marL="38100">
              <a:lnSpc>
                <a:spcPct val="100000"/>
              </a:lnSpc>
              <a:spcBef>
                <a:spcPts val="105"/>
              </a:spcBef>
            </a:pPr>
            <a:fld id="{81D60167-4931-47E6-BA6A-407CBD079E47}" type="slidenum">
              <a:rPr spc="-25" dirty="0"/>
              <a:t>‹N°›</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4FED28BD-9E32-35B7-FC8A-2FD8521BC706}"/>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519820" y="7044218"/>
            <a:ext cx="719564" cy="341320"/>
          </a:xfrm>
          <a:prstGeom prst="rect">
            <a:avLst/>
          </a:prstGeom>
        </p:spPr>
      </p:pic>
      <p:sp>
        <p:nvSpPr>
          <p:cNvPr id="16" name="bg object 16"/>
          <p:cNvSpPr/>
          <p:nvPr/>
        </p:nvSpPr>
        <p:spPr>
          <a:xfrm>
            <a:off x="-2" y="6916767"/>
            <a:ext cx="10692130" cy="0"/>
          </a:xfrm>
          <a:custGeom>
            <a:avLst/>
            <a:gdLst/>
            <a:ahLst/>
            <a:cxnLst/>
            <a:rect l="l" t="t" r="r" b="b"/>
            <a:pathLst>
              <a:path w="10692130">
                <a:moveTo>
                  <a:pt x="10692003" y="0"/>
                </a:moveTo>
                <a:lnTo>
                  <a:pt x="0" y="0"/>
                </a:lnTo>
              </a:path>
            </a:pathLst>
          </a:custGeom>
          <a:ln w="9525">
            <a:solidFill>
              <a:srgbClr val="000000"/>
            </a:solidFill>
          </a:ln>
        </p:spPr>
        <p:txBody>
          <a:bodyPr wrap="square" lIns="0" tIns="0" rIns="0" bIns="0" rtlCol="0"/>
          <a:lstStyle/>
          <a:p>
            <a:endParaRPr/>
          </a:p>
        </p:txBody>
      </p:sp>
      <p:pic>
        <p:nvPicPr>
          <p:cNvPr id="19" name="bg object 19"/>
          <p:cNvPicPr/>
          <p:nvPr/>
        </p:nvPicPr>
        <p:blipFill>
          <a:blip r:embed="rId8" cstate="print"/>
          <a:stretch>
            <a:fillRect/>
          </a:stretch>
        </p:blipFill>
        <p:spPr>
          <a:xfrm>
            <a:off x="1780200" y="7030804"/>
            <a:ext cx="349199" cy="349199"/>
          </a:xfrm>
          <a:prstGeom prst="rect">
            <a:avLst/>
          </a:prstGeom>
        </p:spPr>
      </p:pic>
      <p:sp>
        <p:nvSpPr>
          <p:cNvPr id="22" name="bg object 22"/>
          <p:cNvSpPr/>
          <p:nvPr userDrawn="1"/>
        </p:nvSpPr>
        <p:spPr>
          <a:xfrm>
            <a:off x="505587" y="7030808"/>
            <a:ext cx="748030" cy="349250"/>
          </a:xfrm>
          <a:custGeom>
            <a:avLst/>
            <a:gdLst/>
            <a:ahLst/>
            <a:cxnLst/>
            <a:rect l="l" t="t" r="r" b="b"/>
            <a:pathLst>
              <a:path w="748030" h="349250">
                <a:moveTo>
                  <a:pt x="0" y="349199"/>
                </a:moveTo>
                <a:lnTo>
                  <a:pt x="747814" y="349199"/>
                </a:lnTo>
                <a:lnTo>
                  <a:pt x="747814" y="0"/>
                </a:lnTo>
                <a:lnTo>
                  <a:pt x="0" y="0"/>
                </a:lnTo>
                <a:lnTo>
                  <a:pt x="0" y="349199"/>
                </a:lnTo>
                <a:close/>
              </a:path>
            </a:pathLst>
          </a:custGeom>
          <a:ln w="3175">
            <a:solidFill>
              <a:srgbClr val="000000"/>
            </a:solidFill>
          </a:ln>
        </p:spPr>
        <p:txBody>
          <a:bodyPr wrap="square" lIns="0" tIns="0" rIns="0" bIns="0" rtlCol="0"/>
          <a:lstStyle/>
          <a:p>
            <a:endParaRPr/>
          </a:p>
        </p:txBody>
      </p:sp>
      <p:sp>
        <p:nvSpPr>
          <p:cNvPr id="23" name="bg object 23"/>
          <p:cNvSpPr/>
          <p:nvPr/>
        </p:nvSpPr>
        <p:spPr>
          <a:xfrm>
            <a:off x="10172248" y="7227706"/>
            <a:ext cx="132080" cy="132080"/>
          </a:xfrm>
          <a:custGeom>
            <a:avLst/>
            <a:gdLst/>
            <a:ahLst/>
            <a:cxnLst/>
            <a:rect l="l" t="t" r="r" b="b"/>
            <a:pathLst>
              <a:path w="132079" h="132079">
                <a:moveTo>
                  <a:pt x="131546" y="0"/>
                </a:moveTo>
                <a:lnTo>
                  <a:pt x="0" y="131546"/>
                </a:lnTo>
              </a:path>
            </a:pathLst>
          </a:custGeom>
          <a:ln w="6350">
            <a:solidFill>
              <a:srgbClr val="000000"/>
            </a:solidFill>
          </a:ln>
        </p:spPr>
        <p:txBody>
          <a:bodyPr wrap="square" lIns="0" tIns="0" rIns="0" bIns="0" rtlCol="0"/>
          <a:lstStyle/>
          <a:p>
            <a:endParaRPr/>
          </a:p>
        </p:txBody>
      </p:sp>
      <p:sp>
        <p:nvSpPr>
          <p:cNvPr id="24" name="bg object 24"/>
          <p:cNvSpPr/>
          <p:nvPr/>
        </p:nvSpPr>
        <p:spPr>
          <a:xfrm>
            <a:off x="1518767" y="7074543"/>
            <a:ext cx="0" cy="280670"/>
          </a:xfrm>
          <a:custGeom>
            <a:avLst/>
            <a:gdLst/>
            <a:ahLst/>
            <a:cxnLst/>
            <a:rect l="l" t="t" r="r" b="b"/>
            <a:pathLst>
              <a:path h="280670">
                <a:moveTo>
                  <a:pt x="0" y="0"/>
                </a:moveTo>
                <a:lnTo>
                  <a:pt x="0" y="280415"/>
                </a:lnTo>
              </a:path>
            </a:pathLst>
          </a:custGeom>
          <a:ln w="12700">
            <a:solidFill>
              <a:srgbClr val="000000"/>
            </a:solidFill>
            <a:prstDash val="dot"/>
          </a:ln>
        </p:spPr>
        <p:txBody>
          <a:bodyPr wrap="square" lIns="0" tIns="0" rIns="0" bIns="0" rtlCol="0"/>
          <a:lstStyle/>
          <a:p>
            <a:endParaRPr/>
          </a:p>
        </p:txBody>
      </p:sp>
      <p:sp>
        <p:nvSpPr>
          <p:cNvPr id="25" name="bg object 25"/>
          <p:cNvSpPr/>
          <p:nvPr/>
        </p:nvSpPr>
        <p:spPr>
          <a:xfrm>
            <a:off x="1512417" y="7030808"/>
            <a:ext cx="12700" cy="349250"/>
          </a:xfrm>
          <a:custGeom>
            <a:avLst/>
            <a:gdLst/>
            <a:ahLst/>
            <a:cxnLst/>
            <a:rect l="l" t="t" r="r" b="b"/>
            <a:pathLst>
              <a:path w="12700" h="349250">
                <a:moveTo>
                  <a:pt x="12700" y="342849"/>
                </a:moveTo>
                <a:lnTo>
                  <a:pt x="10833" y="338366"/>
                </a:lnTo>
                <a:lnTo>
                  <a:pt x="6350" y="336499"/>
                </a:lnTo>
                <a:lnTo>
                  <a:pt x="1854" y="338366"/>
                </a:lnTo>
                <a:lnTo>
                  <a:pt x="0" y="342849"/>
                </a:lnTo>
                <a:lnTo>
                  <a:pt x="1854" y="347345"/>
                </a:lnTo>
                <a:lnTo>
                  <a:pt x="6350" y="349199"/>
                </a:lnTo>
                <a:lnTo>
                  <a:pt x="10833" y="347345"/>
                </a:lnTo>
                <a:lnTo>
                  <a:pt x="12700" y="342849"/>
                </a:lnTo>
                <a:close/>
              </a:path>
              <a:path w="12700" h="349250">
                <a:moveTo>
                  <a:pt x="12700" y="6350"/>
                </a:moveTo>
                <a:lnTo>
                  <a:pt x="10833" y="1866"/>
                </a:lnTo>
                <a:lnTo>
                  <a:pt x="6350" y="0"/>
                </a:lnTo>
                <a:lnTo>
                  <a:pt x="1854" y="1866"/>
                </a:lnTo>
                <a:lnTo>
                  <a:pt x="0" y="6350"/>
                </a:lnTo>
                <a:lnTo>
                  <a:pt x="1854" y="10845"/>
                </a:lnTo>
                <a:lnTo>
                  <a:pt x="6350" y="12700"/>
                </a:lnTo>
                <a:lnTo>
                  <a:pt x="10833" y="10845"/>
                </a:lnTo>
                <a:lnTo>
                  <a:pt x="12700" y="6350"/>
                </a:lnTo>
                <a:close/>
              </a:path>
            </a:pathLst>
          </a:custGeom>
          <a:solidFill>
            <a:srgbClr val="000000"/>
          </a:solidFill>
        </p:spPr>
        <p:txBody>
          <a:bodyPr wrap="square" lIns="0" tIns="0" rIns="0" bIns="0" rtlCol="0"/>
          <a:lstStyle/>
          <a:p>
            <a:endParaRPr/>
          </a:p>
        </p:txBody>
      </p:sp>
      <p:sp>
        <p:nvSpPr>
          <p:cNvPr id="4" name="Holder 4"/>
          <p:cNvSpPr>
            <a:spLocks noGrp="1"/>
          </p:cNvSpPr>
          <p:nvPr>
            <p:ph type="ftr" sz="quarter" idx="5"/>
          </p:nvPr>
        </p:nvSpPr>
        <p:spPr>
          <a:xfrm>
            <a:off x="10246427" y="7268322"/>
            <a:ext cx="109854" cy="119379"/>
          </a:xfrm>
          <a:prstGeom prst="rect">
            <a:avLst/>
          </a:prstGeom>
        </p:spPr>
        <p:txBody>
          <a:bodyPr wrap="square" lIns="0" tIns="0" rIns="0" bIns="0">
            <a:spAutoFit/>
          </a:bodyPr>
          <a:lstStyle>
            <a:lvl1pPr>
              <a:defRPr sz="600" b="0" i="1">
                <a:solidFill>
                  <a:schemeClr val="tx1"/>
                </a:solidFill>
                <a:latin typeface="Century Gothic"/>
                <a:cs typeface="Century Gothic"/>
              </a:defRPr>
            </a:lvl1pPr>
          </a:lstStyle>
          <a:p>
            <a:pPr marL="12700">
              <a:lnSpc>
                <a:spcPct val="100000"/>
              </a:lnSpc>
              <a:spcBef>
                <a:spcPts val="100"/>
              </a:spcBef>
            </a:pPr>
            <a:r>
              <a:rPr spc="-25" dirty="0"/>
              <a:t>25</a:t>
            </a:r>
          </a:p>
        </p:txBody>
      </p:sp>
      <p:sp>
        <p:nvSpPr>
          <p:cNvPr id="5" name="Holder 5"/>
          <p:cNvSpPr>
            <a:spLocks noGrp="1"/>
          </p:cNvSpPr>
          <p:nvPr>
            <p:ph type="dt" sz="half" idx="6"/>
          </p:nvPr>
        </p:nvSpPr>
        <p:spPr>
          <a:xfrm>
            <a:off x="5585969" y="7083574"/>
            <a:ext cx="4218431" cy="323165"/>
          </a:xfrm>
          <a:prstGeom prst="rect">
            <a:avLst/>
          </a:prstGeom>
        </p:spPr>
        <p:txBody>
          <a:bodyPr wrap="square" lIns="0" tIns="0" rIns="0" bIns="0">
            <a:spAutoFit/>
          </a:bodyPr>
          <a:lstStyle>
            <a:lvl1pPr>
              <a:defRPr sz="700" b="1" i="0">
                <a:solidFill>
                  <a:schemeClr val="tx1"/>
                </a:solidFill>
                <a:latin typeface="Century Gothic"/>
                <a:cs typeface="Century Gothic"/>
              </a:defRPr>
            </a:lvl1pPr>
          </a:lstStyle>
          <a:p>
            <a:pPr marL="12700">
              <a:spcBef>
                <a:spcPts val="105"/>
              </a:spcBef>
            </a:pPr>
            <a:r>
              <a:rPr lang="fr-FR" spc="-10" dirty="0"/>
              <a:t>Note d’intention</a:t>
            </a:r>
          </a:p>
          <a:p>
            <a:pPr marR="5080" algn="l"/>
            <a:r>
              <a:rPr lang="fr-FR" b="0" dirty="0"/>
              <a:t>Mission de maîtrise d’œuvre pour la réhabilitation et surélévation de la Résidence « Paris </a:t>
            </a:r>
            <a:r>
              <a:rPr lang="fr-FR" b="0" dirty="0" err="1"/>
              <a:t>Boucry</a:t>
            </a:r>
            <a:r>
              <a:rPr lang="fr-FR" b="0" dirty="0"/>
              <a:t> » 29 rue de </a:t>
            </a:r>
            <a:r>
              <a:rPr lang="fr-FR" b="0" dirty="0" err="1"/>
              <a:t>Boucry</a:t>
            </a:r>
            <a:r>
              <a:rPr lang="fr-FR" b="0" dirty="0"/>
              <a:t> à Paris (18ème)</a:t>
            </a:r>
          </a:p>
        </p:txBody>
      </p:sp>
      <p:sp>
        <p:nvSpPr>
          <p:cNvPr id="6" name="Holder 6"/>
          <p:cNvSpPr>
            <a:spLocks noGrp="1"/>
          </p:cNvSpPr>
          <p:nvPr>
            <p:ph type="sldNum" sz="quarter" idx="7"/>
          </p:nvPr>
        </p:nvSpPr>
        <p:spPr>
          <a:xfrm>
            <a:off x="10055521" y="7164998"/>
            <a:ext cx="201929" cy="150495"/>
          </a:xfrm>
          <a:prstGeom prst="rect">
            <a:avLst/>
          </a:prstGeom>
        </p:spPr>
        <p:txBody>
          <a:bodyPr wrap="square" lIns="0" tIns="0" rIns="0" bIns="0">
            <a:spAutoFit/>
          </a:bodyPr>
          <a:lstStyle>
            <a:lvl1pPr>
              <a:defRPr sz="800" b="0" i="1">
                <a:solidFill>
                  <a:schemeClr val="tx1"/>
                </a:solidFill>
                <a:latin typeface="Century Gothic"/>
                <a:cs typeface="Century Gothic"/>
              </a:defRPr>
            </a:lvl1pPr>
          </a:lstStyle>
          <a:p>
            <a:pPr marL="38100">
              <a:lnSpc>
                <a:spcPct val="100000"/>
              </a:lnSpc>
              <a:spcBef>
                <a:spcPts val="105"/>
              </a:spcBef>
            </a:pPr>
            <a:fld id="{81D60167-4931-47E6-BA6A-407CBD079E47}" type="slidenum">
              <a:rPr spc="-25" dirty="0"/>
              <a:t>‹N°›</a:t>
            </a:fld>
            <a:endParaRPr spc="-25" dirty="0"/>
          </a:p>
        </p:txBody>
      </p:sp>
      <p:pic>
        <p:nvPicPr>
          <p:cNvPr id="7" name="Image 6">
            <a:extLst>
              <a:ext uri="{FF2B5EF4-FFF2-40B4-BE49-F238E27FC236}">
                <a16:creationId xmlns:a16="http://schemas.microsoft.com/office/drawing/2014/main" id="{849DC60E-657C-6921-C9F5-257D5EE69CBC}"/>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5034964" y="7031316"/>
            <a:ext cx="311099" cy="354222"/>
          </a:xfrm>
          <a:prstGeom prst="rect">
            <a:avLst/>
          </a:prstGeom>
        </p:spPr>
      </p:pic>
      <p:pic>
        <p:nvPicPr>
          <p:cNvPr id="9" name="Image 8">
            <a:extLst>
              <a:ext uri="{FF2B5EF4-FFF2-40B4-BE49-F238E27FC236}">
                <a16:creationId xmlns:a16="http://schemas.microsoft.com/office/drawing/2014/main" id="{57795B9B-2D4C-1EA8-8DE8-3CE3BAC93EAD}"/>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2203578" y="7023645"/>
            <a:ext cx="994731" cy="352301"/>
          </a:xfrm>
          <a:prstGeom prst="rect">
            <a:avLst/>
          </a:prstGeom>
        </p:spPr>
      </p:pic>
      <p:pic>
        <p:nvPicPr>
          <p:cNvPr id="10" name="Image 9">
            <a:extLst>
              <a:ext uri="{FF2B5EF4-FFF2-40B4-BE49-F238E27FC236}">
                <a16:creationId xmlns:a16="http://schemas.microsoft.com/office/drawing/2014/main" id="{1A63CD97-BDA7-AB54-8EF0-AF2CCD929BBA}"/>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3176057" y="7063999"/>
            <a:ext cx="1108526" cy="201998"/>
          </a:xfrm>
          <a:prstGeom prst="rect">
            <a:avLst/>
          </a:prstGeom>
        </p:spPr>
      </p:pic>
      <p:sp>
        <p:nvSpPr>
          <p:cNvPr id="11" name="Rectangle 10">
            <a:extLst>
              <a:ext uri="{FF2B5EF4-FFF2-40B4-BE49-F238E27FC236}">
                <a16:creationId xmlns:a16="http://schemas.microsoft.com/office/drawing/2014/main" id="{20CCAB7F-AAFE-CB2A-A19F-834369145B95}"/>
              </a:ext>
            </a:extLst>
          </p:cNvPr>
          <p:cNvSpPr/>
          <p:nvPr userDrawn="1"/>
        </p:nvSpPr>
        <p:spPr>
          <a:xfrm>
            <a:off x="4239204" y="7030804"/>
            <a:ext cx="656111" cy="3244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dirty="0"/>
              <a:t>BET fluides thermique perf </a:t>
            </a:r>
            <a:r>
              <a:rPr lang="fr-FR" sz="800" dirty="0" err="1"/>
              <a:t>energ</a:t>
            </a:r>
            <a:endParaRPr lang="fr-FR" sz="80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9.jpeg"/><Relationship Id="rId5" Type="http://schemas.openxmlformats.org/officeDocument/2006/relationships/image" Target="../media/image5.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337300" y="451305"/>
            <a:ext cx="3791643" cy="782265"/>
          </a:xfrm>
          <a:prstGeom prst="rect">
            <a:avLst/>
          </a:prstGeom>
        </p:spPr>
        <p:txBody>
          <a:bodyPr vert="horz" wrap="square" lIns="0" tIns="12700" rIns="0" bIns="0" rtlCol="0">
            <a:spAutoFit/>
          </a:bodyPr>
          <a:lstStyle/>
          <a:p>
            <a:pPr marR="5080" algn="r">
              <a:lnSpc>
                <a:spcPct val="100000"/>
              </a:lnSpc>
              <a:spcBef>
                <a:spcPts val="100"/>
              </a:spcBef>
            </a:pPr>
            <a:r>
              <a:rPr sz="1000" dirty="0">
                <a:highlight>
                  <a:srgbClr val="FFFF00"/>
                </a:highlight>
                <a:latin typeface="Century Gothic"/>
                <a:cs typeface="Century Gothic"/>
              </a:rPr>
              <a:t>Marché</a:t>
            </a:r>
            <a:r>
              <a:rPr sz="1000" spc="-40" dirty="0">
                <a:highlight>
                  <a:srgbClr val="FFFF00"/>
                </a:highlight>
                <a:latin typeface="Century Gothic"/>
                <a:cs typeface="Century Gothic"/>
              </a:rPr>
              <a:t> </a:t>
            </a:r>
            <a:r>
              <a:rPr sz="1000" spc="-25" dirty="0">
                <a:highlight>
                  <a:srgbClr val="FFFF00"/>
                </a:highlight>
                <a:latin typeface="Century Gothic"/>
                <a:cs typeface="Century Gothic"/>
              </a:rPr>
              <a:t>XXX</a:t>
            </a:r>
            <a:endParaRPr sz="1000" dirty="0">
              <a:highlight>
                <a:srgbClr val="FFFF00"/>
              </a:highlight>
              <a:latin typeface="Century Gothic"/>
              <a:cs typeface="Century Gothic"/>
            </a:endParaRPr>
          </a:p>
          <a:p>
            <a:pPr marR="5080" algn="r">
              <a:lnSpc>
                <a:spcPct val="100000"/>
              </a:lnSpc>
            </a:pPr>
            <a:r>
              <a:rPr sz="1000" b="1" dirty="0">
                <a:latin typeface="Century Gothic"/>
                <a:cs typeface="Century Gothic"/>
              </a:rPr>
              <a:t>Mission</a:t>
            </a:r>
            <a:r>
              <a:rPr sz="1000" b="1" spc="-30" dirty="0">
                <a:latin typeface="Century Gothic"/>
                <a:cs typeface="Century Gothic"/>
              </a:rPr>
              <a:t> </a:t>
            </a:r>
            <a:r>
              <a:rPr sz="1000" b="1" dirty="0">
                <a:latin typeface="Century Gothic"/>
                <a:cs typeface="Century Gothic"/>
              </a:rPr>
              <a:t>de</a:t>
            </a:r>
            <a:r>
              <a:rPr sz="1000" b="1" spc="-25" dirty="0">
                <a:latin typeface="Century Gothic"/>
                <a:cs typeface="Century Gothic"/>
              </a:rPr>
              <a:t> </a:t>
            </a:r>
            <a:r>
              <a:rPr sz="1000" b="1" dirty="0" err="1">
                <a:latin typeface="Century Gothic"/>
                <a:cs typeface="Century Gothic"/>
              </a:rPr>
              <a:t>maîtrise</a:t>
            </a:r>
            <a:r>
              <a:rPr sz="1000" b="1" spc="-25" dirty="0">
                <a:latin typeface="Century Gothic"/>
                <a:cs typeface="Century Gothic"/>
              </a:rPr>
              <a:t> </a:t>
            </a:r>
            <a:r>
              <a:rPr sz="1000" b="1" dirty="0" err="1">
                <a:latin typeface="Century Gothic"/>
                <a:cs typeface="Century Gothic"/>
              </a:rPr>
              <a:t>d’œuvre</a:t>
            </a:r>
            <a:endParaRPr lang="fr-FR" sz="1000" b="1" dirty="0">
              <a:latin typeface="Century Gothic"/>
              <a:cs typeface="Century Gothic"/>
            </a:endParaRPr>
          </a:p>
          <a:p>
            <a:pPr marR="5080" algn="r">
              <a:lnSpc>
                <a:spcPct val="100000"/>
              </a:lnSpc>
            </a:pPr>
            <a:r>
              <a:rPr sz="1000" b="1" dirty="0">
                <a:latin typeface="Century Gothic"/>
                <a:cs typeface="Century Gothic"/>
              </a:rPr>
              <a:t>pour</a:t>
            </a:r>
            <a:r>
              <a:rPr sz="1000" b="1" spc="-25" dirty="0">
                <a:latin typeface="Century Gothic"/>
                <a:cs typeface="Century Gothic"/>
              </a:rPr>
              <a:t> </a:t>
            </a:r>
            <a:r>
              <a:rPr sz="1000" b="1" dirty="0">
                <a:latin typeface="Century Gothic"/>
                <a:cs typeface="Century Gothic"/>
              </a:rPr>
              <a:t>la</a:t>
            </a:r>
            <a:r>
              <a:rPr lang="fr-FR" sz="1000" b="1" dirty="0">
                <a:latin typeface="Century Gothic"/>
                <a:cs typeface="Century Gothic"/>
              </a:rPr>
              <a:t> r</a:t>
            </a:r>
            <a:r>
              <a:rPr sz="1000" b="1" dirty="0" err="1">
                <a:latin typeface="Century Gothic"/>
                <a:cs typeface="Century Gothic"/>
              </a:rPr>
              <a:t>éhabilitation</a:t>
            </a:r>
            <a:r>
              <a:rPr lang="fr-FR" sz="1000" b="1" dirty="0">
                <a:latin typeface="Century Gothic"/>
                <a:cs typeface="Century Gothic"/>
              </a:rPr>
              <a:t> </a:t>
            </a:r>
            <a:r>
              <a:rPr sz="1000" b="1" dirty="0">
                <a:latin typeface="Century Gothic"/>
                <a:cs typeface="Century Gothic"/>
              </a:rPr>
              <a:t>de</a:t>
            </a:r>
            <a:r>
              <a:rPr sz="1000" b="1" spc="-25" dirty="0">
                <a:latin typeface="Century Gothic"/>
                <a:cs typeface="Century Gothic"/>
              </a:rPr>
              <a:t> </a:t>
            </a:r>
            <a:r>
              <a:rPr lang="fr-FR" sz="1000" b="1" spc="-25" dirty="0">
                <a:latin typeface="Century Gothic"/>
                <a:cs typeface="Century Gothic"/>
              </a:rPr>
              <a:t>144 logements</a:t>
            </a:r>
          </a:p>
          <a:p>
            <a:pPr marR="5080" algn="r">
              <a:lnSpc>
                <a:spcPct val="100000"/>
              </a:lnSpc>
            </a:pPr>
            <a:r>
              <a:rPr lang="fr-FR" sz="1000" b="1" spc="-25" dirty="0">
                <a:latin typeface="Century Gothic"/>
                <a:cs typeface="Century Gothic"/>
              </a:rPr>
              <a:t>et création de 34 logements en surélévation</a:t>
            </a:r>
            <a:endParaRPr sz="1000" dirty="0">
              <a:latin typeface="Century Gothic"/>
              <a:cs typeface="Century Gothic"/>
            </a:endParaRPr>
          </a:p>
          <a:p>
            <a:pPr marR="5080" algn="r">
              <a:lnSpc>
                <a:spcPct val="100000"/>
              </a:lnSpc>
            </a:pPr>
            <a:r>
              <a:rPr lang="fr-FR" sz="1000" b="1" spc="-15" dirty="0">
                <a:latin typeface="Century Gothic"/>
                <a:cs typeface="Century Gothic"/>
              </a:rPr>
              <a:t>Résidence « Paris </a:t>
            </a:r>
            <a:r>
              <a:rPr lang="fr-FR" sz="1000" b="1" spc="-15" dirty="0" err="1">
                <a:latin typeface="Century Gothic"/>
                <a:cs typeface="Century Gothic"/>
              </a:rPr>
              <a:t>Boucry</a:t>
            </a:r>
            <a:r>
              <a:rPr lang="fr-FR" sz="1000" b="1" spc="-15" dirty="0">
                <a:latin typeface="Century Gothic"/>
                <a:cs typeface="Century Gothic"/>
              </a:rPr>
              <a:t> » - 29</a:t>
            </a:r>
            <a:r>
              <a:rPr sz="1000" b="1" spc="-15" dirty="0">
                <a:latin typeface="Century Gothic"/>
                <a:cs typeface="Century Gothic"/>
              </a:rPr>
              <a:t> </a:t>
            </a:r>
            <a:r>
              <a:rPr sz="1000" b="1" dirty="0">
                <a:latin typeface="Century Gothic"/>
                <a:cs typeface="Century Gothic"/>
              </a:rPr>
              <a:t>rue</a:t>
            </a:r>
            <a:r>
              <a:rPr sz="1000" b="1" spc="-15" dirty="0">
                <a:latin typeface="Century Gothic"/>
                <a:cs typeface="Century Gothic"/>
              </a:rPr>
              <a:t> </a:t>
            </a:r>
            <a:r>
              <a:rPr lang="fr-FR" sz="1000" b="1" spc="-15" dirty="0">
                <a:latin typeface="Century Gothic"/>
                <a:cs typeface="Century Gothic"/>
              </a:rPr>
              <a:t>de </a:t>
            </a:r>
            <a:r>
              <a:rPr lang="fr-FR" sz="1000" b="1" spc="-15" dirty="0" err="1">
                <a:latin typeface="Century Gothic"/>
                <a:cs typeface="Century Gothic"/>
              </a:rPr>
              <a:t>Boucry</a:t>
            </a:r>
            <a:r>
              <a:rPr sz="1000" b="1" spc="-10" dirty="0">
                <a:latin typeface="Century Gothic"/>
                <a:cs typeface="Century Gothic"/>
              </a:rPr>
              <a:t> </a:t>
            </a:r>
            <a:r>
              <a:rPr sz="1000" b="1" dirty="0">
                <a:latin typeface="Century Gothic"/>
                <a:cs typeface="Century Gothic"/>
              </a:rPr>
              <a:t>à</a:t>
            </a:r>
            <a:r>
              <a:rPr sz="1000" b="1" spc="-15" dirty="0">
                <a:latin typeface="Century Gothic"/>
                <a:cs typeface="Century Gothic"/>
              </a:rPr>
              <a:t> </a:t>
            </a:r>
            <a:r>
              <a:rPr lang="fr-FR" sz="1000" b="1" spc="-15" dirty="0">
                <a:latin typeface="Century Gothic"/>
                <a:cs typeface="Century Gothic"/>
              </a:rPr>
              <a:t>Paris</a:t>
            </a:r>
            <a:r>
              <a:rPr sz="1000" b="1" spc="-15" dirty="0">
                <a:latin typeface="Century Gothic"/>
                <a:cs typeface="Century Gothic"/>
              </a:rPr>
              <a:t> </a:t>
            </a:r>
            <a:r>
              <a:rPr sz="1000" b="1" spc="-20" dirty="0">
                <a:latin typeface="Century Gothic"/>
                <a:cs typeface="Century Gothic"/>
              </a:rPr>
              <a:t>(</a:t>
            </a:r>
            <a:r>
              <a:rPr lang="fr-FR" sz="1000" b="1" spc="-20" dirty="0">
                <a:latin typeface="Century Gothic"/>
                <a:cs typeface="Century Gothic"/>
              </a:rPr>
              <a:t>18</a:t>
            </a:r>
            <a:r>
              <a:rPr lang="fr-FR" sz="1000" b="1" spc="-20" baseline="30000" dirty="0">
                <a:latin typeface="Century Gothic"/>
                <a:cs typeface="Century Gothic"/>
              </a:rPr>
              <a:t>ème</a:t>
            </a:r>
            <a:r>
              <a:rPr sz="1000" b="1" spc="-20" dirty="0">
                <a:latin typeface="Century Gothic"/>
                <a:cs typeface="Century Gothic"/>
              </a:rPr>
              <a:t>)</a:t>
            </a:r>
            <a:endParaRPr sz="1000" dirty="0">
              <a:latin typeface="Century Gothic"/>
              <a:cs typeface="Century Gothic"/>
            </a:endParaRPr>
          </a:p>
        </p:txBody>
      </p:sp>
      <p:sp>
        <p:nvSpPr>
          <p:cNvPr id="3" name="object 3"/>
          <p:cNvSpPr txBox="1"/>
          <p:nvPr/>
        </p:nvSpPr>
        <p:spPr>
          <a:xfrm>
            <a:off x="3457700" y="4765881"/>
            <a:ext cx="6671309" cy="391160"/>
          </a:xfrm>
          <a:prstGeom prst="rect">
            <a:avLst/>
          </a:prstGeom>
        </p:spPr>
        <p:txBody>
          <a:bodyPr vert="horz" wrap="square" lIns="0" tIns="12700" rIns="0" bIns="0" rtlCol="0">
            <a:spAutoFit/>
          </a:bodyPr>
          <a:lstStyle/>
          <a:p>
            <a:pPr marL="12700">
              <a:lnSpc>
                <a:spcPct val="100000"/>
              </a:lnSpc>
              <a:spcBef>
                <a:spcPts val="100"/>
              </a:spcBef>
              <a:tabLst>
                <a:tab pos="3536950" algn="l"/>
              </a:tabLst>
            </a:pPr>
            <a:r>
              <a:rPr sz="2400" b="1" u="sng" dirty="0">
                <a:uFill>
                  <a:solidFill>
                    <a:srgbClr val="000000"/>
                  </a:solidFill>
                </a:uFill>
                <a:latin typeface="Century Gothic"/>
                <a:cs typeface="Century Gothic"/>
              </a:rPr>
              <a:t>	</a:t>
            </a:r>
            <a:r>
              <a:rPr lang="fr-FR" sz="2400" b="1" u="sng" dirty="0">
                <a:uFill>
                  <a:solidFill>
                    <a:srgbClr val="000000"/>
                  </a:solidFill>
                </a:uFill>
                <a:latin typeface="Century Gothic"/>
                <a:cs typeface="Century Gothic"/>
              </a:rPr>
              <a:t>         Note d’intention</a:t>
            </a:r>
            <a:endParaRPr sz="2400" dirty="0">
              <a:latin typeface="Century Gothic"/>
              <a:cs typeface="Century Gothic"/>
            </a:endParaRPr>
          </a:p>
        </p:txBody>
      </p:sp>
      <p:sp>
        <p:nvSpPr>
          <p:cNvPr id="5" name="object 5"/>
          <p:cNvSpPr/>
          <p:nvPr/>
        </p:nvSpPr>
        <p:spPr>
          <a:xfrm>
            <a:off x="0" y="1"/>
            <a:ext cx="5666105" cy="7560602"/>
          </a:xfrm>
          <a:custGeom>
            <a:avLst/>
            <a:gdLst/>
            <a:ahLst/>
            <a:cxnLst/>
            <a:rect l="l" t="t" r="r" b="b"/>
            <a:pathLst>
              <a:path w="5666105" h="7554595">
                <a:moveTo>
                  <a:pt x="5665495" y="0"/>
                </a:moveTo>
                <a:lnTo>
                  <a:pt x="0" y="0"/>
                </a:lnTo>
                <a:lnTo>
                  <a:pt x="0" y="7553998"/>
                </a:lnTo>
                <a:lnTo>
                  <a:pt x="5665495" y="7553998"/>
                </a:lnTo>
                <a:lnTo>
                  <a:pt x="5665495" y="0"/>
                </a:lnTo>
                <a:close/>
              </a:path>
            </a:pathLst>
          </a:custGeom>
          <a:solidFill>
            <a:srgbClr val="C0C2C4"/>
          </a:solidFill>
        </p:spPr>
        <p:txBody>
          <a:bodyPr wrap="square" lIns="0" tIns="0" rIns="0" bIns="0" rtlCol="0"/>
          <a:lstStyle/>
          <a:p>
            <a:endParaRPr/>
          </a:p>
        </p:txBody>
      </p:sp>
      <p:pic>
        <p:nvPicPr>
          <p:cNvPr id="14" name="Image 13">
            <a:extLst>
              <a:ext uri="{FF2B5EF4-FFF2-40B4-BE49-F238E27FC236}">
                <a16:creationId xmlns:a16="http://schemas.microsoft.com/office/drawing/2014/main" id="{5D5F48DF-BBB9-F194-FD67-705F23E102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4300" y="6585972"/>
            <a:ext cx="548432" cy="624453"/>
          </a:xfrm>
          <a:prstGeom prst="rect">
            <a:avLst/>
          </a:prstGeom>
        </p:spPr>
      </p:pic>
      <p:pic>
        <p:nvPicPr>
          <p:cNvPr id="16" name="Image 15">
            <a:extLst>
              <a:ext uri="{FF2B5EF4-FFF2-40B4-BE49-F238E27FC236}">
                <a16:creationId xmlns:a16="http://schemas.microsoft.com/office/drawing/2014/main" id="{12046E16-C53C-FB6D-2086-A0D8AB4EFF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75193" y="5808835"/>
            <a:ext cx="624453" cy="624453"/>
          </a:xfrm>
          <a:prstGeom prst="rect">
            <a:avLst/>
          </a:prstGeom>
        </p:spPr>
      </p:pic>
      <p:pic>
        <p:nvPicPr>
          <p:cNvPr id="18" name="Image 17">
            <a:extLst>
              <a:ext uri="{FF2B5EF4-FFF2-40B4-BE49-F238E27FC236}">
                <a16:creationId xmlns:a16="http://schemas.microsoft.com/office/drawing/2014/main" id="{433805FB-0B26-4C24-09F4-EA27B41889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8982" y="5808835"/>
            <a:ext cx="1763161" cy="624453"/>
          </a:xfrm>
          <a:prstGeom prst="rect">
            <a:avLst/>
          </a:prstGeom>
        </p:spPr>
      </p:pic>
      <p:pic>
        <p:nvPicPr>
          <p:cNvPr id="20" name="Image 19">
            <a:extLst>
              <a:ext uri="{FF2B5EF4-FFF2-40B4-BE49-F238E27FC236}">
                <a16:creationId xmlns:a16="http://schemas.microsoft.com/office/drawing/2014/main" id="{1F664B71-FE21-F7BB-AB2D-37A06460BB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5603" y="6696307"/>
            <a:ext cx="2215876" cy="403782"/>
          </a:xfrm>
          <a:prstGeom prst="rect">
            <a:avLst/>
          </a:prstGeom>
        </p:spPr>
      </p:pic>
      <p:pic>
        <p:nvPicPr>
          <p:cNvPr id="22" name="Image 21">
            <a:extLst>
              <a:ext uri="{FF2B5EF4-FFF2-40B4-BE49-F238E27FC236}">
                <a16:creationId xmlns:a16="http://schemas.microsoft.com/office/drawing/2014/main" id="{54524A98-EE99-4F79-9D7D-99790F95309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1424" y="379831"/>
            <a:ext cx="1332106" cy="631875"/>
          </a:xfrm>
          <a:prstGeom prst="rect">
            <a:avLst/>
          </a:prstGeom>
        </p:spPr>
      </p:pic>
      <p:sp>
        <p:nvSpPr>
          <p:cNvPr id="4" name="Rectangle 3">
            <a:extLst>
              <a:ext uri="{FF2B5EF4-FFF2-40B4-BE49-F238E27FC236}">
                <a16:creationId xmlns:a16="http://schemas.microsoft.com/office/drawing/2014/main" id="{4ACEA2FC-EA36-7531-7698-9C66B688BAF5}"/>
              </a:ext>
            </a:extLst>
          </p:cNvPr>
          <p:cNvSpPr/>
          <p:nvPr/>
        </p:nvSpPr>
        <p:spPr>
          <a:xfrm>
            <a:off x="8762797" y="5808834"/>
            <a:ext cx="1352888" cy="6244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t>BET fluides thermique perf </a:t>
            </a:r>
            <a:r>
              <a:rPr lang="fr-FR" sz="1000" dirty="0" err="1"/>
              <a:t>energ</a:t>
            </a:r>
            <a:endParaRPr lang="fr-F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14">
            <a:extLst>
              <a:ext uri="{FF2B5EF4-FFF2-40B4-BE49-F238E27FC236}">
                <a16:creationId xmlns:a16="http://schemas.microsoft.com/office/drawing/2014/main" id="{DAE52BC5-A734-ECBE-6271-EE737F63481F}"/>
              </a:ext>
            </a:extLst>
          </p:cNvPr>
          <p:cNvSpPr/>
          <p:nvPr/>
        </p:nvSpPr>
        <p:spPr>
          <a:xfrm>
            <a:off x="10172248" y="7227706"/>
            <a:ext cx="132080" cy="132080"/>
          </a:xfrm>
          <a:custGeom>
            <a:avLst/>
            <a:gdLst/>
            <a:ahLst/>
            <a:cxnLst/>
            <a:rect l="l" t="t" r="r" b="b"/>
            <a:pathLst>
              <a:path w="132079" h="132079">
                <a:moveTo>
                  <a:pt x="131546" y="0"/>
                </a:moveTo>
                <a:lnTo>
                  <a:pt x="0" y="131546"/>
                </a:lnTo>
              </a:path>
            </a:pathLst>
          </a:custGeom>
          <a:ln w="6350">
            <a:solidFill>
              <a:srgbClr val="000000"/>
            </a:solidFill>
          </a:ln>
        </p:spPr>
        <p:txBody>
          <a:bodyPr wrap="square" lIns="0" tIns="0" rIns="0" bIns="0" rtlCol="0"/>
          <a:lstStyle/>
          <a:p>
            <a:endParaRPr/>
          </a:p>
        </p:txBody>
      </p:sp>
      <p:sp>
        <p:nvSpPr>
          <p:cNvPr id="5" name="object 33">
            <a:extLst>
              <a:ext uri="{FF2B5EF4-FFF2-40B4-BE49-F238E27FC236}">
                <a16:creationId xmlns:a16="http://schemas.microsoft.com/office/drawing/2014/main" id="{392A2C8A-DF6D-905D-4DF3-CD16E7A1AFD9}"/>
              </a:ext>
            </a:extLst>
          </p:cNvPr>
          <p:cNvSpPr txBox="1">
            <a:spLocks noGrp="1"/>
          </p:cNvSpPr>
          <p:nvPr>
            <p:ph type="dt" sz="half" idx="6"/>
          </p:nvPr>
        </p:nvSpPr>
        <p:spPr>
          <a:xfrm>
            <a:off x="5585969" y="7083574"/>
            <a:ext cx="4218431" cy="336631"/>
          </a:xfrm>
          <a:prstGeom prst="rect">
            <a:avLst/>
          </a:prstGeom>
        </p:spPr>
        <p:txBody>
          <a:bodyPr vert="horz" wrap="square" lIns="0" tIns="13335" rIns="0" bIns="0" rtlCol="0">
            <a:spAutoFit/>
          </a:bodyPr>
          <a:lstStyle/>
          <a:p>
            <a:pPr marL="12700">
              <a:lnSpc>
                <a:spcPct val="100000"/>
              </a:lnSpc>
              <a:spcBef>
                <a:spcPts val="105"/>
              </a:spcBef>
            </a:pPr>
            <a:r>
              <a:rPr lang="fr-FR" spc="-10" dirty="0"/>
              <a:t>Notice d’intention</a:t>
            </a:r>
            <a:endParaRPr spc="-10" dirty="0"/>
          </a:p>
          <a:p>
            <a:pPr marL="12700">
              <a:lnSpc>
                <a:spcPct val="100000"/>
              </a:lnSpc>
            </a:pPr>
            <a:r>
              <a:rPr b="0" dirty="0">
                <a:latin typeface="Century Gothic"/>
                <a:cs typeface="Century Gothic"/>
              </a:rPr>
              <a:t>Mission</a:t>
            </a:r>
            <a:r>
              <a:rPr b="0" spc="-5" dirty="0">
                <a:latin typeface="Century Gothic"/>
                <a:cs typeface="Century Gothic"/>
              </a:rPr>
              <a:t> </a:t>
            </a:r>
            <a:r>
              <a:rPr b="0" dirty="0">
                <a:latin typeface="Century Gothic"/>
                <a:cs typeface="Century Gothic"/>
              </a:rPr>
              <a:t>de maîtrise d’œuvre pour la rehabilitation </a:t>
            </a:r>
            <a:r>
              <a:rPr lang="fr-FR" b="0" dirty="0">
                <a:latin typeface="Century Gothic"/>
                <a:cs typeface="Century Gothic"/>
              </a:rPr>
              <a:t>et surélévation de la Résidence « Paris </a:t>
            </a:r>
            <a:r>
              <a:rPr lang="fr-FR" b="0" dirty="0" err="1">
                <a:latin typeface="Century Gothic"/>
                <a:cs typeface="Century Gothic"/>
              </a:rPr>
              <a:t>Boucry</a:t>
            </a:r>
            <a:r>
              <a:rPr lang="fr-FR" b="0" dirty="0">
                <a:latin typeface="Century Gothic"/>
                <a:cs typeface="Century Gothic"/>
              </a:rPr>
              <a:t> »</a:t>
            </a:r>
          </a:p>
          <a:p>
            <a:pPr marL="12700">
              <a:lnSpc>
                <a:spcPct val="100000"/>
              </a:lnSpc>
            </a:pPr>
            <a:r>
              <a:rPr lang="fr-FR" b="0" spc="-20" dirty="0">
                <a:latin typeface="Century Gothic"/>
                <a:cs typeface="Century Gothic"/>
              </a:rPr>
              <a:t>29 rue de </a:t>
            </a:r>
            <a:r>
              <a:rPr lang="fr-FR" b="0" spc="-20" dirty="0" err="1">
                <a:latin typeface="Century Gothic"/>
                <a:cs typeface="Century Gothic"/>
              </a:rPr>
              <a:t>Boucry</a:t>
            </a:r>
            <a:r>
              <a:rPr lang="fr-FR" b="0" spc="-20" dirty="0">
                <a:latin typeface="Century Gothic"/>
                <a:cs typeface="Century Gothic"/>
              </a:rPr>
              <a:t> 75018 PARIS</a:t>
            </a:r>
            <a:endParaRPr b="0" spc="-20" dirty="0">
              <a:latin typeface="Century Gothic"/>
              <a:cs typeface="Century Gothic"/>
            </a:endParaRPr>
          </a:p>
        </p:txBody>
      </p:sp>
      <p:sp>
        <p:nvSpPr>
          <p:cNvPr id="6" name="object 34">
            <a:extLst>
              <a:ext uri="{FF2B5EF4-FFF2-40B4-BE49-F238E27FC236}">
                <a16:creationId xmlns:a16="http://schemas.microsoft.com/office/drawing/2014/main" id="{7FDED3BE-295D-8A55-0638-42759171D5B6}"/>
              </a:ext>
            </a:extLst>
          </p:cNvPr>
          <p:cNvSpPr txBox="1">
            <a:spLocks noGrp="1"/>
          </p:cNvSpPr>
          <p:nvPr>
            <p:ph type="sldNum" sz="quarter" idx="7"/>
          </p:nvPr>
        </p:nvSpPr>
        <p:spPr>
          <a:xfrm>
            <a:off x="10055521" y="7164998"/>
            <a:ext cx="201929" cy="150495"/>
          </a:xfrm>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25" dirty="0"/>
              <a:t>2</a:t>
            </a:fld>
            <a:endParaRPr spc="-25" dirty="0"/>
          </a:p>
        </p:txBody>
      </p:sp>
      <p:sp>
        <p:nvSpPr>
          <p:cNvPr id="7" name="object 35">
            <a:extLst>
              <a:ext uri="{FF2B5EF4-FFF2-40B4-BE49-F238E27FC236}">
                <a16:creationId xmlns:a16="http://schemas.microsoft.com/office/drawing/2014/main" id="{7A029F75-0399-F597-D9D2-E94A07176D25}"/>
              </a:ext>
            </a:extLst>
          </p:cNvPr>
          <p:cNvSpPr txBox="1">
            <a:spLocks noGrp="1"/>
          </p:cNvSpPr>
          <p:nvPr>
            <p:ph type="ftr" sz="quarter" idx="5"/>
          </p:nvPr>
        </p:nvSpPr>
        <p:spPr>
          <a:xfrm>
            <a:off x="10246427" y="7268322"/>
            <a:ext cx="109854" cy="119379"/>
          </a:xfrm>
          <a:prstGeom prst="rect">
            <a:avLst/>
          </a:prstGeom>
        </p:spPr>
        <p:txBody>
          <a:bodyPr vert="horz" wrap="square" lIns="0" tIns="12700" rIns="0" bIns="0" rtlCol="0">
            <a:spAutoFit/>
          </a:bodyPr>
          <a:lstStyle/>
          <a:p>
            <a:pPr marL="12700">
              <a:lnSpc>
                <a:spcPct val="100000"/>
              </a:lnSpc>
              <a:spcBef>
                <a:spcPts val="100"/>
              </a:spcBef>
            </a:pPr>
            <a:r>
              <a:rPr spc="-25" dirty="0"/>
              <a:t>25</a:t>
            </a:r>
          </a:p>
        </p:txBody>
      </p:sp>
      <p:sp>
        <p:nvSpPr>
          <p:cNvPr id="10" name="object 22">
            <a:extLst>
              <a:ext uri="{FF2B5EF4-FFF2-40B4-BE49-F238E27FC236}">
                <a16:creationId xmlns:a16="http://schemas.microsoft.com/office/drawing/2014/main" id="{842786A9-7A0F-5A0E-1139-28959A631511}"/>
              </a:ext>
            </a:extLst>
          </p:cNvPr>
          <p:cNvSpPr txBox="1"/>
          <p:nvPr/>
        </p:nvSpPr>
        <p:spPr>
          <a:xfrm>
            <a:off x="6261100" y="1761641"/>
            <a:ext cx="3446426" cy="3731791"/>
          </a:xfrm>
          <a:prstGeom prst="rect">
            <a:avLst/>
          </a:prstGeom>
        </p:spPr>
        <p:txBody>
          <a:bodyPr vert="horz" wrap="square" lIns="0" tIns="12700" rIns="0" bIns="0" rtlCol="0">
            <a:spAutoFit/>
          </a:bodyPr>
          <a:lstStyle/>
          <a:p>
            <a:pPr marL="12700">
              <a:lnSpc>
                <a:spcPct val="100000"/>
              </a:lnSpc>
              <a:spcBef>
                <a:spcPts val="1200"/>
              </a:spcBef>
              <a:tabLst>
                <a:tab pos="153670" algn="l"/>
              </a:tabLst>
            </a:pPr>
            <a:r>
              <a:rPr lang="fr-FR" sz="1000" b="1" noProof="0" dirty="0">
                <a:solidFill>
                  <a:srgbClr val="C50A4C"/>
                </a:solidFill>
                <a:latin typeface="Century Gothic"/>
                <a:cs typeface="Century Gothic"/>
              </a:rPr>
              <a:t>1. LES RÉFÉRENCES DU GROUPEMENT</a:t>
            </a:r>
          </a:p>
          <a:p>
            <a:pPr marL="12700">
              <a:lnSpc>
                <a:spcPct val="100000"/>
              </a:lnSpc>
              <a:spcBef>
                <a:spcPts val="1200"/>
              </a:spcBef>
              <a:tabLst>
                <a:tab pos="153670" algn="l"/>
              </a:tabLst>
            </a:pPr>
            <a:r>
              <a:rPr lang="fr-FR" sz="1000" noProof="0" dirty="0">
                <a:latin typeface="Century Gothic"/>
                <a:cs typeface="Century Gothic"/>
              </a:rPr>
              <a:t>Voir les références présentées dans la pièce n°18</a:t>
            </a:r>
          </a:p>
          <a:p>
            <a:pPr marL="12700">
              <a:lnSpc>
                <a:spcPct val="100000"/>
              </a:lnSpc>
              <a:spcBef>
                <a:spcPts val="1200"/>
              </a:spcBef>
              <a:tabLst>
                <a:tab pos="153670" algn="l"/>
              </a:tabLst>
            </a:pPr>
            <a:endParaRPr lang="fr-FR" sz="1000" b="1" noProof="0" dirty="0">
              <a:solidFill>
                <a:srgbClr val="C50A4C"/>
              </a:solidFill>
              <a:latin typeface="Century Gothic"/>
              <a:cs typeface="Century Gothic"/>
            </a:endParaRPr>
          </a:p>
          <a:p>
            <a:pPr marL="12700">
              <a:lnSpc>
                <a:spcPct val="100000"/>
              </a:lnSpc>
              <a:spcBef>
                <a:spcPts val="1200"/>
              </a:spcBef>
              <a:tabLst>
                <a:tab pos="153670" algn="l"/>
              </a:tabLst>
            </a:pPr>
            <a:r>
              <a:rPr lang="fr-FR" sz="1000" b="1" noProof="0" dirty="0">
                <a:solidFill>
                  <a:srgbClr val="C50A4C"/>
                </a:solidFill>
                <a:latin typeface="Century Gothic"/>
                <a:cs typeface="Century Gothic"/>
              </a:rPr>
              <a:t>2. LA COMPOSITION DE L’ÉQUIPE ET L’ORGANISATION</a:t>
            </a:r>
          </a:p>
          <a:p>
            <a:pPr marL="12700">
              <a:lnSpc>
                <a:spcPct val="100000"/>
              </a:lnSpc>
              <a:spcBef>
                <a:spcPts val="1200"/>
              </a:spcBef>
              <a:tabLst>
                <a:tab pos="153670" algn="l"/>
              </a:tabLst>
            </a:pPr>
            <a:endParaRPr lang="fr-FR" sz="1000" b="1" noProof="0" dirty="0">
              <a:solidFill>
                <a:srgbClr val="C50A4C"/>
              </a:solidFill>
              <a:latin typeface="Century Gothic"/>
              <a:cs typeface="Century Gothic"/>
            </a:endParaRPr>
          </a:p>
          <a:p>
            <a:pPr marL="211454" indent="-198755">
              <a:lnSpc>
                <a:spcPct val="100000"/>
              </a:lnSpc>
              <a:spcBef>
                <a:spcPts val="100"/>
              </a:spcBef>
              <a:buAutoNum type="alphaUcPeriod"/>
              <a:tabLst>
                <a:tab pos="211454" algn="l"/>
              </a:tabLst>
            </a:pPr>
            <a:r>
              <a:rPr lang="fr-FR" sz="1000" noProof="0" dirty="0">
                <a:latin typeface="Century Gothic"/>
                <a:cs typeface="Century Gothic"/>
              </a:rPr>
              <a:t>Présentation des membres de l’équipe</a:t>
            </a:r>
          </a:p>
          <a:p>
            <a:pPr marL="190500" indent="-177800">
              <a:lnSpc>
                <a:spcPct val="100000"/>
              </a:lnSpc>
              <a:buAutoNum type="alphaUcPeriod"/>
              <a:tabLst>
                <a:tab pos="190500" algn="l"/>
              </a:tabLst>
            </a:pPr>
            <a:r>
              <a:rPr lang="fr-FR" sz="1000" noProof="0" dirty="0">
                <a:latin typeface="Century Gothic"/>
                <a:cs typeface="Century Gothic"/>
              </a:rPr>
              <a:t>Organigramme</a:t>
            </a:r>
          </a:p>
          <a:p>
            <a:pPr marL="12700">
              <a:lnSpc>
                <a:spcPct val="100000"/>
              </a:lnSpc>
              <a:spcBef>
                <a:spcPts val="1200"/>
              </a:spcBef>
              <a:tabLst>
                <a:tab pos="153670" algn="l"/>
              </a:tabLst>
            </a:pPr>
            <a:endParaRPr lang="fr-FR" sz="1000" b="1" noProof="0" dirty="0">
              <a:solidFill>
                <a:srgbClr val="C50A4C"/>
              </a:solidFill>
              <a:latin typeface="Century Gothic"/>
              <a:cs typeface="Century Gothic"/>
            </a:endParaRPr>
          </a:p>
          <a:p>
            <a:pPr marL="12700">
              <a:lnSpc>
                <a:spcPct val="100000"/>
              </a:lnSpc>
              <a:spcBef>
                <a:spcPts val="1200"/>
              </a:spcBef>
              <a:tabLst>
                <a:tab pos="153670" algn="l"/>
              </a:tabLst>
            </a:pPr>
            <a:r>
              <a:rPr lang="fr-FR" sz="1000" b="1" noProof="0" dirty="0">
                <a:solidFill>
                  <a:srgbClr val="C50A4C"/>
                </a:solidFill>
                <a:latin typeface="Century Gothic"/>
                <a:cs typeface="Century Gothic"/>
              </a:rPr>
              <a:t>3. LES ENJEUX DE L’OPÉRATION</a:t>
            </a:r>
          </a:p>
          <a:p>
            <a:pPr marL="12700">
              <a:lnSpc>
                <a:spcPct val="100000"/>
              </a:lnSpc>
              <a:spcBef>
                <a:spcPts val="1200"/>
              </a:spcBef>
              <a:tabLst>
                <a:tab pos="153670" algn="l"/>
              </a:tabLst>
            </a:pPr>
            <a:endParaRPr lang="fr-FR" sz="1000" b="1" noProof="0" dirty="0">
              <a:solidFill>
                <a:srgbClr val="C50A4C"/>
              </a:solidFill>
              <a:latin typeface="Century Gothic"/>
              <a:cs typeface="Century Gothic"/>
            </a:endParaRPr>
          </a:p>
          <a:p>
            <a:pPr marL="211454" indent="-198755">
              <a:lnSpc>
                <a:spcPct val="100000"/>
              </a:lnSpc>
              <a:spcBef>
                <a:spcPts val="100"/>
              </a:spcBef>
              <a:buAutoNum type="alphaUcPeriod"/>
              <a:tabLst>
                <a:tab pos="211454" algn="l"/>
              </a:tabLst>
            </a:pPr>
            <a:r>
              <a:rPr lang="fr-FR" sz="1000" noProof="0" dirty="0">
                <a:latin typeface="Century Gothic"/>
                <a:cs typeface="Century Gothic"/>
              </a:rPr>
              <a:t>Le programme travaux</a:t>
            </a:r>
          </a:p>
          <a:p>
            <a:pPr marL="190500" indent="-177800">
              <a:lnSpc>
                <a:spcPct val="100000"/>
              </a:lnSpc>
              <a:buAutoNum type="alphaUcPeriod"/>
              <a:tabLst>
                <a:tab pos="190500" algn="l"/>
              </a:tabLst>
            </a:pPr>
            <a:r>
              <a:rPr lang="fr-FR" sz="1000" noProof="0" dirty="0">
                <a:latin typeface="Century Gothic"/>
                <a:cs typeface="Century Gothic"/>
              </a:rPr>
              <a:t>Milieu occupé</a:t>
            </a:r>
          </a:p>
          <a:p>
            <a:pPr marL="190500" indent="-177800">
              <a:lnSpc>
                <a:spcPct val="100000"/>
              </a:lnSpc>
              <a:buAutoNum type="alphaUcPeriod"/>
              <a:tabLst>
                <a:tab pos="190500" algn="l"/>
              </a:tabLst>
            </a:pPr>
            <a:r>
              <a:rPr lang="fr-FR" sz="1000" dirty="0">
                <a:latin typeface="Century Gothic"/>
                <a:cs typeface="Century Gothic"/>
              </a:rPr>
              <a:t>Calendrier prévisionnel</a:t>
            </a:r>
          </a:p>
          <a:p>
            <a:pPr marL="190500" indent="-177800">
              <a:lnSpc>
                <a:spcPct val="100000"/>
              </a:lnSpc>
              <a:buAutoNum type="alphaUcPeriod"/>
              <a:tabLst>
                <a:tab pos="190500" algn="l"/>
              </a:tabLst>
            </a:pPr>
            <a:r>
              <a:rPr lang="fr-FR" sz="1000" noProof="0" dirty="0">
                <a:latin typeface="Century Gothic"/>
                <a:cs typeface="Century Gothic"/>
              </a:rPr>
              <a:t>Enveloppe financière et méthodologie de chiffrage</a:t>
            </a:r>
          </a:p>
          <a:p>
            <a:pPr marL="190500" indent="-177800">
              <a:lnSpc>
                <a:spcPct val="100000"/>
              </a:lnSpc>
              <a:buAutoNum type="alphaUcPeriod"/>
              <a:tabLst>
                <a:tab pos="190500" algn="l"/>
              </a:tabLst>
            </a:pPr>
            <a:r>
              <a:rPr lang="fr-FR" sz="1000" dirty="0">
                <a:latin typeface="Century Gothic"/>
                <a:cs typeface="Century Gothic"/>
              </a:rPr>
              <a:t>Surélévation en structure bois</a:t>
            </a:r>
          </a:p>
          <a:p>
            <a:pPr marL="190500" indent="-177800">
              <a:lnSpc>
                <a:spcPct val="100000"/>
              </a:lnSpc>
              <a:buAutoNum type="alphaUcPeriod"/>
              <a:tabLst>
                <a:tab pos="190500" algn="l"/>
              </a:tabLst>
            </a:pPr>
            <a:r>
              <a:rPr lang="fr-FR" sz="1000" noProof="0" dirty="0">
                <a:latin typeface="Century Gothic"/>
                <a:cs typeface="Century Gothic"/>
              </a:rPr>
              <a:t>Performances et objectifs environnementaux</a:t>
            </a:r>
          </a:p>
          <a:p>
            <a:pPr marL="190500" indent="-177800">
              <a:lnSpc>
                <a:spcPct val="100000"/>
              </a:lnSpc>
              <a:buAutoNum type="alphaUcPeriod"/>
              <a:tabLst>
                <a:tab pos="190500" algn="l"/>
              </a:tabLst>
            </a:pPr>
            <a:r>
              <a:rPr lang="fr-FR" sz="1000" dirty="0">
                <a:latin typeface="Century Gothic"/>
                <a:cs typeface="Century Gothic"/>
              </a:rPr>
              <a:t>Performances acoustiques</a:t>
            </a:r>
            <a:endParaRPr lang="fr-FR" sz="1000" noProof="0" dirty="0">
              <a:latin typeface="Century Gothic"/>
              <a:cs typeface="Century Gothic"/>
            </a:endParaRPr>
          </a:p>
        </p:txBody>
      </p:sp>
      <p:sp>
        <p:nvSpPr>
          <p:cNvPr id="20" name="object 32">
            <a:extLst>
              <a:ext uri="{FF2B5EF4-FFF2-40B4-BE49-F238E27FC236}">
                <a16:creationId xmlns:a16="http://schemas.microsoft.com/office/drawing/2014/main" id="{346C4AFF-0F31-AD33-9255-9A0B027D7A4E}"/>
              </a:ext>
            </a:extLst>
          </p:cNvPr>
          <p:cNvSpPr txBox="1"/>
          <p:nvPr/>
        </p:nvSpPr>
        <p:spPr>
          <a:xfrm>
            <a:off x="6280499" y="1019228"/>
            <a:ext cx="1098550" cy="269240"/>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Century Gothic"/>
                <a:cs typeface="Century Gothic"/>
              </a:rPr>
              <a:t>SOMMAIRE</a:t>
            </a:r>
            <a:endParaRPr sz="1600" dirty="0">
              <a:latin typeface="Century Gothic"/>
              <a:cs typeface="Century Gothic"/>
            </a:endParaRPr>
          </a:p>
        </p:txBody>
      </p:sp>
      <p:pic>
        <p:nvPicPr>
          <p:cNvPr id="22" name="Image 21">
            <a:extLst>
              <a:ext uri="{FF2B5EF4-FFF2-40B4-BE49-F238E27FC236}">
                <a16:creationId xmlns:a16="http://schemas.microsoft.com/office/drawing/2014/main" id="{C3CED99C-4D31-1369-0B66-3008A1DBB486}"/>
              </a:ext>
            </a:extLst>
          </p:cNvPr>
          <p:cNvPicPr>
            <a:picLocks noChangeAspect="1"/>
          </p:cNvPicPr>
          <p:nvPr/>
        </p:nvPicPr>
        <p:blipFill>
          <a:blip r:embed="rId2">
            <a:extLst>
              <a:ext uri="{28A0092B-C50C-407E-A947-70E740481C1C}">
                <a14:useLocalDpi xmlns:a14="http://schemas.microsoft.com/office/drawing/2010/main" val="0"/>
              </a:ext>
            </a:extLst>
          </a:blip>
          <a:srcRect l="31864" r="26213"/>
          <a:stretch>
            <a:fillRect/>
          </a:stretch>
        </p:blipFill>
        <p:spPr>
          <a:xfrm>
            <a:off x="0" y="0"/>
            <a:ext cx="5666105" cy="6901811"/>
          </a:xfrm>
          <a:prstGeom prst="rect">
            <a:avLst/>
          </a:prstGeom>
        </p:spPr>
      </p:pic>
    </p:spTree>
    <p:extLst>
      <p:ext uri="{BB962C8B-B14F-4D97-AF65-F5344CB8AC3E}">
        <p14:creationId xmlns:p14="http://schemas.microsoft.com/office/powerpoint/2010/main" val="3778335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118AA-D1BE-B58C-3244-9D943A599F6A}"/>
            </a:ext>
          </a:extLst>
        </p:cNvPr>
        <p:cNvGrpSpPr/>
        <p:nvPr/>
      </p:nvGrpSpPr>
      <p:grpSpPr>
        <a:xfrm>
          <a:off x="0" y="0"/>
          <a:ext cx="0" cy="0"/>
          <a:chOff x="0" y="0"/>
          <a:chExt cx="0" cy="0"/>
        </a:xfrm>
      </p:grpSpPr>
      <p:sp>
        <p:nvSpPr>
          <p:cNvPr id="22" name="object 4">
            <a:extLst>
              <a:ext uri="{FF2B5EF4-FFF2-40B4-BE49-F238E27FC236}">
                <a16:creationId xmlns:a16="http://schemas.microsoft.com/office/drawing/2014/main" id="{EB86DD34-FDC5-F139-6619-5B5CA94505BA}"/>
              </a:ext>
            </a:extLst>
          </p:cNvPr>
          <p:cNvSpPr/>
          <p:nvPr/>
        </p:nvSpPr>
        <p:spPr>
          <a:xfrm rot="5400000" flipV="1">
            <a:off x="-139766" y="3972498"/>
            <a:ext cx="3971024" cy="66433"/>
          </a:xfrm>
          <a:custGeom>
            <a:avLst/>
            <a:gdLst/>
            <a:ahLst/>
            <a:cxnLst/>
            <a:rect l="l" t="t" r="r" b="b"/>
            <a:pathLst>
              <a:path w="2390775">
                <a:moveTo>
                  <a:pt x="0" y="0"/>
                </a:moveTo>
                <a:lnTo>
                  <a:pt x="2390394" y="0"/>
                </a:lnTo>
              </a:path>
            </a:pathLst>
          </a:custGeom>
          <a:ln w="12700">
            <a:solidFill>
              <a:srgbClr val="000000"/>
            </a:solidFill>
          </a:ln>
        </p:spPr>
        <p:txBody>
          <a:bodyPr wrap="square" lIns="0" tIns="0" rIns="0" bIns="0" rtlCol="0"/>
          <a:lstStyle/>
          <a:p>
            <a:endParaRPr/>
          </a:p>
        </p:txBody>
      </p:sp>
      <p:sp>
        <p:nvSpPr>
          <p:cNvPr id="4" name="object 14">
            <a:extLst>
              <a:ext uri="{FF2B5EF4-FFF2-40B4-BE49-F238E27FC236}">
                <a16:creationId xmlns:a16="http://schemas.microsoft.com/office/drawing/2014/main" id="{7D83C484-F549-ED67-1ACB-97B3E4B4C17F}"/>
              </a:ext>
            </a:extLst>
          </p:cNvPr>
          <p:cNvSpPr/>
          <p:nvPr/>
        </p:nvSpPr>
        <p:spPr>
          <a:xfrm>
            <a:off x="10172248" y="7227706"/>
            <a:ext cx="132080" cy="132080"/>
          </a:xfrm>
          <a:custGeom>
            <a:avLst/>
            <a:gdLst/>
            <a:ahLst/>
            <a:cxnLst/>
            <a:rect l="l" t="t" r="r" b="b"/>
            <a:pathLst>
              <a:path w="132079" h="132079">
                <a:moveTo>
                  <a:pt x="131546" y="0"/>
                </a:moveTo>
                <a:lnTo>
                  <a:pt x="0" y="131546"/>
                </a:lnTo>
              </a:path>
            </a:pathLst>
          </a:custGeom>
          <a:ln w="6350">
            <a:solidFill>
              <a:srgbClr val="000000"/>
            </a:solidFill>
          </a:ln>
        </p:spPr>
        <p:txBody>
          <a:bodyPr wrap="square" lIns="0" tIns="0" rIns="0" bIns="0" rtlCol="0"/>
          <a:lstStyle/>
          <a:p>
            <a:endParaRPr/>
          </a:p>
        </p:txBody>
      </p:sp>
      <p:sp>
        <p:nvSpPr>
          <p:cNvPr id="5" name="object 33">
            <a:extLst>
              <a:ext uri="{FF2B5EF4-FFF2-40B4-BE49-F238E27FC236}">
                <a16:creationId xmlns:a16="http://schemas.microsoft.com/office/drawing/2014/main" id="{F7288A8B-F45B-2B37-9F47-BEC09A044FF8}"/>
              </a:ext>
            </a:extLst>
          </p:cNvPr>
          <p:cNvSpPr txBox="1">
            <a:spLocks noGrp="1"/>
          </p:cNvSpPr>
          <p:nvPr>
            <p:ph type="dt" sz="half" idx="6"/>
          </p:nvPr>
        </p:nvSpPr>
        <p:spPr>
          <a:xfrm>
            <a:off x="5585969" y="7083574"/>
            <a:ext cx="4218431" cy="336631"/>
          </a:xfrm>
          <a:prstGeom prst="rect">
            <a:avLst/>
          </a:prstGeom>
        </p:spPr>
        <p:txBody>
          <a:bodyPr vert="horz" wrap="square" lIns="0" tIns="13335" rIns="0" bIns="0" rtlCol="0">
            <a:spAutoFit/>
          </a:bodyPr>
          <a:lstStyle/>
          <a:p>
            <a:pPr marL="12700">
              <a:lnSpc>
                <a:spcPct val="100000"/>
              </a:lnSpc>
              <a:spcBef>
                <a:spcPts val="105"/>
              </a:spcBef>
            </a:pPr>
            <a:r>
              <a:rPr lang="fr-FR" spc="-10" dirty="0"/>
              <a:t>Notice d’intention</a:t>
            </a:r>
            <a:endParaRPr spc="-10" dirty="0"/>
          </a:p>
          <a:p>
            <a:pPr marL="12700">
              <a:lnSpc>
                <a:spcPct val="100000"/>
              </a:lnSpc>
            </a:pPr>
            <a:r>
              <a:rPr b="0" dirty="0">
                <a:latin typeface="Century Gothic"/>
                <a:cs typeface="Century Gothic"/>
              </a:rPr>
              <a:t>Mission</a:t>
            </a:r>
            <a:r>
              <a:rPr b="0" spc="-5" dirty="0">
                <a:latin typeface="Century Gothic"/>
                <a:cs typeface="Century Gothic"/>
              </a:rPr>
              <a:t> </a:t>
            </a:r>
            <a:r>
              <a:rPr b="0" dirty="0">
                <a:latin typeface="Century Gothic"/>
                <a:cs typeface="Century Gothic"/>
              </a:rPr>
              <a:t>de maîtrise d’œuvre pour la rehabilitation </a:t>
            </a:r>
            <a:r>
              <a:rPr lang="fr-FR" b="0" dirty="0">
                <a:latin typeface="Century Gothic"/>
                <a:cs typeface="Century Gothic"/>
              </a:rPr>
              <a:t>et surélévation de la Résidence « Paris </a:t>
            </a:r>
            <a:r>
              <a:rPr lang="fr-FR" b="0" dirty="0" err="1">
                <a:latin typeface="Century Gothic"/>
                <a:cs typeface="Century Gothic"/>
              </a:rPr>
              <a:t>Boucry</a:t>
            </a:r>
            <a:r>
              <a:rPr lang="fr-FR" b="0" dirty="0">
                <a:latin typeface="Century Gothic"/>
                <a:cs typeface="Century Gothic"/>
              </a:rPr>
              <a:t> »</a:t>
            </a:r>
          </a:p>
          <a:p>
            <a:pPr marL="12700">
              <a:lnSpc>
                <a:spcPct val="100000"/>
              </a:lnSpc>
            </a:pPr>
            <a:r>
              <a:rPr lang="fr-FR" b="0" spc="-20" dirty="0">
                <a:latin typeface="Century Gothic"/>
                <a:cs typeface="Century Gothic"/>
              </a:rPr>
              <a:t>29 rue de </a:t>
            </a:r>
            <a:r>
              <a:rPr lang="fr-FR" b="0" spc="-20" dirty="0" err="1">
                <a:latin typeface="Century Gothic"/>
                <a:cs typeface="Century Gothic"/>
              </a:rPr>
              <a:t>Boucry</a:t>
            </a:r>
            <a:r>
              <a:rPr lang="fr-FR" b="0" spc="-20" dirty="0">
                <a:latin typeface="Century Gothic"/>
                <a:cs typeface="Century Gothic"/>
              </a:rPr>
              <a:t> 75018 PARIS</a:t>
            </a:r>
            <a:endParaRPr b="0" spc="-20" dirty="0">
              <a:latin typeface="Century Gothic"/>
              <a:cs typeface="Century Gothic"/>
            </a:endParaRPr>
          </a:p>
        </p:txBody>
      </p:sp>
      <p:sp>
        <p:nvSpPr>
          <p:cNvPr id="6" name="object 34">
            <a:extLst>
              <a:ext uri="{FF2B5EF4-FFF2-40B4-BE49-F238E27FC236}">
                <a16:creationId xmlns:a16="http://schemas.microsoft.com/office/drawing/2014/main" id="{956AD550-5494-D246-5B10-C406A420529B}"/>
              </a:ext>
            </a:extLst>
          </p:cNvPr>
          <p:cNvSpPr txBox="1">
            <a:spLocks noGrp="1"/>
          </p:cNvSpPr>
          <p:nvPr>
            <p:ph type="sldNum" sz="quarter" idx="7"/>
          </p:nvPr>
        </p:nvSpPr>
        <p:spPr>
          <a:xfrm>
            <a:off x="10055521" y="7164998"/>
            <a:ext cx="201929" cy="150495"/>
          </a:xfrm>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25" dirty="0"/>
              <a:t>3</a:t>
            </a:fld>
            <a:endParaRPr spc="-25" dirty="0"/>
          </a:p>
        </p:txBody>
      </p:sp>
      <p:sp>
        <p:nvSpPr>
          <p:cNvPr id="7" name="object 35">
            <a:extLst>
              <a:ext uri="{FF2B5EF4-FFF2-40B4-BE49-F238E27FC236}">
                <a16:creationId xmlns:a16="http://schemas.microsoft.com/office/drawing/2014/main" id="{D3E0BC21-5F09-78D0-00AD-5333B1F525CD}"/>
              </a:ext>
            </a:extLst>
          </p:cNvPr>
          <p:cNvSpPr txBox="1">
            <a:spLocks noGrp="1"/>
          </p:cNvSpPr>
          <p:nvPr>
            <p:ph type="ftr" sz="quarter" idx="5"/>
          </p:nvPr>
        </p:nvSpPr>
        <p:spPr>
          <a:xfrm>
            <a:off x="10246427" y="7268322"/>
            <a:ext cx="109854" cy="119379"/>
          </a:xfrm>
          <a:prstGeom prst="rect">
            <a:avLst/>
          </a:prstGeom>
        </p:spPr>
        <p:txBody>
          <a:bodyPr vert="horz" wrap="square" lIns="0" tIns="12700" rIns="0" bIns="0" rtlCol="0">
            <a:spAutoFit/>
          </a:bodyPr>
          <a:lstStyle/>
          <a:p>
            <a:pPr marL="12700">
              <a:lnSpc>
                <a:spcPct val="100000"/>
              </a:lnSpc>
              <a:spcBef>
                <a:spcPts val="100"/>
              </a:spcBef>
            </a:pPr>
            <a:r>
              <a:rPr spc="-25" dirty="0"/>
              <a:t>25</a:t>
            </a:r>
          </a:p>
        </p:txBody>
      </p:sp>
      <p:sp>
        <p:nvSpPr>
          <p:cNvPr id="43" name="object 70">
            <a:extLst>
              <a:ext uri="{FF2B5EF4-FFF2-40B4-BE49-F238E27FC236}">
                <a16:creationId xmlns:a16="http://schemas.microsoft.com/office/drawing/2014/main" id="{C4BD5371-8BED-C38E-6737-AB22A7DFDB3D}"/>
              </a:ext>
            </a:extLst>
          </p:cNvPr>
          <p:cNvSpPr txBox="1">
            <a:spLocks/>
          </p:cNvSpPr>
          <p:nvPr/>
        </p:nvSpPr>
        <p:spPr>
          <a:xfrm>
            <a:off x="0" y="273659"/>
            <a:ext cx="7677150" cy="310983"/>
          </a:xfrm>
          <a:prstGeom prst="rect">
            <a:avLst/>
          </a:prstGeom>
          <a:solidFill>
            <a:srgbClr val="C50A4C"/>
          </a:solidFill>
        </p:spPr>
        <p:txBody>
          <a:bodyPr vert="horz" wrap="square" lIns="0" tIns="33655" rIns="0" bIns="0" rtlCol="0">
            <a:spAutoFit/>
          </a:bodyPr>
          <a:lstStyle>
            <a:lvl1pPr>
              <a:defRPr sz="1800" b="1" i="0">
                <a:solidFill>
                  <a:schemeClr val="bg1"/>
                </a:solidFill>
                <a:latin typeface="Century Gothic"/>
                <a:ea typeface="+mj-ea"/>
                <a:cs typeface="Century Gothic"/>
              </a:defRPr>
            </a:lvl1pPr>
          </a:lstStyle>
          <a:p>
            <a:pPr marL="503555">
              <a:spcBef>
                <a:spcPts val="265"/>
              </a:spcBef>
            </a:pPr>
            <a:r>
              <a:rPr lang="fr-FR" spc="-10" dirty="0"/>
              <a:t>NOTE D’INTENTION</a:t>
            </a:r>
          </a:p>
        </p:txBody>
      </p:sp>
      <p:sp>
        <p:nvSpPr>
          <p:cNvPr id="69" name="object 3">
            <a:extLst>
              <a:ext uri="{FF2B5EF4-FFF2-40B4-BE49-F238E27FC236}">
                <a16:creationId xmlns:a16="http://schemas.microsoft.com/office/drawing/2014/main" id="{FBFC1CB2-DB59-F6D3-72FD-0152FB67490A}"/>
              </a:ext>
            </a:extLst>
          </p:cNvPr>
          <p:cNvSpPr txBox="1"/>
          <p:nvPr/>
        </p:nvSpPr>
        <p:spPr>
          <a:xfrm>
            <a:off x="4093968" y="1240716"/>
            <a:ext cx="6207386" cy="5757987"/>
          </a:xfrm>
          <a:prstGeom prst="rect">
            <a:avLst/>
          </a:prstGeom>
        </p:spPr>
        <p:txBody>
          <a:bodyPr vert="horz" wrap="square" lIns="0" tIns="12700" rIns="0" bIns="0" rtlCol="0">
            <a:spAutoFit/>
          </a:bodyPr>
          <a:lstStyle/>
          <a:p>
            <a:pPr marL="12700" marR="5080" indent="-635" algn="just">
              <a:spcBef>
                <a:spcPts val="1320"/>
              </a:spcBef>
            </a:pPr>
            <a:r>
              <a:rPr lang="fr-FR" sz="1100" dirty="0">
                <a:highlight>
                  <a:srgbClr val="FFFF00"/>
                </a:highlight>
                <a:latin typeface="Century Gothic"/>
                <a:cs typeface="Century Gothic"/>
              </a:rPr>
              <a:t>Paragraphe de présentation s’attachera</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définir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faire</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partager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philosophie </a:t>
            </a:r>
            <a:r>
              <a:rPr lang="fr-FR" sz="1100" dirty="0">
                <a:highlight>
                  <a:srgbClr val="FFFF00"/>
                </a:highlight>
                <a:latin typeface="Century Gothic"/>
                <a:cs typeface="Century Gothic"/>
              </a:rPr>
              <a:t>globale</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du</a:t>
            </a:r>
            <a:r>
              <a:rPr lang="fr-FR" sz="1100" spc="120" dirty="0">
                <a:highlight>
                  <a:srgbClr val="FFFF00"/>
                </a:highlight>
                <a:latin typeface="Century Gothic"/>
                <a:cs typeface="Century Gothic"/>
              </a:rPr>
              <a:t>  </a:t>
            </a:r>
            <a:r>
              <a:rPr lang="fr-FR" sz="1100" dirty="0">
                <a:highlight>
                  <a:srgbClr val="FFFF00"/>
                </a:highlight>
                <a:latin typeface="Century Gothic"/>
                <a:cs typeface="Century Gothic"/>
              </a:rPr>
              <a:t>projet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architectural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il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apparait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dès</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120" dirty="0">
                <a:highlight>
                  <a:srgbClr val="FFFF00"/>
                </a:highlight>
                <a:latin typeface="Century Gothic"/>
                <a:cs typeface="Century Gothic"/>
              </a:rPr>
              <a:t>  </a:t>
            </a:r>
            <a:r>
              <a:rPr lang="fr-FR" sz="1100" spc="-10" dirty="0">
                <a:highlight>
                  <a:srgbClr val="FFFF00"/>
                </a:highlight>
                <a:latin typeface="Century Gothic"/>
                <a:cs typeface="Century Gothic"/>
              </a:rPr>
              <a:t>présent </a:t>
            </a:r>
            <a:r>
              <a:rPr lang="fr-FR" sz="1100" dirty="0">
                <a:highlight>
                  <a:srgbClr val="FFFF00"/>
                </a:highlight>
                <a:latin typeface="Century Gothic"/>
                <a:cs typeface="Century Gothic"/>
              </a:rPr>
              <a:t>important</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d’inscrire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réhabilitation</a:t>
            </a:r>
            <a:r>
              <a:rPr lang="fr-FR" sz="1100" spc="165" dirty="0">
                <a:highlight>
                  <a:srgbClr val="FFFF00"/>
                </a:highlight>
                <a:latin typeface="Century Gothic"/>
                <a:cs typeface="Century Gothic"/>
              </a:rPr>
              <a:t> </a:t>
            </a:r>
            <a:r>
              <a:rPr lang="fr-FR" sz="1100" dirty="0">
                <a:highlight>
                  <a:srgbClr val="FFFF00"/>
                </a:highlight>
                <a:latin typeface="Century Gothic"/>
                <a:cs typeface="Century Gothic"/>
              </a:rPr>
              <a:t>de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résidence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Chat</a:t>
            </a:r>
            <a:r>
              <a:rPr lang="fr-FR" sz="1100" spc="165" dirty="0">
                <a:highlight>
                  <a:srgbClr val="FFFF00"/>
                </a:highlight>
                <a:latin typeface="Century Gothic"/>
                <a:cs typeface="Century Gothic"/>
              </a:rPr>
              <a:t> </a:t>
            </a:r>
            <a:r>
              <a:rPr lang="fr-FR" sz="1100" spc="-10" dirty="0">
                <a:highlight>
                  <a:srgbClr val="FFFF00"/>
                </a:highlight>
                <a:latin typeface="Century Gothic"/>
                <a:cs typeface="Century Gothic"/>
              </a:rPr>
              <a:t>Perché, </a:t>
            </a:r>
            <a:r>
              <a:rPr lang="fr-FR" sz="1100" dirty="0">
                <a:highlight>
                  <a:srgbClr val="FFFF00"/>
                </a:highlight>
                <a:latin typeface="Century Gothic"/>
                <a:cs typeface="Century Gothic"/>
              </a:rPr>
              <a:t>dans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une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dynamique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élégante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d’envergure. Maîtrise</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des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coûts</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au</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profit</a:t>
            </a:r>
            <a:r>
              <a:rPr lang="fr-FR" sz="1100" spc="25" dirty="0">
                <a:highlight>
                  <a:srgbClr val="FFFF00"/>
                </a:highlight>
                <a:latin typeface="Century Gothic"/>
                <a:cs typeface="Century Gothic"/>
              </a:rPr>
              <a:t> </a:t>
            </a:r>
            <a:r>
              <a:rPr lang="fr-FR" sz="1100" spc="-25" dirty="0">
                <a:highlight>
                  <a:srgbClr val="FFFF00"/>
                </a:highlight>
                <a:latin typeface="Century Gothic"/>
                <a:cs typeface="Century Gothic"/>
              </a:rPr>
              <a:t>du </a:t>
            </a:r>
            <a:r>
              <a:rPr lang="fr-FR" sz="1100" dirty="0">
                <a:highlight>
                  <a:srgbClr val="FFFF00"/>
                </a:highlight>
                <a:latin typeface="Century Gothic"/>
                <a:cs typeface="Century Gothic"/>
              </a:rPr>
              <a:t>confort</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pour</a:t>
            </a:r>
            <a:r>
              <a:rPr lang="fr-FR" sz="1100" spc="-15" dirty="0">
                <a:highlight>
                  <a:srgbClr val="FFFF00"/>
                </a:highlight>
                <a:latin typeface="Century Gothic"/>
                <a:cs typeface="Century Gothic"/>
              </a:rPr>
              <a:t> </a:t>
            </a:r>
            <a:r>
              <a:rPr lang="fr-FR" sz="1100" dirty="0">
                <a:highlight>
                  <a:srgbClr val="FFFF00"/>
                </a:highlight>
                <a:latin typeface="Century Gothic"/>
                <a:cs typeface="Century Gothic"/>
              </a:rPr>
              <a:t>le</a:t>
            </a:r>
            <a:r>
              <a:rPr lang="fr-FR" sz="1100" spc="-15"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il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apparait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dès</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120" dirty="0">
                <a:highlight>
                  <a:srgbClr val="FFFF00"/>
                </a:highlight>
                <a:latin typeface="Century Gothic"/>
                <a:cs typeface="Century Gothic"/>
              </a:rPr>
              <a:t>  </a:t>
            </a:r>
            <a:r>
              <a:rPr lang="fr-FR" sz="1100" spc="-10" dirty="0">
                <a:highlight>
                  <a:srgbClr val="FFFF00"/>
                </a:highlight>
                <a:latin typeface="Century Gothic"/>
                <a:cs typeface="Century Gothic"/>
              </a:rPr>
              <a:t>présent </a:t>
            </a:r>
            <a:r>
              <a:rPr lang="fr-FR" sz="1100" dirty="0">
                <a:highlight>
                  <a:srgbClr val="FFFF00"/>
                </a:highlight>
                <a:latin typeface="Century Gothic"/>
                <a:cs typeface="Century Gothic"/>
              </a:rPr>
              <a:t>important</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d’inscrire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réhabilitation</a:t>
            </a:r>
            <a:r>
              <a:rPr lang="fr-FR" sz="1100" spc="165" dirty="0">
                <a:highlight>
                  <a:srgbClr val="FFFF00"/>
                </a:highlight>
                <a:latin typeface="Century Gothic"/>
                <a:cs typeface="Century Gothic"/>
              </a:rPr>
              <a:t> </a:t>
            </a:r>
            <a:r>
              <a:rPr lang="fr-FR" sz="1100" dirty="0">
                <a:highlight>
                  <a:srgbClr val="FFFF00"/>
                </a:highlight>
                <a:latin typeface="Century Gothic"/>
                <a:cs typeface="Century Gothic"/>
              </a:rPr>
              <a:t>de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résidence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Chat</a:t>
            </a:r>
            <a:r>
              <a:rPr lang="fr-FR" sz="1100" spc="165" dirty="0">
                <a:highlight>
                  <a:srgbClr val="FFFF00"/>
                </a:highlight>
                <a:latin typeface="Century Gothic"/>
                <a:cs typeface="Century Gothic"/>
              </a:rPr>
              <a:t> </a:t>
            </a:r>
            <a:r>
              <a:rPr lang="fr-FR" sz="1100" spc="-10" dirty="0">
                <a:highlight>
                  <a:srgbClr val="FFFF00"/>
                </a:highlight>
                <a:latin typeface="Century Gothic"/>
                <a:cs typeface="Century Gothic"/>
              </a:rPr>
              <a:t>Perché, </a:t>
            </a:r>
            <a:r>
              <a:rPr lang="fr-FR" sz="1100" dirty="0">
                <a:highlight>
                  <a:srgbClr val="FFFF00"/>
                </a:highlight>
                <a:latin typeface="Century Gothic"/>
                <a:cs typeface="Century Gothic"/>
              </a:rPr>
              <a:t>dans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une</a:t>
            </a:r>
            <a:r>
              <a:rPr lang="fr-FR" sz="1100" spc="155" dirty="0">
                <a:highlight>
                  <a:srgbClr val="FFFF00"/>
                </a:highlight>
                <a:latin typeface="Century Gothic"/>
                <a:cs typeface="Century Gothic"/>
              </a:rPr>
              <a:t> </a:t>
            </a:r>
          </a:p>
          <a:p>
            <a:pPr marL="12700" marR="5080" indent="-635" algn="just">
              <a:spcBef>
                <a:spcPts val="1320"/>
              </a:spcBef>
            </a:pPr>
            <a:r>
              <a:rPr lang="fr-FR" sz="1100" dirty="0">
                <a:latin typeface="Century Gothic"/>
              </a:rPr>
              <a:t>Créé il y a 42 ans, IPC est un bureau d’études généraliste/Economiste de la construction et maître d’œuvre désamiantage spécialisé dans le domaine de la réhabilitation des logements sociaux en milieu occupé sur des bâtiments couvrant les périodes de 1850 à 2000. Nous avons participé à la réhabilitation de plus de 50 000 logements regroupant des opérations de réhabilitation lourde en milieu occupé et de restructuration en milieu vide. Nous menons des missions de maîtrise d'œuvre, totale ou partielle, d’OPC et d’ingénierie sociale. Nous sommes Référent CERQUAL NF HABITAT. </a:t>
            </a:r>
          </a:p>
          <a:p>
            <a:pPr marL="12700" marR="5080" indent="-635" algn="just">
              <a:spcBef>
                <a:spcPts val="1320"/>
              </a:spcBef>
            </a:pPr>
            <a:r>
              <a:rPr lang="fr-FR" sz="1100" dirty="0">
                <a:highlight>
                  <a:srgbClr val="00FFFF"/>
                </a:highlight>
                <a:latin typeface="Century Gothic"/>
                <a:cs typeface="Century Gothic"/>
              </a:rPr>
              <a:t>Paragraphe de présentation s’attachera</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à</a:t>
            </a:r>
            <a:r>
              <a:rPr lang="fr-FR" sz="1100" spc="-25" dirty="0">
                <a:highlight>
                  <a:srgbClr val="00FFFF"/>
                </a:highlight>
                <a:latin typeface="Century Gothic"/>
                <a:cs typeface="Century Gothic"/>
              </a:rPr>
              <a:t> </a:t>
            </a:r>
            <a:r>
              <a:rPr lang="fr-FR" sz="1100" spc="-10" dirty="0">
                <a:highlight>
                  <a:srgbClr val="00FFFF"/>
                </a:highlight>
                <a:latin typeface="Century Gothic"/>
                <a:cs typeface="Century Gothic"/>
              </a:rPr>
              <a:t>définir</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et</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faire</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partager</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la</a:t>
            </a:r>
            <a:r>
              <a:rPr lang="fr-FR" sz="1100" spc="-25" dirty="0">
                <a:highlight>
                  <a:srgbClr val="00FFFF"/>
                </a:highlight>
                <a:latin typeface="Century Gothic"/>
                <a:cs typeface="Century Gothic"/>
              </a:rPr>
              <a:t> </a:t>
            </a:r>
            <a:r>
              <a:rPr lang="fr-FR" sz="1100" spc="-10" dirty="0">
                <a:highlight>
                  <a:srgbClr val="00FFFF"/>
                </a:highlight>
                <a:latin typeface="Century Gothic"/>
                <a:cs typeface="Century Gothic"/>
              </a:rPr>
              <a:t>philosophie </a:t>
            </a:r>
            <a:r>
              <a:rPr lang="fr-FR" sz="1100" dirty="0">
                <a:highlight>
                  <a:srgbClr val="00FFFF"/>
                </a:highlight>
                <a:latin typeface="Century Gothic"/>
                <a:cs typeface="Century Gothic"/>
              </a:rPr>
              <a:t>globale</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du</a:t>
            </a:r>
            <a:r>
              <a:rPr lang="fr-FR" sz="1100" spc="120" dirty="0">
                <a:highlight>
                  <a:srgbClr val="00FFFF"/>
                </a:highlight>
                <a:latin typeface="Century Gothic"/>
                <a:cs typeface="Century Gothic"/>
              </a:rPr>
              <a:t>  </a:t>
            </a:r>
            <a:r>
              <a:rPr lang="fr-FR" sz="1100" dirty="0">
                <a:highlight>
                  <a:srgbClr val="00FFFF"/>
                </a:highlight>
                <a:latin typeface="Century Gothic"/>
                <a:cs typeface="Century Gothic"/>
              </a:rPr>
              <a:t>projet</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architectural</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où</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il</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apparait</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dès</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à</a:t>
            </a:r>
            <a:r>
              <a:rPr lang="fr-FR" sz="1100" spc="120" dirty="0">
                <a:highlight>
                  <a:srgbClr val="00FFFF"/>
                </a:highlight>
                <a:latin typeface="Century Gothic"/>
                <a:cs typeface="Century Gothic"/>
              </a:rPr>
              <a:t>  </a:t>
            </a:r>
            <a:r>
              <a:rPr lang="fr-FR" sz="1100" spc="-10" dirty="0">
                <a:highlight>
                  <a:srgbClr val="00FFFF"/>
                </a:highlight>
                <a:latin typeface="Century Gothic"/>
                <a:cs typeface="Century Gothic"/>
              </a:rPr>
              <a:t>présent </a:t>
            </a:r>
            <a:r>
              <a:rPr lang="fr-FR" sz="1100" dirty="0">
                <a:highlight>
                  <a:srgbClr val="00FFFF"/>
                </a:highlight>
                <a:latin typeface="Century Gothic"/>
                <a:cs typeface="Century Gothic"/>
              </a:rPr>
              <a:t>important</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d’inscrire</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la</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réhabilitation</a:t>
            </a:r>
            <a:r>
              <a:rPr lang="fr-FR" sz="1100" spc="165" dirty="0">
                <a:highlight>
                  <a:srgbClr val="00FFFF"/>
                </a:highlight>
                <a:latin typeface="Century Gothic"/>
                <a:cs typeface="Century Gothic"/>
              </a:rPr>
              <a:t> </a:t>
            </a:r>
            <a:r>
              <a:rPr lang="fr-FR" sz="1100" dirty="0">
                <a:highlight>
                  <a:srgbClr val="00FFFF"/>
                </a:highlight>
                <a:latin typeface="Century Gothic"/>
                <a:cs typeface="Century Gothic"/>
              </a:rPr>
              <a:t>de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la</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résidence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Chat</a:t>
            </a:r>
            <a:r>
              <a:rPr lang="fr-FR" sz="1100" spc="165" dirty="0">
                <a:highlight>
                  <a:srgbClr val="00FFFF"/>
                </a:highlight>
                <a:latin typeface="Century Gothic"/>
                <a:cs typeface="Century Gothic"/>
              </a:rPr>
              <a:t> </a:t>
            </a:r>
            <a:r>
              <a:rPr lang="fr-FR" sz="1100" spc="-10" dirty="0">
                <a:highlight>
                  <a:srgbClr val="00FFFF"/>
                </a:highlight>
                <a:latin typeface="Century Gothic"/>
                <a:cs typeface="Century Gothic"/>
              </a:rPr>
              <a:t>Perché, </a:t>
            </a:r>
            <a:r>
              <a:rPr lang="fr-FR" sz="1100" dirty="0">
                <a:highlight>
                  <a:srgbClr val="00FFFF"/>
                </a:highlight>
                <a:latin typeface="Century Gothic"/>
                <a:cs typeface="Century Gothic"/>
              </a:rPr>
              <a:t>dans</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une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dynamique</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élégante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et</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d’envergure. Maîtrise</a:t>
            </a:r>
            <a:r>
              <a:rPr lang="fr-FR" sz="1100" spc="20" dirty="0">
                <a:highlight>
                  <a:srgbClr val="00FFFF"/>
                </a:highlight>
                <a:latin typeface="Century Gothic"/>
                <a:cs typeface="Century Gothic"/>
              </a:rPr>
              <a:t> </a:t>
            </a:r>
            <a:r>
              <a:rPr lang="fr-FR" sz="1100" dirty="0">
                <a:highlight>
                  <a:srgbClr val="00FFFF"/>
                </a:highlight>
                <a:latin typeface="Century Gothic"/>
                <a:cs typeface="Century Gothic"/>
              </a:rPr>
              <a:t>des</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coûts</a:t>
            </a:r>
            <a:r>
              <a:rPr lang="fr-FR" sz="1100" spc="20" dirty="0">
                <a:highlight>
                  <a:srgbClr val="00FFFF"/>
                </a:highlight>
                <a:latin typeface="Century Gothic"/>
                <a:cs typeface="Century Gothic"/>
              </a:rPr>
              <a:t> </a:t>
            </a:r>
            <a:r>
              <a:rPr lang="fr-FR" sz="1100" dirty="0">
                <a:highlight>
                  <a:srgbClr val="00FFFF"/>
                </a:highlight>
                <a:latin typeface="Century Gothic"/>
                <a:cs typeface="Century Gothic"/>
              </a:rPr>
              <a:t>au</a:t>
            </a:r>
            <a:r>
              <a:rPr lang="fr-FR" sz="1100" spc="20" dirty="0">
                <a:highlight>
                  <a:srgbClr val="00FFFF"/>
                </a:highlight>
                <a:latin typeface="Century Gothic"/>
                <a:cs typeface="Century Gothic"/>
              </a:rPr>
              <a:t> </a:t>
            </a:r>
            <a:r>
              <a:rPr lang="fr-FR" sz="1100" dirty="0">
                <a:highlight>
                  <a:srgbClr val="00FFFF"/>
                </a:highlight>
                <a:latin typeface="Century Gothic"/>
                <a:cs typeface="Century Gothic"/>
              </a:rPr>
              <a:t>profit</a:t>
            </a:r>
            <a:r>
              <a:rPr lang="fr-FR" sz="1100" spc="25" dirty="0">
                <a:highlight>
                  <a:srgbClr val="00FFFF"/>
                </a:highlight>
                <a:latin typeface="Century Gothic"/>
                <a:cs typeface="Century Gothic"/>
              </a:rPr>
              <a:t> </a:t>
            </a:r>
            <a:r>
              <a:rPr lang="fr-FR" sz="1100" spc="-25" dirty="0">
                <a:highlight>
                  <a:srgbClr val="00FFFF"/>
                </a:highlight>
                <a:latin typeface="Century Gothic"/>
                <a:cs typeface="Century Gothic"/>
              </a:rPr>
              <a:t>du </a:t>
            </a:r>
            <a:r>
              <a:rPr lang="fr-FR" sz="1100" dirty="0">
                <a:highlight>
                  <a:srgbClr val="00FFFF"/>
                </a:highlight>
                <a:latin typeface="Century Gothic"/>
                <a:cs typeface="Century Gothic"/>
              </a:rPr>
              <a:t>confort</a:t>
            </a:r>
            <a:r>
              <a:rPr lang="fr-FR" sz="1100" spc="-20" dirty="0">
                <a:highlight>
                  <a:srgbClr val="00FFFF"/>
                </a:highlight>
                <a:latin typeface="Century Gothic"/>
                <a:cs typeface="Century Gothic"/>
              </a:rPr>
              <a:t> </a:t>
            </a:r>
            <a:r>
              <a:rPr lang="fr-FR" sz="1100" dirty="0">
                <a:highlight>
                  <a:srgbClr val="00FFFF"/>
                </a:highlight>
                <a:latin typeface="Century Gothic"/>
                <a:cs typeface="Century Gothic"/>
              </a:rPr>
              <a:t>pour</a:t>
            </a:r>
            <a:r>
              <a:rPr lang="fr-FR" sz="1100" spc="-15" dirty="0">
                <a:highlight>
                  <a:srgbClr val="00FFFF"/>
                </a:highlight>
                <a:latin typeface="Century Gothic"/>
                <a:cs typeface="Century Gothic"/>
              </a:rPr>
              <a:t> </a:t>
            </a:r>
            <a:r>
              <a:rPr lang="fr-FR" sz="1100" dirty="0">
                <a:highlight>
                  <a:srgbClr val="00FFFF"/>
                </a:highlight>
                <a:latin typeface="Century Gothic"/>
                <a:cs typeface="Century Gothic"/>
              </a:rPr>
              <a:t>le</a:t>
            </a:r>
            <a:r>
              <a:rPr lang="fr-FR" sz="1100" spc="-15" dirty="0">
                <a:highlight>
                  <a:srgbClr val="00FFFF"/>
                </a:highlight>
                <a:latin typeface="Century Gothic"/>
                <a:cs typeface="Century Gothic"/>
              </a:rPr>
              <a:t>.</a:t>
            </a:r>
            <a:r>
              <a:rPr lang="fr-FR" sz="1100" dirty="0">
                <a:highlight>
                  <a:srgbClr val="00FFFF"/>
                </a:highlight>
                <a:latin typeface="Century Gothic"/>
                <a:cs typeface="Century Gothic"/>
              </a:rPr>
              <a:t> où</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il</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apparait</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dès</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à</a:t>
            </a:r>
            <a:r>
              <a:rPr lang="fr-FR" sz="1100" spc="120" dirty="0">
                <a:highlight>
                  <a:srgbClr val="00FFFF"/>
                </a:highlight>
                <a:latin typeface="Century Gothic"/>
                <a:cs typeface="Century Gothic"/>
              </a:rPr>
              <a:t>  </a:t>
            </a:r>
            <a:r>
              <a:rPr lang="fr-FR" sz="1100" spc="-10" dirty="0">
                <a:highlight>
                  <a:srgbClr val="00FFFF"/>
                </a:highlight>
                <a:latin typeface="Century Gothic"/>
                <a:cs typeface="Century Gothic"/>
              </a:rPr>
              <a:t>présent </a:t>
            </a:r>
            <a:r>
              <a:rPr lang="fr-FR" sz="1100" dirty="0">
                <a:highlight>
                  <a:srgbClr val="00FFFF"/>
                </a:highlight>
                <a:latin typeface="Century Gothic"/>
                <a:cs typeface="Century Gothic"/>
              </a:rPr>
              <a:t>important</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d’inscrire</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la</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réhabilitation</a:t>
            </a:r>
            <a:r>
              <a:rPr lang="fr-FR" sz="1100" spc="165" dirty="0">
                <a:highlight>
                  <a:srgbClr val="00FFFF"/>
                </a:highlight>
                <a:latin typeface="Century Gothic"/>
                <a:cs typeface="Century Gothic"/>
              </a:rPr>
              <a:t> </a:t>
            </a:r>
            <a:r>
              <a:rPr lang="fr-FR" sz="1100" dirty="0">
                <a:highlight>
                  <a:srgbClr val="00FFFF"/>
                </a:highlight>
                <a:latin typeface="Century Gothic"/>
                <a:cs typeface="Century Gothic"/>
              </a:rPr>
              <a:t>de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la</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résidence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Chat</a:t>
            </a:r>
            <a:r>
              <a:rPr lang="fr-FR" sz="1100" spc="165" dirty="0">
                <a:highlight>
                  <a:srgbClr val="00FFFF"/>
                </a:highlight>
                <a:latin typeface="Century Gothic"/>
                <a:cs typeface="Century Gothic"/>
              </a:rPr>
              <a:t> </a:t>
            </a:r>
            <a:r>
              <a:rPr lang="fr-FR" sz="1100" spc="-10" dirty="0">
                <a:highlight>
                  <a:srgbClr val="00FFFF"/>
                </a:highlight>
                <a:latin typeface="Century Gothic"/>
                <a:cs typeface="Century Gothic"/>
              </a:rPr>
              <a:t>Perché, </a:t>
            </a:r>
            <a:r>
              <a:rPr lang="fr-FR" sz="1100" dirty="0">
                <a:highlight>
                  <a:srgbClr val="00FFFF"/>
                </a:highlight>
                <a:latin typeface="Century Gothic"/>
                <a:cs typeface="Century Gothic"/>
              </a:rPr>
              <a:t>dans</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une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dynamique</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élégante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et</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d’envergure. </a:t>
            </a:r>
          </a:p>
          <a:p>
            <a:pPr marL="12700" marR="5080" indent="-635" algn="just">
              <a:spcBef>
                <a:spcPts val="1320"/>
              </a:spcBef>
            </a:pPr>
            <a:r>
              <a:rPr lang="fr-FR" sz="1100" dirty="0">
                <a:highlight>
                  <a:srgbClr val="00FF00"/>
                </a:highlight>
                <a:latin typeface="Century Gothic"/>
                <a:cs typeface="Century Gothic"/>
              </a:rPr>
              <a:t>Paragraphe de présentation s’attachera</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à</a:t>
            </a:r>
            <a:r>
              <a:rPr lang="fr-FR" sz="1100" spc="-25" dirty="0">
                <a:highlight>
                  <a:srgbClr val="00FF00"/>
                </a:highlight>
                <a:latin typeface="Century Gothic"/>
                <a:cs typeface="Century Gothic"/>
              </a:rPr>
              <a:t> </a:t>
            </a:r>
            <a:r>
              <a:rPr lang="fr-FR" sz="1100" spc="-10" dirty="0">
                <a:highlight>
                  <a:srgbClr val="00FF00"/>
                </a:highlight>
                <a:latin typeface="Century Gothic"/>
                <a:cs typeface="Century Gothic"/>
              </a:rPr>
              <a:t>définir</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et</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faire</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partager</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la</a:t>
            </a:r>
            <a:r>
              <a:rPr lang="fr-FR" sz="1100" spc="-25" dirty="0">
                <a:highlight>
                  <a:srgbClr val="00FF00"/>
                </a:highlight>
                <a:latin typeface="Century Gothic"/>
                <a:cs typeface="Century Gothic"/>
              </a:rPr>
              <a:t> </a:t>
            </a:r>
            <a:r>
              <a:rPr lang="fr-FR" sz="1100" spc="-10" dirty="0">
                <a:highlight>
                  <a:srgbClr val="00FF00"/>
                </a:highlight>
                <a:latin typeface="Century Gothic"/>
                <a:cs typeface="Century Gothic"/>
              </a:rPr>
              <a:t>philosophie </a:t>
            </a:r>
            <a:r>
              <a:rPr lang="fr-FR" sz="1100" dirty="0">
                <a:highlight>
                  <a:srgbClr val="00FF00"/>
                </a:highlight>
                <a:latin typeface="Century Gothic"/>
                <a:cs typeface="Century Gothic"/>
              </a:rPr>
              <a:t>globale</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du</a:t>
            </a:r>
            <a:r>
              <a:rPr lang="fr-FR" sz="1100" spc="120" dirty="0">
                <a:highlight>
                  <a:srgbClr val="00FF00"/>
                </a:highlight>
                <a:latin typeface="Century Gothic"/>
                <a:cs typeface="Century Gothic"/>
              </a:rPr>
              <a:t>  </a:t>
            </a:r>
            <a:r>
              <a:rPr lang="fr-FR" sz="1100" dirty="0">
                <a:highlight>
                  <a:srgbClr val="00FF00"/>
                </a:highlight>
                <a:latin typeface="Century Gothic"/>
                <a:cs typeface="Century Gothic"/>
              </a:rPr>
              <a:t>projet</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architectural</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où</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il</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apparait</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dès</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à</a:t>
            </a:r>
            <a:r>
              <a:rPr lang="fr-FR" sz="1100" spc="120" dirty="0">
                <a:highlight>
                  <a:srgbClr val="00FF00"/>
                </a:highlight>
                <a:latin typeface="Century Gothic"/>
                <a:cs typeface="Century Gothic"/>
              </a:rPr>
              <a:t>  </a:t>
            </a:r>
            <a:r>
              <a:rPr lang="fr-FR" sz="1100" spc="-10" dirty="0">
                <a:highlight>
                  <a:srgbClr val="00FF00"/>
                </a:highlight>
                <a:latin typeface="Century Gothic"/>
                <a:cs typeface="Century Gothic"/>
              </a:rPr>
              <a:t>présent </a:t>
            </a:r>
            <a:r>
              <a:rPr lang="fr-FR" sz="1100" dirty="0">
                <a:highlight>
                  <a:srgbClr val="00FF00"/>
                </a:highlight>
                <a:latin typeface="Century Gothic"/>
                <a:cs typeface="Century Gothic"/>
              </a:rPr>
              <a:t>important</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d’inscrire</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la</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réhabilitation</a:t>
            </a:r>
            <a:r>
              <a:rPr lang="fr-FR" sz="1100" spc="165" dirty="0">
                <a:highlight>
                  <a:srgbClr val="00FF00"/>
                </a:highlight>
                <a:latin typeface="Century Gothic"/>
                <a:cs typeface="Century Gothic"/>
              </a:rPr>
              <a:t> </a:t>
            </a:r>
            <a:r>
              <a:rPr lang="fr-FR" sz="1100" dirty="0">
                <a:highlight>
                  <a:srgbClr val="00FF00"/>
                </a:highlight>
                <a:latin typeface="Century Gothic"/>
                <a:cs typeface="Century Gothic"/>
              </a:rPr>
              <a:t>de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la</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résidence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Chat</a:t>
            </a:r>
            <a:r>
              <a:rPr lang="fr-FR" sz="1100" spc="165" dirty="0">
                <a:highlight>
                  <a:srgbClr val="00FF00"/>
                </a:highlight>
                <a:latin typeface="Century Gothic"/>
                <a:cs typeface="Century Gothic"/>
              </a:rPr>
              <a:t> </a:t>
            </a:r>
            <a:r>
              <a:rPr lang="fr-FR" sz="1100" spc="-10" dirty="0">
                <a:highlight>
                  <a:srgbClr val="00FF00"/>
                </a:highlight>
                <a:latin typeface="Century Gothic"/>
                <a:cs typeface="Century Gothic"/>
              </a:rPr>
              <a:t>Perché, </a:t>
            </a:r>
            <a:r>
              <a:rPr lang="fr-FR" sz="1100" dirty="0">
                <a:highlight>
                  <a:srgbClr val="00FF00"/>
                </a:highlight>
                <a:latin typeface="Century Gothic"/>
                <a:cs typeface="Century Gothic"/>
              </a:rPr>
              <a:t>dans</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une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dynamique</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élégante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et</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d’envergure. Maîtrise</a:t>
            </a:r>
            <a:r>
              <a:rPr lang="fr-FR" sz="1100" spc="20" dirty="0">
                <a:highlight>
                  <a:srgbClr val="00FF00"/>
                </a:highlight>
                <a:latin typeface="Century Gothic"/>
                <a:cs typeface="Century Gothic"/>
              </a:rPr>
              <a:t> </a:t>
            </a:r>
            <a:r>
              <a:rPr lang="fr-FR" sz="1100" dirty="0">
                <a:highlight>
                  <a:srgbClr val="00FF00"/>
                </a:highlight>
                <a:latin typeface="Century Gothic"/>
                <a:cs typeface="Century Gothic"/>
              </a:rPr>
              <a:t>des</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coûts</a:t>
            </a:r>
            <a:r>
              <a:rPr lang="fr-FR" sz="1100" spc="20" dirty="0">
                <a:highlight>
                  <a:srgbClr val="00FF00"/>
                </a:highlight>
                <a:latin typeface="Century Gothic"/>
                <a:cs typeface="Century Gothic"/>
              </a:rPr>
              <a:t> </a:t>
            </a:r>
            <a:r>
              <a:rPr lang="fr-FR" sz="1100" dirty="0">
                <a:highlight>
                  <a:srgbClr val="00FF00"/>
                </a:highlight>
                <a:latin typeface="Century Gothic"/>
                <a:cs typeface="Century Gothic"/>
              </a:rPr>
              <a:t>au</a:t>
            </a:r>
            <a:r>
              <a:rPr lang="fr-FR" sz="1100" spc="20" dirty="0">
                <a:highlight>
                  <a:srgbClr val="00FF00"/>
                </a:highlight>
                <a:latin typeface="Century Gothic"/>
                <a:cs typeface="Century Gothic"/>
              </a:rPr>
              <a:t> </a:t>
            </a:r>
            <a:r>
              <a:rPr lang="fr-FR" sz="1100" dirty="0">
                <a:highlight>
                  <a:srgbClr val="00FF00"/>
                </a:highlight>
                <a:latin typeface="Century Gothic"/>
                <a:cs typeface="Century Gothic"/>
              </a:rPr>
              <a:t>profit</a:t>
            </a:r>
            <a:r>
              <a:rPr lang="fr-FR" sz="1100" spc="25" dirty="0">
                <a:highlight>
                  <a:srgbClr val="00FF00"/>
                </a:highlight>
                <a:latin typeface="Century Gothic"/>
                <a:cs typeface="Century Gothic"/>
              </a:rPr>
              <a:t> </a:t>
            </a:r>
            <a:r>
              <a:rPr lang="fr-FR" sz="1100" spc="-25" dirty="0">
                <a:highlight>
                  <a:srgbClr val="00FF00"/>
                </a:highlight>
                <a:latin typeface="Century Gothic"/>
                <a:cs typeface="Century Gothic"/>
              </a:rPr>
              <a:t>du </a:t>
            </a:r>
            <a:r>
              <a:rPr lang="fr-FR" sz="1100" dirty="0">
                <a:highlight>
                  <a:srgbClr val="00FF00"/>
                </a:highlight>
                <a:latin typeface="Century Gothic"/>
                <a:cs typeface="Century Gothic"/>
              </a:rPr>
              <a:t>confort</a:t>
            </a:r>
            <a:r>
              <a:rPr lang="fr-FR" sz="1100" spc="-20" dirty="0">
                <a:highlight>
                  <a:srgbClr val="00FF00"/>
                </a:highlight>
                <a:latin typeface="Century Gothic"/>
                <a:cs typeface="Century Gothic"/>
              </a:rPr>
              <a:t> </a:t>
            </a:r>
            <a:r>
              <a:rPr lang="fr-FR" sz="1100" dirty="0">
                <a:highlight>
                  <a:srgbClr val="00FF00"/>
                </a:highlight>
                <a:latin typeface="Century Gothic"/>
                <a:cs typeface="Century Gothic"/>
              </a:rPr>
              <a:t>pour</a:t>
            </a:r>
            <a:r>
              <a:rPr lang="fr-FR" sz="1100" spc="-15" dirty="0">
                <a:highlight>
                  <a:srgbClr val="00FF00"/>
                </a:highlight>
                <a:latin typeface="Century Gothic"/>
                <a:cs typeface="Century Gothic"/>
              </a:rPr>
              <a:t> </a:t>
            </a:r>
            <a:r>
              <a:rPr lang="fr-FR" sz="1100" dirty="0">
                <a:highlight>
                  <a:srgbClr val="00FF00"/>
                </a:highlight>
                <a:latin typeface="Century Gothic"/>
                <a:cs typeface="Century Gothic"/>
              </a:rPr>
              <a:t>le</a:t>
            </a:r>
            <a:r>
              <a:rPr lang="fr-FR" sz="1100" spc="-15" dirty="0">
                <a:highlight>
                  <a:srgbClr val="00FF00"/>
                </a:highlight>
                <a:latin typeface="Century Gothic"/>
                <a:cs typeface="Century Gothic"/>
              </a:rPr>
              <a:t>.</a:t>
            </a:r>
            <a:r>
              <a:rPr lang="fr-FR" sz="1100" dirty="0">
                <a:highlight>
                  <a:srgbClr val="00FF00"/>
                </a:highlight>
                <a:latin typeface="Century Gothic"/>
                <a:cs typeface="Century Gothic"/>
              </a:rPr>
              <a:t> où</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il</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apparait</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dès</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à</a:t>
            </a:r>
            <a:r>
              <a:rPr lang="fr-FR" sz="1100" spc="120" dirty="0">
                <a:highlight>
                  <a:srgbClr val="00FF00"/>
                </a:highlight>
                <a:latin typeface="Century Gothic"/>
                <a:cs typeface="Century Gothic"/>
              </a:rPr>
              <a:t>  </a:t>
            </a:r>
            <a:r>
              <a:rPr lang="fr-FR" sz="1100" spc="-10" dirty="0">
                <a:highlight>
                  <a:srgbClr val="00FF00"/>
                </a:highlight>
                <a:latin typeface="Century Gothic"/>
                <a:cs typeface="Century Gothic"/>
              </a:rPr>
              <a:t>présent </a:t>
            </a:r>
            <a:r>
              <a:rPr lang="fr-FR" sz="1100" dirty="0">
                <a:highlight>
                  <a:srgbClr val="00FF00"/>
                </a:highlight>
                <a:latin typeface="Century Gothic"/>
                <a:cs typeface="Century Gothic"/>
              </a:rPr>
              <a:t>important</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d’inscrire</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la</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réhabilitation</a:t>
            </a:r>
            <a:r>
              <a:rPr lang="fr-FR" sz="1100" spc="165" dirty="0">
                <a:highlight>
                  <a:srgbClr val="00FF00"/>
                </a:highlight>
                <a:latin typeface="Century Gothic"/>
                <a:cs typeface="Century Gothic"/>
              </a:rPr>
              <a:t> </a:t>
            </a:r>
            <a:r>
              <a:rPr lang="fr-FR" sz="1100" dirty="0">
                <a:highlight>
                  <a:srgbClr val="00FF00"/>
                </a:highlight>
                <a:latin typeface="Century Gothic"/>
                <a:cs typeface="Century Gothic"/>
              </a:rPr>
              <a:t>de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la</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résidence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Chat</a:t>
            </a:r>
            <a:r>
              <a:rPr lang="fr-FR" sz="1100" spc="165" dirty="0">
                <a:highlight>
                  <a:srgbClr val="00FF00"/>
                </a:highlight>
                <a:latin typeface="Century Gothic"/>
                <a:cs typeface="Century Gothic"/>
              </a:rPr>
              <a:t> </a:t>
            </a:r>
            <a:r>
              <a:rPr lang="fr-FR" sz="1100" spc="-10" dirty="0">
                <a:highlight>
                  <a:srgbClr val="00FF00"/>
                </a:highlight>
                <a:latin typeface="Century Gothic"/>
                <a:cs typeface="Century Gothic"/>
              </a:rPr>
              <a:t>Perché, </a:t>
            </a:r>
            <a:r>
              <a:rPr lang="fr-FR" sz="1100" dirty="0">
                <a:highlight>
                  <a:srgbClr val="00FF00"/>
                </a:highlight>
                <a:latin typeface="Century Gothic"/>
                <a:cs typeface="Century Gothic"/>
              </a:rPr>
              <a:t>dans</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une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dynamique</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élégante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et</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d’envergure. </a:t>
            </a:r>
          </a:p>
          <a:p>
            <a:pPr marL="12700" marR="5080" indent="-635" algn="just">
              <a:spcBef>
                <a:spcPts val="1320"/>
              </a:spcBef>
            </a:pPr>
            <a:r>
              <a:rPr lang="fr-FR" sz="1100" dirty="0">
                <a:highlight>
                  <a:srgbClr val="FF00FF"/>
                </a:highlight>
                <a:latin typeface="Century Gothic"/>
                <a:cs typeface="Century Gothic"/>
              </a:rPr>
              <a:t>Paragraphe de présentation s’attachera</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à</a:t>
            </a:r>
            <a:r>
              <a:rPr lang="fr-FR" sz="1100" spc="-25" dirty="0">
                <a:highlight>
                  <a:srgbClr val="FF00FF"/>
                </a:highlight>
                <a:latin typeface="Century Gothic"/>
                <a:cs typeface="Century Gothic"/>
              </a:rPr>
              <a:t> </a:t>
            </a:r>
            <a:r>
              <a:rPr lang="fr-FR" sz="1100" spc="-10" dirty="0">
                <a:highlight>
                  <a:srgbClr val="FF00FF"/>
                </a:highlight>
                <a:latin typeface="Century Gothic"/>
                <a:cs typeface="Century Gothic"/>
              </a:rPr>
              <a:t>définir</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et</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faire</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partager</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la</a:t>
            </a:r>
            <a:r>
              <a:rPr lang="fr-FR" sz="1100" spc="-25" dirty="0">
                <a:highlight>
                  <a:srgbClr val="FF00FF"/>
                </a:highlight>
                <a:latin typeface="Century Gothic"/>
                <a:cs typeface="Century Gothic"/>
              </a:rPr>
              <a:t> </a:t>
            </a:r>
            <a:r>
              <a:rPr lang="fr-FR" sz="1100" spc="-10" dirty="0">
                <a:highlight>
                  <a:srgbClr val="FF00FF"/>
                </a:highlight>
                <a:latin typeface="Century Gothic"/>
                <a:cs typeface="Century Gothic"/>
              </a:rPr>
              <a:t>philosophie </a:t>
            </a:r>
            <a:r>
              <a:rPr lang="fr-FR" sz="1100" dirty="0">
                <a:highlight>
                  <a:srgbClr val="FF00FF"/>
                </a:highlight>
                <a:latin typeface="Century Gothic"/>
                <a:cs typeface="Century Gothic"/>
              </a:rPr>
              <a:t>globale</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du</a:t>
            </a:r>
            <a:r>
              <a:rPr lang="fr-FR" sz="1100" spc="120" dirty="0">
                <a:highlight>
                  <a:srgbClr val="FF00FF"/>
                </a:highlight>
                <a:latin typeface="Century Gothic"/>
                <a:cs typeface="Century Gothic"/>
              </a:rPr>
              <a:t>  </a:t>
            </a:r>
            <a:r>
              <a:rPr lang="fr-FR" sz="1100" dirty="0">
                <a:highlight>
                  <a:srgbClr val="FF00FF"/>
                </a:highlight>
                <a:latin typeface="Century Gothic"/>
                <a:cs typeface="Century Gothic"/>
              </a:rPr>
              <a:t>projet</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architectural</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où</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il</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apparait</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dès</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à</a:t>
            </a:r>
            <a:r>
              <a:rPr lang="fr-FR" sz="1100" spc="120" dirty="0">
                <a:highlight>
                  <a:srgbClr val="FF00FF"/>
                </a:highlight>
                <a:latin typeface="Century Gothic"/>
                <a:cs typeface="Century Gothic"/>
              </a:rPr>
              <a:t>  </a:t>
            </a:r>
            <a:r>
              <a:rPr lang="fr-FR" sz="1100" spc="-10" dirty="0">
                <a:highlight>
                  <a:srgbClr val="FF00FF"/>
                </a:highlight>
                <a:latin typeface="Century Gothic"/>
                <a:cs typeface="Century Gothic"/>
              </a:rPr>
              <a:t>présent </a:t>
            </a:r>
            <a:r>
              <a:rPr lang="fr-FR" sz="1100" dirty="0">
                <a:highlight>
                  <a:srgbClr val="FF00FF"/>
                </a:highlight>
                <a:latin typeface="Century Gothic"/>
                <a:cs typeface="Century Gothic"/>
              </a:rPr>
              <a:t>important</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d’inscrire</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la</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réhabilitation</a:t>
            </a:r>
            <a:r>
              <a:rPr lang="fr-FR" sz="1100" spc="165" dirty="0">
                <a:highlight>
                  <a:srgbClr val="FF00FF"/>
                </a:highlight>
                <a:latin typeface="Century Gothic"/>
                <a:cs typeface="Century Gothic"/>
              </a:rPr>
              <a:t> </a:t>
            </a:r>
            <a:r>
              <a:rPr lang="fr-FR" sz="1100" dirty="0">
                <a:highlight>
                  <a:srgbClr val="FF00FF"/>
                </a:highlight>
                <a:latin typeface="Century Gothic"/>
                <a:cs typeface="Century Gothic"/>
              </a:rPr>
              <a:t>de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la</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résidence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Chat</a:t>
            </a:r>
            <a:r>
              <a:rPr lang="fr-FR" sz="1100" spc="165" dirty="0">
                <a:highlight>
                  <a:srgbClr val="FF00FF"/>
                </a:highlight>
                <a:latin typeface="Century Gothic"/>
                <a:cs typeface="Century Gothic"/>
              </a:rPr>
              <a:t> </a:t>
            </a:r>
            <a:r>
              <a:rPr lang="fr-FR" sz="1100" spc="-10" dirty="0">
                <a:highlight>
                  <a:srgbClr val="FF00FF"/>
                </a:highlight>
                <a:latin typeface="Century Gothic"/>
                <a:cs typeface="Century Gothic"/>
              </a:rPr>
              <a:t>Perché, </a:t>
            </a:r>
            <a:r>
              <a:rPr lang="fr-FR" sz="1100" dirty="0">
                <a:highlight>
                  <a:srgbClr val="FF00FF"/>
                </a:highlight>
                <a:latin typeface="Century Gothic"/>
                <a:cs typeface="Century Gothic"/>
              </a:rPr>
              <a:t>dans</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une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dynamique</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élégante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et</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d’envergure. Maîtrise</a:t>
            </a:r>
            <a:r>
              <a:rPr lang="fr-FR" sz="1100" spc="20" dirty="0">
                <a:highlight>
                  <a:srgbClr val="FF00FF"/>
                </a:highlight>
                <a:latin typeface="Century Gothic"/>
                <a:cs typeface="Century Gothic"/>
              </a:rPr>
              <a:t> </a:t>
            </a:r>
            <a:r>
              <a:rPr lang="fr-FR" sz="1100" dirty="0">
                <a:highlight>
                  <a:srgbClr val="FF00FF"/>
                </a:highlight>
                <a:latin typeface="Century Gothic"/>
                <a:cs typeface="Century Gothic"/>
              </a:rPr>
              <a:t>des</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coûts</a:t>
            </a:r>
            <a:r>
              <a:rPr lang="fr-FR" sz="1100" spc="20" dirty="0">
                <a:highlight>
                  <a:srgbClr val="FF00FF"/>
                </a:highlight>
                <a:latin typeface="Century Gothic"/>
                <a:cs typeface="Century Gothic"/>
              </a:rPr>
              <a:t> </a:t>
            </a:r>
            <a:r>
              <a:rPr lang="fr-FR" sz="1100" dirty="0">
                <a:highlight>
                  <a:srgbClr val="FF00FF"/>
                </a:highlight>
                <a:latin typeface="Century Gothic"/>
                <a:cs typeface="Century Gothic"/>
              </a:rPr>
              <a:t>au</a:t>
            </a:r>
            <a:r>
              <a:rPr lang="fr-FR" sz="1100" spc="20" dirty="0">
                <a:highlight>
                  <a:srgbClr val="FF00FF"/>
                </a:highlight>
                <a:latin typeface="Century Gothic"/>
                <a:cs typeface="Century Gothic"/>
              </a:rPr>
              <a:t> </a:t>
            </a:r>
            <a:r>
              <a:rPr lang="fr-FR" sz="1100" dirty="0">
                <a:highlight>
                  <a:srgbClr val="FF00FF"/>
                </a:highlight>
                <a:latin typeface="Century Gothic"/>
                <a:cs typeface="Century Gothic"/>
              </a:rPr>
              <a:t>profit</a:t>
            </a:r>
            <a:r>
              <a:rPr lang="fr-FR" sz="1100" spc="25" dirty="0">
                <a:highlight>
                  <a:srgbClr val="FF00FF"/>
                </a:highlight>
                <a:latin typeface="Century Gothic"/>
                <a:cs typeface="Century Gothic"/>
              </a:rPr>
              <a:t> </a:t>
            </a:r>
            <a:r>
              <a:rPr lang="fr-FR" sz="1100" spc="-25" dirty="0">
                <a:highlight>
                  <a:srgbClr val="FF00FF"/>
                </a:highlight>
                <a:latin typeface="Century Gothic"/>
                <a:cs typeface="Century Gothic"/>
              </a:rPr>
              <a:t>du </a:t>
            </a:r>
            <a:r>
              <a:rPr lang="fr-FR" sz="1100" dirty="0">
                <a:highlight>
                  <a:srgbClr val="FF00FF"/>
                </a:highlight>
                <a:latin typeface="Century Gothic"/>
                <a:cs typeface="Century Gothic"/>
              </a:rPr>
              <a:t>confort</a:t>
            </a:r>
            <a:r>
              <a:rPr lang="fr-FR" sz="1100" spc="-20" dirty="0">
                <a:highlight>
                  <a:srgbClr val="FF00FF"/>
                </a:highlight>
                <a:latin typeface="Century Gothic"/>
                <a:cs typeface="Century Gothic"/>
              </a:rPr>
              <a:t> </a:t>
            </a:r>
            <a:r>
              <a:rPr lang="fr-FR" sz="1100" dirty="0">
                <a:highlight>
                  <a:srgbClr val="FF00FF"/>
                </a:highlight>
                <a:latin typeface="Century Gothic"/>
                <a:cs typeface="Century Gothic"/>
              </a:rPr>
              <a:t>pour</a:t>
            </a:r>
            <a:r>
              <a:rPr lang="fr-FR" sz="1100" spc="-15" dirty="0">
                <a:highlight>
                  <a:srgbClr val="FF00FF"/>
                </a:highlight>
                <a:latin typeface="Century Gothic"/>
                <a:cs typeface="Century Gothic"/>
              </a:rPr>
              <a:t> </a:t>
            </a:r>
            <a:r>
              <a:rPr lang="fr-FR" sz="1100" dirty="0">
                <a:highlight>
                  <a:srgbClr val="FF00FF"/>
                </a:highlight>
                <a:latin typeface="Century Gothic"/>
                <a:cs typeface="Century Gothic"/>
              </a:rPr>
              <a:t>le</a:t>
            </a:r>
            <a:r>
              <a:rPr lang="fr-FR" sz="1100" spc="-15" dirty="0">
                <a:highlight>
                  <a:srgbClr val="FF00FF"/>
                </a:highlight>
                <a:latin typeface="Century Gothic"/>
                <a:cs typeface="Century Gothic"/>
              </a:rPr>
              <a:t>.</a:t>
            </a:r>
            <a:r>
              <a:rPr lang="fr-FR" sz="1100" dirty="0">
                <a:highlight>
                  <a:srgbClr val="FF00FF"/>
                </a:highlight>
                <a:latin typeface="Century Gothic"/>
                <a:cs typeface="Century Gothic"/>
              </a:rPr>
              <a:t> où</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il</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apparait</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dès</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à</a:t>
            </a:r>
            <a:r>
              <a:rPr lang="fr-FR" sz="1100" spc="120" dirty="0">
                <a:highlight>
                  <a:srgbClr val="FF00FF"/>
                </a:highlight>
                <a:latin typeface="Century Gothic"/>
                <a:cs typeface="Century Gothic"/>
              </a:rPr>
              <a:t>  </a:t>
            </a:r>
            <a:r>
              <a:rPr lang="fr-FR" sz="1100" spc="-10" dirty="0">
                <a:highlight>
                  <a:srgbClr val="FF00FF"/>
                </a:highlight>
                <a:latin typeface="Century Gothic"/>
                <a:cs typeface="Century Gothic"/>
              </a:rPr>
              <a:t>présent </a:t>
            </a:r>
            <a:r>
              <a:rPr lang="fr-FR" sz="1100" dirty="0">
                <a:highlight>
                  <a:srgbClr val="FF00FF"/>
                </a:highlight>
                <a:latin typeface="Century Gothic"/>
                <a:cs typeface="Century Gothic"/>
              </a:rPr>
              <a:t>important</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d’inscrire</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la</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réhabilitation</a:t>
            </a:r>
            <a:r>
              <a:rPr lang="fr-FR" sz="1100" spc="165" dirty="0">
                <a:highlight>
                  <a:srgbClr val="FF00FF"/>
                </a:highlight>
                <a:latin typeface="Century Gothic"/>
                <a:cs typeface="Century Gothic"/>
              </a:rPr>
              <a:t> </a:t>
            </a:r>
            <a:r>
              <a:rPr lang="fr-FR" sz="1100" dirty="0">
                <a:highlight>
                  <a:srgbClr val="FF00FF"/>
                </a:highlight>
                <a:latin typeface="Century Gothic"/>
                <a:cs typeface="Century Gothic"/>
              </a:rPr>
              <a:t>de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la</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résidence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Chat</a:t>
            </a:r>
            <a:r>
              <a:rPr lang="fr-FR" sz="1100" spc="165" dirty="0">
                <a:highlight>
                  <a:srgbClr val="FF00FF"/>
                </a:highlight>
                <a:latin typeface="Century Gothic"/>
                <a:cs typeface="Century Gothic"/>
              </a:rPr>
              <a:t> </a:t>
            </a:r>
            <a:r>
              <a:rPr lang="fr-FR" sz="1100" spc="-10" dirty="0">
                <a:highlight>
                  <a:srgbClr val="FF00FF"/>
                </a:highlight>
                <a:latin typeface="Century Gothic"/>
                <a:cs typeface="Century Gothic"/>
              </a:rPr>
              <a:t>Perché, </a:t>
            </a:r>
            <a:r>
              <a:rPr lang="fr-FR" sz="1100" dirty="0">
                <a:highlight>
                  <a:srgbClr val="FF00FF"/>
                </a:highlight>
                <a:latin typeface="Century Gothic"/>
                <a:cs typeface="Century Gothic"/>
              </a:rPr>
              <a:t>dans</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une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dynamique</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élégante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et</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d’envergure. </a:t>
            </a:r>
            <a:endParaRPr lang="fr-FR" sz="1100" spc="-15" dirty="0">
              <a:highlight>
                <a:srgbClr val="FF00FF"/>
              </a:highlight>
              <a:latin typeface="Century Gothic"/>
              <a:cs typeface="Century Gothic"/>
            </a:endParaRPr>
          </a:p>
        </p:txBody>
      </p:sp>
      <p:sp>
        <p:nvSpPr>
          <p:cNvPr id="73" name="object 3">
            <a:extLst>
              <a:ext uri="{FF2B5EF4-FFF2-40B4-BE49-F238E27FC236}">
                <a16:creationId xmlns:a16="http://schemas.microsoft.com/office/drawing/2014/main" id="{A52CAED3-8F3D-8C1A-C3D9-8DC88554AE38}"/>
              </a:ext>
            </a:extLst>
          </p:cNvPr>
          <p:cNvSpPr txBox="1"/>
          <p:nvPr/>
        </p:nvSpPr>
        <p:spPr>
          <a:xfrm>
            <a:off x="491299" y="812541"/>
            <a:ext cx="4647565" cy="564257"/>
          </a:xfrm>
          <a:prstGeom prst="rect">
            <a:avLst/>
          </a:prstGeom>
        </p:spPr>
        <p:txBody>
          <a:bodyPr vert="horz" wrap="square" lIns="0" tIns="12700" rIns="0" bIns="0" rtlCol="0">
            <a:spAutoFit/>
          </a:bodyPr>
          <a:lstStyle/>
          <a:p>
            <a:pPr marL="12700">
              <a:lnSpc>
                <a:spcPct val="100000"/>
              </a:lnSpc>
              <a:spcBef>
                <a:spcPts val="5"/>
              </a:spcBef>
            </a:pPr>
            <a:r>
              <a:rPr lang="fr-FR" sz="1400" b="1" dirty="0">
                <a:solidFill>
                  <a:srgbClr val="C50A4C"/>
                </a:solidFill>
                <a:latin typeface="Century Gothic"/>
                <a:cs typeface="Century Gothic"/>
              </a:rPr>
              <a:t>2</a:t>
            </a:r>
            <a:r>
              <a:rPr sz="1400" b="1" dirty="0">
                <a:solidFill>
                  <a:srgbClr val="C50A4C"/>
                </a:solidFill>
                <a:latin typeface="Century Gothic"/>
                <a:cs typeface="Century Gothic"/>
              </a:rPr>
              <a:t>.</a:t>
            </a:r>
            <a:r>
              <a:rPr sz="1400" b="1" spc="-10" dirty="0">
                <a:solidFill>
                  <a:srgbClr val="C50A4C"/>
                </a:solidFill>
                <a:latin typeface="Century Gothic"/>
                <a:cs typeface="Century Gothic"/>
              </a:rPr>
              <a:t> </a:t>
            </a:r>
            <a:r>
              <a:rPr lang="fr-FR" sz="1400" b="1" dirty="0">
                <a:solidFill>
                  <a:srgbClr val="C50A4C"/>
                </a:solidFill>
                <a:latin typeface="Century Gothic"/>
                <a:cs typeface="Century Gothic"/>
              </a:rPr>
              <a:t>LA COMPOSITION DE L’EQUIPE ET L’ORGANISATION</a:t>
            </a:r>
            <a:endParaRPr lang="fr-FR" sz="1400" dirty="0">
              <a:latin typeface="Century Gothic"/>
              <a:cs typeface="Century Gothic"/>
            </a:endParaRPr>
          </a:p>
          <a:p>
            <a:pPr marL="12700" marR="5080" indent="-635" algn="just">
              <a:spcBef>
                <a:spcPts val="1320"/>
              </a:spcBef>
            </a:pPr>
            <a:r>
              <a:rPr lang="fr-FR" sz="1100" dirty="0">
                <a:solidFill>
                  <a:srgbClr val="2A3E67"/>
                </a:solidFill>
                <a:latin typeface="Century Gothic"/>
                <a:cs typeface="Century Gothic"/>
              </a:rPr>
              <a:t>A – PRESENTATION DES MEMBRES DE L’EQUIPE</a:t>
            </a:r>
            <a:endParaRPr lang="fr-FR" sz="1100" dirty="0">
              <a:latin typeface="Century Gothic"/>
              <a:cs typeface="Century Gothic"/>
            </a:endParaRPr>
          </a:p>
        </p:txBody>
      </p:sp>
      <p:sp>
        <p:nvSpPr>
          <p:cNvPr id="3" name="object 13">
            <a:extLst>
              <a:ext uri="{FF2B5EF4-FFF2-40B4-BE49-F238E27FC236}">
                <a16:creationId xmlns:a16="http://schemas.microsoft.com/office/drawing/2014/main" id="{06ECFC74-EFB0-82AB-8609-95D945C42196}"/>
              </a:ext>
            </a:extLst>
          </p:cNvPr>
          <p:cNvSpPr txBox="1"/>
          <p:nvPr/>
        </p:nvSpPr>
        <p:spPr>
          <a:xfrm>
            <a:off x="2327380" y="1634808"/>
            <a:ext cx="1752599" cy="382156"/>
          </a:xfrm>
          <a:prstGeom prst="rect">
            <a:avLst/>
          </a:prstGeom>
        </p:spPr>
        <p:txBody>
          <a:bodyPr vert="horz" wrap="square" lIns="0" tIns="48260" rIns="0" bIns="0" rtlCol="0">
            <a:spAutoFit/>
          </a:bodyPr>
          <a:lstStyle/>
          <a:p>
            <a:pPr algn="ctr">
              <a:lnSpc>
                <a:spcPct val="100000"/>
              </a:lnSpc>
              <a:spcBef>
                <a:spcPts val="380"/>
              </a:spcBef>
            </a:pPr>
            <a:r>
              <a:rPr sz="1000" b="1" dirty="0">
                <a:solidFill>
                  <a:srgbClr val="C50A4C"/>
                </a:solidFill>
                <a:latin typeface="Century Gothic"/>
                <a:cs typeface="Century Gothic"/>
              </a:rPr>
              <a:t>A&amp;B</a:t>
            </a:r>
            <a:r>
              <a:rPr sz="1000" b="1" spc="-10" dirty="0">
                <a:solidFill>
                  <a:srgbClr val="C50A4C"/>
                </a:solidFill>
                <a:latin typeface="Century Gothic"/>
                <a:cs typeface="Century Gothic"/>
              </a:rPr>
              <a:t> Architectes</a:t>
            </a:r>
            <a:endParaRPr sz="1000" dirty="0">
              <a:latin typeface="Century Gothic"/>
              <a:cs typeface="Century Gothic"/>
            </a:endParaRPr>
          </a:p>
          <a:p>
            <a:pPr algn="ctr">
              <a:lnSpc>
                <a:spcPct val="100000"/>
              </a:lnSpc>
              <a:spcBef>
                <a:spcPts val="215"/>
              </a:spcBef>
            </a:pPr>
            <a:r>
              <a:rPr sz="1000" i="1" dirty="0" err="1">
                <a:solidFill>
                  <a:srgbClr val="C50A4C"/>
                </a:solidFill>
                <a:latin typeface="Century Gothic"/>
                <a:cs typeface="Century Gothic"/>
              </a:rPr>
              <a:t>Architecte</a:t>
            </a:r>
            <a:r>
              <a:rPr sz="1000" i="1" spc="-55" dirty="0">
                <a:solidFill>
                  <a:srgbClr val="C50A4C"/>
                </a:solidFill>
                <a:latin typeface="Century Gothic"/>
                <a:cs typeface="Century Gothic"/>
              </a:rPr>
              <a:t> </a:t>
            </a:r>
            <a:r>
              <a:rPr sz="1000" i="1" spc="-10" dirty="0" err="1">
                <a:solidFill>
                  <a:srgbClr val="C50A4C"/>
                </a:solidFill>
                <a:latin typeface="Century Gothic"/>
                <a:cs typeface="Century Gothic"/>
              </a:rPr>
              <a:t>mandataire</a:t>
            </a:r>
            <a:endParaRPr sz="1000" dirty="0">
              <a:latin typeface="Century Gothic"/>
              <a:cs typeface="Century Gothic"/>
            </a:endParaRPr>
          </a:p>
        </p:txBody>
      </p:sp>
      <p:pic>
        <p:nvPicPr>
          <p:cNvPr id="8" name="object 7">
            <a:extLst>
              <a:ext uri="{FF2B5EF4-FFF2-40B4-BE49-F238E27FC236}">
                <a16:creationId xmlns:a16="http://schemas.microsoft.com/office/drawing/2014/main" id="{90A5344C-EB46-4FFD-1929-E25EF1BEF203}"/>
              </a:ext>
            </a:extLst>
          </p:cNvPr>
          <p:cNvPicPr/>
          <p:nvPr/>
        </p:nvPicPr>
        <p:blipFill>
          <a:blip r:embed="rId2" cstate="print"/>
          <a:stretch>
            <a:fillRect/>
          </a:stretch>
        </p:blipFill>
        <p:spPr>
          <a:xfrm>
            <a:off x="1612900" y="1655852"/>
            <a:ext cx="372973" cy="372973"/>
          </a:xfrm>
          <a:prstGeom prst="rect">
            <a:avLst/>
          </a:prstGeom>
        </p:spPr>
      </p:pic>
      <p:pic>
        <p:nvPicPr>
          <p:cNvPr id="9" name="Image 8">
            <a:extLst>
              <a:ext uri="{FF2B5EF4-FFF2-40B4-BE49-F238E27FC236}">
                <a16:creationId xmlns:a16="http://schemas.microsoft.com/office/drawing/2014/main" id="{0253A46F-21D7-F551-081D-2CB72BCDE6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51136" y="5886733"/>
            <a:ext cx="335632" cy="382156"/>
          </a:xfrm>
          <a:prstGeom prst="rect">
            <a:avLst/>
          </a:prstGeom>
        </p:spPr>
      </p:pic>
      <p:pic>
        <p:nvPicPr>
          <p:cNvPr id="10" name="Image 9">
            <a:extLst>
              <a:ext uri="{FF2B5EF4-FFF2-40B4-BE49-F238E27FC236}">
                <a16:creationId xmlns:a16="http://schemas.microsoft.com/office/drawing/2014/main" id="{58435ACC-F1D6-0131-A57C-396854C26B4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2399" y="2748174"/>
            <a:ext cx="1053103" cy="372974"/>
          </a:xfrm>
          <a:prstGeom prst="rect">
            <a:avLst/>
          </a:prstGeom>
        </p:spPr>
      </p:pic>
      <p:pic>
        <p:nvPicPr>
          <p:cNvPr id="11" name="Image 10">
            <a:extLst>
              <a:ext uri="{FF2B5EF4-FFF2-40B4-BE49-F238E27FC236}">
                <a16:creationId xmlns:a16="http://schemas.microsoft.com/office/drawing/2014/main" id="{002E253B-992A-7F84-8340-F2A76DCD204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12117" y="4755407"/>
            <a:ext cx="1262783" cy="230107"/>
          </a:xfrm>
          <a:prstGeom prst="rect">
            <a:avLst/>
          </a:prstGeom>
        </p:spPr>
      </p:pic>
      <p:sp>
        <p:nvSpPr>
          <p:cNvPr id="12" name="Rectangle 11">
            <a:extLst>
              <a:ext uri="{FF2B5EF4-FFF2-40B4-BE49-F238E27FC236}">
                <a16:creationId xmlns:a16="http://schemas.microsoft.com/office/drawing/2014/main" id="{15334A8E-32E4-440E-E309-2D18402DC1A0}"/>
              </a:ext>
            </a:extLst>
          </p:cNvPr>
          <p:cNvSpPr/>
          <p:nvPr/>
        </p:nvSpPr>
        <p:spPr>
          <a:xfrm>
            <a:off x="1478342" y="3715106"/>
            <a:ext cx="681219" cy="387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dirty="0"/>
              <a:t>BET fluides thermique perf </a:t>
            </a:r>
            <a:r>
              <a:rPr lang="fr-FR" sz="800" dirty="0" err="1"/>
              <a:t>energ</a:t>
            </a:r>
            <a:endParaRPr lang="fr-FR" sz="800" dirty="0"/>
          </a:p>
        </p:txBody>
      </p:sp>
      <p:sp>
        <p:nvSpPr>
          <p:cNvPr id="13" name="object 13">
            <a:extLst>
              <a:ext uri="{FF2B5EF4-FFF2-40B4-BE49-F238E27FC236}">
                <a16:creationId xmlns:a16="http://schemas.microsoft.com/office/drawing/2014/main" id="{78406CA5-2BE1-784F-F98D-C20A9C0E6F89}"/>
              </a:ext>
            </a:extLst>
          </p:cNvPr>
          <p:cNvSpPr txBox="1"/>
          <p:nvPr/>
        </p:nvSpPr>
        <p:spPr>
          <a:xfrm>
            <a:off x="2294119" y="2562225"/>
            <a:ext cx="1752599" cy="561692"/>
          </a:xfrm>
          <a:prstGeom prst="rect">
            <a:avLst/>
          </a:prstGeom>
        </p:spPr>
        <p:txBody>
          <a:bodyPr vert="horz" wrap="square" lIns="0" tIns="48260" rIns="0" bIns="0" rtlCol="0">
            <a:spAutoFit/>
          </a:bodyPr>
          <a:lstStyle/>
          <a:p>
            <a:pPr algn="ctr">
              <a:lnSpc>
                <a:spcPct val="100000"/>
              </a:lnSpc>
              <a:spcBef>
                <a:spcPts val="380"/>
              </a:spcBef>
            </a:pPr>
            <a:r>
              <a:rPr lang="fr-FR" sz="1000" b="1" dirty="0">
                <a:solidFill>
                  <a:srgbClr val="C50A4C"/>
                </a:solidFill>
                <a:latin typeface="Century Gothic"/>
                <a:cs typeface="Century Gothic"/>
              </a:rPr>
              <a:t>IPC</a:t>
            </a:r>
            <a:endParaRPr sz="1000" dirty="0">
              <a:latin typeface="Century Gothic"/>
              <a:cs typeface="Century Gothic"/>
            </a:endParaRPr>
          </a:p>
          <a:p>
            <a:pPr algn="ctr">
              <a:lnSpc>
                <a:spcPct val="100000"/>
              </a:lnSpc>
              <a:spcBef>
                <a:spcPts val="215"/>
              </a:spcBef>
            </a:pPr>
            <a:r>
              <a:rPr lang="fr-FR" sz="1000" i="1" dirty="0">
                <a:solidFill>
                  <a:srgbClr val="C50A4C"/>
                </a:solidFill>
                <a:latin typeface="Century Gothic"/>
                <a:cs typeface="Century Gothic"/>
              </a:rPr>
              <a:t>BET co-traitant</a:t>
            </a:r>
          </a:p>
          <a:p>
            <a:pPr algn="ctr">
              <a:lnSpc>
                <a:spcPct val="100000"/>
              </a:lnSpc>
              <a:spcBef>
                <a:spcPts val="215"/>
              </a:spcBef>
            </a:pPr>
            <a:r>
              <a:rPr lang="fr-FR" sz="1000" i="1" dirty="0">
                <a:solidFill>
                  <a:srgbClr val="C50A4C"/>
                </a:solidFill>
                <a:latin typeface="Century Gothic"/>
                <a:cs typeface="Century Gothic"/>
              </a:rPr>
              <a:t>TCE</a:t>
            </a:r>
            <a:endParaRPr sz="1000" dirty="0">
              <a:latin typeface="Century Gothic"/>
              <a:cs typeface="Century Gothic"/>
            </a:endParaRPr>
          </a:p>
        </p:txBody>
      </p:sp>
      <p:sp>
        <p:nvSpPr>
          <p:cNvPr id="14" name="object 13">
            <a:extLst>
              <a:ext uri="{FF2B5EF4-FFF2-40B4-BE49-F238E27FC236}">
                <a16:creationId xmlns:a16="http://schemas.microsoft.com/office/drawing/2014/main" id="{7B311BC8-78C5-C4DA-2EC7-BB12BBFF986A}"/>
              </a:ext>
            </a:extLst>
          </p:cNvPr>
          <p:cNvSpPr txBox="1"/>
          <p:nvPr/>
        </p:nvSpPr>
        <p:spPr>
          <a:xfrm>
            <a:off x="2132209" y="3552825"/>
            <a:ext cx="1981198" cy="741229"/>
          </a:xfrm>
          <a:prstGeom prst="rect">
            <a:avLst/>
          </a:prstGeom>
        </p:spPr>
        <p:txBody>
          <a:bodyPr vert="horz" wrap="square" lIns="0" tIns="48260" rIns="0" bIns="0" rtlCol="0">
            <a:spAutoFit/>
          </a:bodyPr>
          <a:lstStyle/>
          <a:p>
            <a:pPr algn="ctr">
              <a:lnSpc>
                <a:spcPct val="100000"/>
              </a:lnSpc>
              <a:spcBef>
                <a:spcPts val="380"/>
              </a:spcBef>
            </a:pPr>
            <a:r>
              <a:rPr lang="fr-FR" sz="1000" b="1" dirty="0">
                <a:solidFill>
                  <a:srgbClr val="C50A4C"/>
                </a:solidFill>
                <a:latin typeface="Century Gothic"/>
                <a:cs typeface="Century Gothic"/>
              </a:rPr>
              <a:t>???</a:t>
            </a:r>
            <a:endParaRPr sz="1000" dirty="0">
              <a:latin typeface="Century Gothic"/>
              <a:cs typeface="Century Gothic"/>
            </a:endParaRPr>
          </a:p>
          <a:p>
            <a:pPr algn="ctr">
              <a:lnSpc>
                <a:spcPct val="100000"/>
              </a:lnSpc>
              <a:spcBef>
                <a:spcPts val="215"/>
              </a:spcBef>
            </a:pPr>
            <a:r>
              <a:rPr lang="fr-FR" sz="1000" i="1" dirty="0">
                <a:solidFill>
                  <a:srgbClr val="C50A4C"/>
                </a:solidFill>
                <a:latin typeface="Century Gothic"/>
                <a:cs typeface="Century Gothic"/>
              </a:rPr>
              <a:t>BET co-traitant</a:t>
            </a:r>
          </a:p>
          <a:p>
            <a:pPr algn="ctr">
              <a:lnSpc>
                <a:spcPct val="100000"/>
              </a:lnSpc>
              <a:spcBef>
                <a:spcPts val="215"/>
              </a:spcBef>
            </a:pPr>
            <a:r>
              <a:rPr lang="fr-FR" sz="1000" i="1" dirty="0">
                <a:solidFill>
                  <a:srgbClr val="C50A4C"/>
                </a:solidFill>
                <a:latin typeface="Century Gothic"/>
                <a:cs typeface="Century Gothic"/>
              </a:rPr>
              <a:t>Fluides, thermique,</a:t>
            </a:r>
          </a:p>
          <a:p>
            <a:pPr algn="ctr">
              <a:lnSpc>
                <a:spcPct val="100000"/>
              </a:lnSpc>
              <a:spcBef>
                <a:spcPts val="215"/>
              </a:spcBef>
            </a:pPr>
            <a:r>
              <a:rPr lang="fr-FR" sz="1000" i="1" dirty="0">
                <a:solidFill>
                  <a:srgbClr val="C50A4C"/>
                </a:solidFill>
                <a:latin typeface="Century Gothic"/>
                <a:cs typeface="Century Gothic"/>
              </a:rPr>
              <a:t>Performance énergétique</a:t>
            </a:r>
            <a:endParaRPr sz="1000" dirty="0">
              <a:latin typeface="Century Gothic"/>
              <a:cs typeface="Century Gothic"/>
            </a:endParaRPr>
          </a:p>
        </p:txBody>
      </p:sp>
      <p:sp>
        <p:nvSpPr>
          <p:cNvPr id="15" name="object 13">
            <a:extLst>
              <a:ext uri="{FF2B5EF4-FFF2-40B4-BE49-F238E27FC236}">
                <a16:creationId xmlns:a16="http://schemas.microsoft.com/office/drawing/2014/main" id="{5B8B8534-2F3A-BAF3-27DC-2E55CCC94E14}"/>
              </a:ext>
            </a:extLst>
          </p:cNvPr>
          <p:cNvSpPr txBox="1"/>
          <p:nvPr/>
        </p:nvSpPr>
        <p:spPr>
          <a:xfrm>
            <a:off x="2146302" y="4679383"/>
            <a:ext cx="1981198" cy="561692"/>
          </a:xfrm>
          <a:prstGeom prst="rect">
            <a:avLst/>
          </a:prstGeom>
        </p:spPr>
        <p:txBody>
          <a:bodyPr vert="horz" wrap="square" lIns="0" tIns="48260" rIns="0" bIns="0" rtlCol="0">
            <a:spAutoFit/>
          </a:bodyPr>
          <a:lstStyle/>
          <a:p>
            <a:pPr algn="ctr">
              <a:lnSpc>
                <a:spcPct val="100000"/>
              </a:lnSpc>
              <a:spcBef>
                <a:spcPts val="380"/>
              </a:spcBef>
            </a:pPr>
            <a:r>
              <a:rPr lang="fr-FR" sz="1000" b="1" dirty="0">
                <a:solidFill>
                  <a:srgbClr val="C50A4C"/>
                </a:solidFill>
                <a:latin typeface="Century Gothic"/>
                <a:cs typeface="Century Gothic"/>
              </a:rPr>
              <a:t>GENERAL ACOUSTICS</a:t>
            </a:r>
            <a:endParaRPr sz="1000" dirty="0">
              <a:latin typeface="Century Gothic"/>
              <a:cs typeface="Century Gothic"/>
            </a:endParaRPr>
          </a:p>
          <a:p>
            <a:pPr algn="ctr">
              <a:lnSpc>
                <a:spcPct val="100000"/>
              </a:lnSpc>
              <a:spcBef>
                <a:spcPts val="215"/>
              </a:spcBef>
            </a:pPr>
            <a:r>
              <a:rPr lang="fr-FR" sz="1000" i="1" dirty="0">
                <a:solidFill>
                  <a:srgbClr val="C50A4C"/>
                </a:solidFill>
                <a:latin typeface="Century Gothic"/>
                <a:cs typeface="Century Gothic"/>
              </a:rPr>
              <a:t>BET co-traitant</a:t>
            </a:r>
          </a:p>
          <a:p>
            <a:pPr algn="ctr">
              <a:lnSpc>
                <a:spcPct val="100000"/>
              </a:lnSpc>
              <a:spcBef>
                <a:spcPts val="215"/>
              </a:spcBef>
            </a:pPr>
            <a:r>
              <a:rPr lang="fr-FR" sz="1000" i="1" dirty="0">
                <a:solidFill>
                  <a:srgbClr val="C50A4C"/>
                </a:solidFill>
                <a:latin typeface="Century Gothic"/>
                <a:cs typeface="Century Gothic"/>
              </a:rPr>
              <a:t>Acoustique</a:t>
            </a:r>
            <a:endParaRPr sz="1000" dirty="0">
              <a:latin typeface="Century Gothic"/>
              <a:cs typeface="Century Gothic"/>
            </a:endParaRPr>
          </a:p>
        </p:txBody>
      </p:sp>
      <p:sp>
        <p:nvSpPr>
          <p:cNvPr id="16" name="object 13">
            <a:extLst>
              <a:ext uri="{FF2B5EF4-FFF2-40B4-BE49-F238E27FC236}">
                <a16:creationId xmlns:a16="http://schemas.microsoft.com/office/drawing/2014/main" id="{4D2B39E5-FE3B-4F1B-F393-067EB6046875}"/>
              </a:ext>
            </a:extLst>
          </p:cNvPr>
          <p:cNvSpPr txBox="1"/>
          <p:nvPr/>
        </p:nvSpPr>
        <p:spPr>
          <a:xfrm>
            <a:off x="2125969" y="5886733"/>
            <a:ext cx="1981198" cy="561692"/>
          </a:xfrm>
          <a:prstGeom prst="rect">
            <a:avLst/>
          </a:prstGeom>
        </p:spPr>
        <p:txBody>
          <a:bodyPr vert="horz" wrap="square" lIns="0" tIns="48260" rIns="0" bIns="0" rtlCol="0">
            <a:spAutoFit/>
          </a:bodyPr>
          <a:lstStyle/>
          <a:p>
            <a:pPr algn="ctr">
              <a:lnSpc>
                <a:spcPct val="100000"/>
              </a:lnSpc>
              <a:spcBef>
                <a:spcPts val="380"/>
              </a:spcBef>
            </a:pPr>
            <a:r>
              <a:rPr lang="fr-FR" sz="1000" b="1" dirty="0">
                <a:solidFill>
                  <a:srgbClr val="C50A4C"/>
                </a:solidFill>
                <a:latin typeface="Century Gothic"/>
                <a:cs typeface="Century Gothic"/>
              </a:rPr>
              <a:t>CONCEPT &amp; STRUCTURE</a:t>
            </a:r>
            <a:endParaRPr sz="1000" dirty="0">
              <a:latin typeface="Century Gothic"/>
              <a:cs typeface="Century Gothic"/>
            </a:endParaRPr>
          </a:p>
          <a:p>
            <a:pPr algn="ctr">
              <a:lnSpc>
                <a:spcPct val="100000"/>
              </a:lnSpc>
              <a:spcBef>
                <a:spcPts val="215"/>
              </a:spcBef>
            </a:pPr>
            <a:r>
              <a:rPr lang="fr-FR" sz="1000" i="1" dirty="0">
                <a:solidFill>
                  <a:srgbClr val="C50A4C"/>
                </a:solidFill>
                <a:latin typeface="Century Gothic"/>
                <a:cs typeface="Century Gothic"/>
              </a:rPr>
              <a:t>BET co-traitant</a:t>
            </a:r>
          </a:p>
          <a:p>
            <a:pPr algn="ctr">
              <a:lnSpc>
                <a:spcPct val="100000"/>
              </a:lnSpc>
              <a:spcBef>
                <a:spcPts val="215"/>
              </a:spcBef>
            </a:pPr>
            <a:r>
              <a:rPr lang="fr-FR" sz="1000" i="1" dirty="0">
                <a:solidFill>
                  <a:srgbClr val="C50A4C"/>
                </a:solidFill>
                <a:latin typeface="Century Gothic"/>
                <a:cs typeface="Century Gothic"/>
              </a:rPr>
              <a:t>Structure</a:t>
            </a:r>
            <a:endParaRPr sz="1000" dirty="0">
              <a:latin typeface="Century Gothic"/>
              <a:cs typeface="Century Gothic"/>
            </a:endParaRPr>
          </a:p>
        </p:txBody>
      </p:sp>
      <p:pic>
        <p:nvPicPr>
          <p:cNvPr id="19" name="Image 18">
            <a:extLst>
              <a:ext uri="{FF2B5EF4-FFF2-40B4-BE49-F238E27FC236}">
                <a16:creationId xmlns:a16="http://schemas.microsoft.com/office/drawing/2014/main" id="{B49A4A00-EC5E-9F9F-D306-AB556C146C0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05532" y="1681124"/>
            <a:ext cx="719564" cy="341320"/>
          </a:xfrm>
          <a:prstGeom prst="rect">
            <a:avLst/>
          </a:prstGeom>
        </p:spPr>
      </p:pic>
      <p:sp>
        <p:nvSpPr>
          <p:cNvPr id="20" name="bg object 22">
            <a:extLst>
              <a:ext uri="{FF2B5EF4-FFF2-40B4-BE49-F238E27FC236}">
                <a16:creationId xmlns:a16="http://schemas.microsoft.com/office/drawing/2014/main" id="{364ABF51-D617-BF32-599E-E29C8352C5FD}"/>
              </a:ext>
            </a:extLst>
          </p:cNvPr>
          <p:cNvSpPr/>
          <p:nvPr/>
        </p:nvSpPr>
        <p:spPr>
          <a:xfrm>
            <a:off x="491299" y="1667714"/>
            <a:ext cx="748030" cy="349250"/>
          </a:xfrm>
          <a:custGeom>
            <a:avLst/>
            <a:gdLst/>
            <a:ahLst/>
            <a:cxnLst/>
            <a:rect l="l" t="t" r="r" b="b"/>
            <a:pathLst>
              <a:path w="748030" h="349250">
                <a:moveTo>
                  <a:pt x="0" y="349199"/>
                </a:moveTo>
                <a:lnTo>
                  <a:pt x="747814" y="349199"/>
                </a:lnTo>
                <a:lnTo>
                  <a:pt x="747814" y="0"/>
                </a:lnTo>
                <a:lnTo>
                  <a:pt x="0" y="0"/>
                </a:lnTo>
                <a:lnTo>
                  <a:pt x="0" y="349199"/>
                </a:lnTo>
                <a:close/>
              </a:path>
            </a:pathLst>
          </a:custGeom>
          <a:ln w="3175">
            <a:solidFill>
              <a:srgbClr val="000000"/>
            </a:solidFill>
          </a:ln>
        </p:spPr>
        <p:txBody>
          <a:bodyPr wrap="square" lIns="0" tIns="0" rIns="0" bIns="0" rtlCol="0"/>
          <a:lstStyle/>
          <a:p>
            <a:endParaRPr/>
          </a:p>
        </p:txBody>
      </p:sp>
      <p:sp>
        <p:nvSpPr>
          <p:cNvPr id="21" name="object 4">
            <a:extLst>
              <a:ext uri="{FF2B5EF4-FFF2-40B4-BE49-F238E27FC236}">
                <a16:creationId xmlns:a16="http://schemas.microsoft.com/office/drawing/2014/main" id="{B2D2AF65-2D06-FBC5-AE67-0E1A0A17DE44}"/>
              </a:ext>
            </a:extLst>
          </p:cNvPr>
          <p:cNvSpPr/>
          <p:nvPr/>
        </p:nvSpPr>
        <p:spPr>
          <a:xfrm>
            <a:off x="1179513" y="1800224"/>
            <a:ext cx="536208" cy="45719"/>
          </a:xfrm>
          <a:custGeom>
            <a:avLst/>
            <a:gdLst/>
            <a:ahLst/>
            <a:cxnLst/>
            <a:rect l="l" t="t" r="r" b="b"/>
            <a:pathLst>
              <a:path w="2390775">
                <a:moveTo>
                  <a:pt x="0" y="0"/>
                </a:moveTo>
                <a:lnTo>
                  <a:pt x="2390394" y="0"/>
                </a:lnTo>
              </a:path>
            </a:pathLst>
          </a:custGeom>
          <a:ln w="12700">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2309012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8D2F7-F804-3A18-D47C-5018E5319CC7}"/>
            </a:ext>
          </a:extLst>
        </p:cNvPr>
        <p:cNvGrpSpPr/>
        <p:nvPr/>
      </p:nvGrpSpPr>
      <p:grpSpPr>
        <a:xfrm>
          <a:off x="0" y="0"/>
          <a:ext cx="0" cy="0"/>
          <a:chOff x="0" y="0"/>
          <a:chExt cx="0" cy="0"/>
        </a:xfrm>
      </p:grpSpPr>
      <p:sp>
        <p:nvSpPr>
          <p:cNvPr id="4" name="object 14">
            <a:extLst>
              <a:ext uri="{FF2B5EF4-FFF2-40B4-BE49-F238E27FC236}">
                <a16:creationId xmlns:a16="http://schemas.microsoft.com/office/drawing/2014/main" id="{CB4644C7-71BD-5AEE-7378-0C4C9FC5649C}"/>
              </a:ext>
            </a:extLst>
          </p:cNvPr>
          <p:cNvSpPr/>
          <p:nvPr/>
        </p:nvSpPr>
        <p:spPr>
          <a:xfrm>
            <a:off x="10172248" y="7227706"/>
            <a:ext cx="132080" cy="132080"/>
          </a:xfrm>
          <a:custGeom>
            <a:avLst/>
            <a:gdLst/>
            <a:ahLst/>
            <a:cxnLst/>
            <a:rect l="l" t="t" r="r" b="b"/>
            <a:pathLst>
              <a:path w="132079" h="132079">
                <a:moveTo>
                  <a:pt x="131546" y="0"/>
                </a:moveTo>
                <a:lnTo>
                  <a:pt x="0" y="131546"/>
                </a:lnTo>
              </a:path>
            </a:pathLst>
          </a:custGeom>
          <a:ln w="6350">
            <a:solidFill>
              <a:srgbClr val="000000"/>
            </a:solidFill>
          </a:ln>
        </p:spPr>
        <p:txBody>
          <a:bodyPr wrap="square" lIns="0" tIns="0" rIns="0" bIns="0" rtlCol="0"/>
          <a:lstStyle/>
          <a:p>
            <a:endParaRPr/>
          </a:p>
        </p:txBody>
      </p:sp>
      <p:sp>
        <p:nvSpPr>
          <p:cNvPr id="5" name="object 33">
            <a:extLst>
              <a:ext uri="{FF2B5EF4-FFF2-40B4-BE49-F238E27FC236}">
                <a16:creationId xmlns:a16="http://schemas.microsoft.com/office/drawing/2014/main" id="{5E83EA26-5C5B-F13B-429C-00D5D0910083}"/>
              </a:ext>
            </a:extLst>
          </p:cNvPr>
          <p:cNvSpPr txBox="1">
            <a:spLocks noGrp="1"/>
          </p:cNvSpPr>
          <p:nvPr>
            <p:ph type="dt" sz="half" idx="6"/>
          </p:nvPr>
        </p:nvSpPr>
        <p:spPr>
          <a:xfrm>
            <a:off x="5585969" y="7083574"/>
            <a:ext cx="4218431" cy="336631"/>
          </a:xfrm>
          <a:prstGeom prst="rect">
            <a:avLst/>
          </a:prstGeom>
        </p:spPr>
        <p:txBody>
          <a:bodyPr vert="horz" wrap="square" lIns="0" tIns="13335" rIns="0" bIns="0" rtlCol="0">
            <a:spAutoFit/>
          </a:bodyPr>
          <a:lstStyle/>
          <a:p>
            <a:pPr marL="12700">
              <a:lnSpc>
                <a:spcPct val="100000"/>
              </a:lnSpc>
              <a:spcBef>
                <a:spcPts val="105"/>
              </a:spcBef>
            </a:pPr>
            <a:r>
              <a:rPr lang="fr-FR" spc="-10" dirty="0"/>
              <a:t>Notice d’intention</a:t>
            </a:r>
            <a:endParaRPr spc="-10" dirty="0"/>
          </a:p>
          <a:p>
            <a:pPr marL="12700">
              <a:lnSpc>
                <a:spcPct val="100000"/>
              </a:lnSpc>
            </a:pPr>
            <a:r>
              <a:rPr b="0" dirty="0">
                <a:latin typeface="Century Gothic"/>
                <a:cs typeface="Century Gothic"/>
              </a:rPr>
              <a:t>Mission</a:t>
            </a:r>
            <a:r>
              <a:rPr b="0" spc="-5" dirty="0">
                <a:latin typeface="Century Gothic"/>
                <a:cs typeface="Century Gothic"/>
              </a:rPr>
              <a:t> </a:t>
            </a:r>
            <a:r>
              <a:rPr b="0" dirty="0">
                <a:latin typeface="Century Gothic"/>
                <a:cs typeface="Century Gothic"/>
              </a:rPr>
              <a:t>de maîtrise d’œuvre pour la rehabilitation </a:t>
            </a:r>
            <a:r>
              <a:rPr lang="fr-FR" b="0" dirty="0">
                <a:latin typeface="Century Gothic"/>
                <a:cs typeface="Century Gothic"/>
              </a:rPr>
              <a:t>et surélévation de la Résidence « Paris </a:t>
            </a:r>
            <a:r>
              <a:rPr lang="fr-FR" b="0" dirty="0" err="1">
                <a:latin typeface="Century Gothic"/>
                <a:cs typeface="Century Gothic"/>
              </a:rPr>
              <a:t>Boucry</a:t>
            </a:r>
            <a:r>
              <a:rPr lang="fr-FR" b="0" dirty="0">
                <a:latin typeface="Century Gothic"/>
                <a:cs typeface="Century Gothic"/>
              </a:rPr>
              <a:t> »</a:t>
            </a:r>
          </a:p>
          <a:p>
            <a:pPr marL="12700">
              <a:lnSpc>
                <a:spcPct val="100000"/>
              </a:lnSpc>
            </a:pPr>
            <a:r>
              <a:rPr lang="fr-FR" b="0" spc="-20" dirty="0">
                <a:latin typeface="Century Gothic"/>
                <a:cs typeface="Century Gothic"/>
              </a:rPr>
              <a:t>29 rue de </a:t>
            </a:r>
            <a:r>
              <a:rPr lang="fr-FR" b="0" spc="-20" dirty="0" err="1">
                <a:latin typeface="Century Gothic"/>
                <a:cs typeface="Century Gothic"/>
              </a:rPr>
              <a:t>Boucry</a:t>
            </a:r>
            <a:r>
              <a:rPr lang="fr-FR" b="0" spc="-20" dirty="0">
                <a:latin typeface="Century Gothic"/>
                <a:cs typeface="Century Gothic"/>
              </a:rPr>
              <a:t> 75018 PARIS</a:t>
            </a:r>
            <a:endParaRPr b="0" spc="-20" dirty="0">
              <a:latin typeface="Century Gothic"/>
              <a:cs typeface="Century Gothic"/>
            </a:endParaRPr>
          </a:p>
        </p:txBody>
      </p:sp>
      <p:sp>
        <p:nvSpPr>
          <p:cNvPr id="6" name="object 34">
            <a:extLst>
              <a:ext uri="{FF2B5EF4-FFF2-40B4-BE49-F238E27FC236}">
                <a16:creationId xmlns:a16="http://schemas.microsoft.com/office/drawing/2014/main" id="{EAFDF649-F769-7B5C-2ECB-8B067C965957}"/>
              </a:ext>
            </a:extLst>
          </p:cNvPr>
          <p:cNvSpPr txBox="1">
            <a:spLocks noGrp="1"/>
          </p:cNvSpPr>
          <p:nvPr>
            <p:ph type="sldNum" sz="quarter" idx="7"/>
          </p:nvPr>
        </p:nvSpPr>
        <p:spPr>
          <a:xfrm>
            <a:off x="10055521" y="7164998"/>
            <a:ext cx="201929" cy="150495"/>
          </a:xfrm>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25" dirty="0"/>
              <a:t>4</a:t>
            </a:fld>
            <a:endParaRPr spc="-25" dirty="0"/>
          </a:p>
        </p:txBody>
      </p:sp>
      <p:sp>
        <p:nvSpPr>
          <p:cNvPr id="7" name="object 35">
            <a:extLst>
              <a:ext uri="{FF2B5EF4-FFF2-40B4-BE49-F238E27FC236}">
                <a16:creationId xmlns:a16="http://schemas.microsoft.com/office/drawing/2014/main" id="{FFAAFDE5-749C-E092-1019-B84E92F14A0E}"/>
              </a:ext>
            </a:extLst>
          </p:cNvPr>
          <p:cNvSpPr txBox="1">
            <a:spLocks noGrp="1"/>
          </p:cNvSpPr>
          <p:nvPr>
            <p:ph type="ftr" sz="quarter" idx="5"/>
          </p:nvPr>
        </p:nvSpPr>
        <p:spPr>
          <a:xfrm>
            <a:off x="10246427" y="7268322"/>
            <a:ext cx="109854" cy="119379"/>
          </a:xfrm>
          <a:prstGeom prst="rect">
            <a:avLst/>
          </a:prstGeom>
        </p:spPr>
        <p:txBody>
          <a:bodyPr vert="horz" wrap="square" lIns="0" tIns="12700" rIns="0" bIns="0" rtlCol="0">
            <a:spAutoFit/>
          </a:bodyPr>
          <a:lstStyle/>
          <a:p>
            <a:pPr marL="12700">
              <a:lnSpc>
                <a:spcPct val="100000"/>
              </a:lnSpc>
              <a:spcBef>
                <a:spcPts val="100"/>
              </a:spcBef>
            </a:pPr>
            <a:r>
              <a:rPr spc="-25" dirty="0"/>
              <a:t>25</a:t>
            </a:r>
          </a:p>
        </p:txBody>
      </p:sp>
      <p:sp>
        <p:nvSpPr>
          <p:cNvPr id="2" name="object 70">
            <a:extLst>
              <a:ext uri="{FF2B5EF4-FFF2-40B4-BE49-F238E27FC236}">
                <a16:creationId xmlns:a16="http://schemas.microsoft.com/office/drawing/2014/main" id="{A43B6B63-1752-F225-E229-556AA160763D}"/>
              </a:ext>
            </a:extLst>
          </p:cNvPr>
          <p:cNvSpPr txBox="1">
            <a:spLocks/>
          </p:cNvSpPr>
          <p:nvPr/>
        </p:nvSpPr>
        <p:spPr>
          <a:xfrm>
            <a:off x="0" y="273659"/>
            <a:ext cx="7677150" cy="310983"/>
          </a:xfrm>
          <a:prstGeom prst="rect">
            <a:avLst/>
          </a:prstGeom>
          <a:solidFill>
            <a:srgbClr val="C50A4C"/>
          </a:solidFill>
        </p:spPr>
        <p:txBody>
          <a:bodyPr vert="horz" wrap="square" lIns="0" tIns="33655" rIns="0" bIns="0" rtlCol="0">
            <a:spAutoFit/>
          </a:bodyPr>
          <a:lstStyle>
            <a:lvl1pPr>
              <a:defRPr sz="1800" b="1" i="0">
                <a:solidFill>
                  <a:schemeClr val="bg1"/>
                </a:solidFill>
                <a:latin typeface="Century Gothic"/>
                <a:ea typeface="+mj-ea"/>
                <a:cs typeface="Century Gothic"/>
              </a:defRPr>
            </a:lvl1pPr>
          </a:lstStyle>
          <a:p>
            <a:pPr marL="503555">
              <a:spcBef>
                <a:spcPts val="265"/>
              </a:spcBef>
            </a:pPr>
            <a:r>
              <a:rPr lang="fr-FR" spc="-10" dirty="0"/>
              <a:t>NOTE D’INTENTION</a:t>
            </a:r>
          </a:p>
        </p:txBody>
      </p:sp>
      <p:sp>
        <p:nvSpPr>
          <p:cNvPr id="3" name="object 3">
            <a:extLst>
              <a:ext uri="{FF2B5EF4-FFF2-40B4-BE49-F238E27FC236}">
                <a16:creationId xmlns:a16="http://schemas.microsoft.com/office/drawing/2014/main" id="{FD2F648F-7A92-1FF1-1656-8EEAAF75724C}"/>
              </a:ext>
            </a:extLst>
          </p:cNvPr>
          <p:cNvSpPr txBox="1"/>
          <p:nvPr/>
        </p:nvSpPr>
        <p:spPr>
          <a:xfrm>
            <a:off x="491299" y="812541"/>
            <a:ext cx="5236401" cy="564257"/>
          </a:xfrm>
          <a:prstGeom prst="rect">
            <a:avLst/>
          </a:prstGeom>
        </p:spPr>
        <p:txBody>
          <a:bodyPr vert="horz" wrap="square" lIns="0" tIns="12700" rIns="0" bIns="0" rtlCol="0">
            <a:spAutoFit/>
          </a:bodyPr>
          <a:lstStyle/>
          <a:p>
            <a:pPr marL="12700">
              <a:lnSpc>
                <a:spcPct val="100000"/>
              </a:lnSpc>
              <a:spcBef>
                <a:spcPts val="5"/>
              </a:spcBef>
            </a:pPr>
            <a:r>
              <a:rPr lang="fr-FR" sz="1400" b="1" dirty="0">
                <a:solidFill>
                  <a:srgbClr val="C50A4C"/>
                </a:solidFill>
                <a:latin typeface="Century Gothic"/>
                <a:cs typeface="Century Gothic"/>
              </a:rPr>
              <a:t>2.</a:t>
            </a:r>
            <a:r>
              <a:rPr lang="fr-FR" sz="1400" b="1" spc="-10" dirty="0">
                <a:solidFill>
                  <a:srgbClr val="C50A4C"/>
                </a:solidFill>
                <a:latin typeface="Century Gothic"/>
                <a:cs typeface="Century Gothic"/>
              </a:rPr>
              <a:t> </a:t>
            </a:r>
            <a:r>
              <a:rPr lang="fr-FR" sz="1400" b="1" dirty="0">
                <a:solidFill>
                  <a:srgbClr val="C50A4C"/>
                </a:solidFill>
                <a:latin typeface="Century Gothic"/>
                <a:cs typeface="Century Gothic"/>
              </a:rPr>
              <a:t>LA COMPOSITION DE L’EQUIPE ET L’ORGANISATION (suite)</a:t>
            </a:r>
            <a:endParaRPr lang="fr-FR" sz="1400" dirty="0">
              <a:latin typeface="Century Gothic"/>
              <a:cs typeface="Century Gothic"/>
            </a:endParaRPr>
          </a:p>
          <a:p>
            <a:pPr marL="12700" algn="just">
              <a:lnSpc>
                <a:spcPct val="100000"/>
              </a:lnSpc>
              <a:spcBef>
                <a:spcPts val="1255"/>
              </a:spcBef>
            </a:pPr>
            <a:r>
              <a:rPr lang="fr-FR" sz="1100" dirty="0">
                <a:solidFill>
                  <a:srgbClr val="2A3E67"/>
                </a:solidFill>
                <a:latin typeface="Century Gothic"/>
                <a:cs typeface="Century Gothic"/>
              </a:rPr>
              <a:t>B – ORGANIGRAMME</a:t>
            </a:r>
            <a:endParaRPr lang="fr-FR" sz="1100" dirty="0">
              <a:latin typeface="Century Gothic"/>
              <a:cs typeface="Century Gothic"/>
            </a:endParaRPr>
          </a:p>
        </p:txBody>
      </p:sp>
      <p:sp>
        <p:nvSpPr>
          <p:cNvPr id="8" name="object 2">
            <a:extLst>
              <a:ext uri="{FF2B5EF4-FFF2-40B4-BE49-F238E27FC236}">
                <a16:creationId xmlns:a16="http://schemas.microsoft.com/office/drawing/2014/main" id="{6893F778-016E-019C-8CAC-6BBA33D949DA}"/>
              </a:ext>
            </a:extLst>
          </p:cNvPr>
          <p:cNvSpPr txBox="1"/>
          <p:nvPr/>
        </p:nvSpPr>
        <p:spPr>
          <a:xfrm>
            <a:off x="3299835" y="6663625"/>
            <a:ext cx="2256155" cy="166712"/>
          </a:xfrm>
          <a:prstGeom prst="rect">
            <a:avLst/>
          </a:prstGeom>
        </p:spPr>
        <p:txBody>
          <a:bodyPr vert="horz" wrap="square" lIns="0" tIns="12700" rIns="0" bIns="0" rtlCol="0">
            <a:spAutoFit/>
          </a:bodyPr>
          <a:lstStyle/>
          <a:p>
            <a:pPr marL="12700">
              <a:lnSpc>
                <a:spcPct val="100000"/>
              </a:lnSpc>
              <a:spcBef>
                <a:spcPts val="100"/>
              </a:spcBef>
            </a:pPr>
            <a:r>
              <a:rPr sz="1000" b="1" dirty="0">
                <a:solidFill>
                  <a:srgbClr val="C50A4C"/>
                </a:solidFill>
                <a:highlight>
                  <a:srgbClr val="FFFF00"/>
                </a:highlight>
                <a:latin typeface="Century Gothic"/>
                <a:cs typeface="Century Gothic"/>
              </a:rPr>
              <a:t>10</a:t>
            </a:r>
            <a:r>
              <a:rPr sz="1000" b="1" spc="-10" dirty="0">
                <a:solidFill>
                  <a:srgbClr val="C50A4C"/>
                </a:solidFill>
                <a:latin typeface="Century Gothic"/>
                <a:cs typeface="Century Gothic"/>
              </a:rPr>
              <a:t> </a:t>
            </a:r>
            <a:r>
              <a:rPr sz="1000" b="1" dirty="0">
                <a:solidFill>
                  <a:srgbClr val="C50A4C"/>
                </a:solidFill>
                <a:latin typeface="Century Gothic"/>
                <a:cs typeface="Century Gothic"/>
              </a:rPr>
              <a:t>personnes</a:t>
            </a:r>
            <a:r>
              <a:rPr sz="1000" b="1" spc="-5" dirty="0">
                <a:solidFill>
                  <a:srgbClr val="C50A4C"/>
                </a:solidFill>
                <a:latin typeface="Century Gothic"/>
                <a:cs typeface="Century Gothic"/>
              </a:rPr>
              <a:t> </a:t>
            </a:r>
            <a:r>
              <a:rPr sz="1000" b="1" dirty="0">
                <a:solidFill>
                  <a:srgbClr val="C50A4C"/>
                </a:solidFill>
                <a:latin typeface="Century Gothic"/>
                <a:cs typeface="Century Gothic"/>
              </a:rPr>
              <a:t>affectées</a:t>
            </a:r>
            <a:r>
              <a:rPr sz="1000" b="1" spc="-10" dirty="0">
                <a:solidFill>
                  <a:srgbClr val="C50A4C"/>
                </a:solidFill>
                <a:latin typeface="Century Gothic"/>
                <a:cs typeface="Century Gothic"/>
              </a:rPr>
              <a:t> </a:t>
            </a:r>
            <a:r>
              <a:rPr sz="1000" b="1" dirty="0">
                <a:solidFill>
                  <a:srgbClr val="C50A4C"/>
                </a:solidFill>
                <a:latin typeface="Century Gothic"/>
                <a:cs typeface="Century Gothic"/>
              </a:rPr>
              <a:t>à</a:t>
            </a:r>
            <a:r>
              <a:rPr sz="1000" b="1" spc="-5" dirty="0">
                <a:solidFill>
                  <a:srgbClr val="C50A4C"/>
                </a:solidFill>
                <a:latin typeface="Century Gothic"/>
                <a:cs typeface="Century Gothic"/>
              </a:rPr>
              <a:t> </a:t>
            </a:r>
            <a:r>
              <a:rPr sz="1000" b="1" dirty="0">
                <a:solidFill>
                  <a:srgbClr val="C50A4C"/>
                </a:solidFill>
                <a:latin typeface="Century Gothic"/>
                <a:cs typeface="Century Gothic"/>
              </a:rPr>
              <a:t>la</a:t>
            </a:r>
            <a:r>
              <a:rPr sz="1000" b="1" spc="-10" dirty="0">
                <a:solidFill>
                  <a:srgbClr val="C50A4C"/>
                </a:solidFill>
                <a:latin typeface="Century Gothic"/>
                <a:cs typeface="Century Gothic"/>
              </a:rPr>
              <a:t> mission</a:t>
            </a:r>
            <a:endParaRPr sz="1000" dirty="0">
              <a:latin typeface="Century Gothic"/>
              <a:cs typeface="Century Gothic"/>
            </a:endParaRPr>
          </a:p>
        </p:txBody>
      </p:sp>
      <p:sp>
        <p:nvSpPr>
          <p:cNvPr id="11" name="object 5">
            <a:extLst>
              <a:ext uri="{FF2B5EF4-FFF2-40B4-BE49-F238E27FC236}">
                <a16:creationId xmlns:a16="http://schemas.microsoft.com/office/drawing/2014/main" id="{C78701DC-8302-8E8B-5B06-79034D6A1EF4}"/>
              </a:ext>
            </a:extLst>
          </p:cNvPr>
          <p:cNvSpPr/>
          <p:nvPr/>
        </p:nvSpPr>
        <p:spPr>
          <a:xfrm>
            <a:off x="3081170" y="1987473"/>
            <a:ext cx="6532729" cy="1320883"/>
          </a:xfrm>
          <a:custGeom>
            <a:avLst/>
            <a:gdLst/>
            <a:ahLst/>
            <a:cxnLst/>
            <a:rect l="l" t="t" r="r" b="b"/>
            <a:pathLst>
              <a:path w="4910455" h="1394460">
                <a:moveTo>
                  <a:pt x="4910328" y="0"/>
                </a:moveTo>
                <a:lnTo>
                  <a:pt x="0" y="0"/>
                </a:lnTo>
                <a:lnTo>
                  <a:pt x="0" y="1394460"/>
                </a:lnTo>
                <a:lnTo>
                  <a:pt x="4910328" y="1394460"/>
                </a:lnTo>
                <a:lnTo>
                  <a:pt x="4910328" y="0"/>
                </a:lnTo>
                <a:close/>
              </a:path>
            </a:pathLst>
          </a:custGeom>
          <a:solidFill>
            <a:srgbClr val="000000">
              <a:alpha val="29998"/>
            </a:srgbClr>
          </a:solidFill>
        </p:spPr>
        <p:txBody>
          <a:bodyPr wrap="square" lIns="0" tIns="0" rIns="0" bIns="0" rtlCol="0"/>
          <a:lstStyle/>
          <a:p>
            <a:endParaRPr/>
          </a:p>
        </p:txBody>
      </p:sp>
      <p:sp>
        <p:nvSpPr>
          <p:cNvPr id="12" name="object 6">
            <a:extLst>
              <a:ext uri="{FF2B5EF4-FFF2-40B4-BE49-F238E27FC236}">
                <a16:creationId xmlns:a16="http://schemas.microsoft.com/office/drawing/2014/main" id="{C6C93935-3ED0-1526-8970-B797CEA53B52}"/>
              </a:ext>
            </a:extLst>
          </p:cNvPr>
          <p:cNvSpPr/>
          <p:nvPr/>
        </p:nvSpPr>
        <p:spPr>
          <a:xfrm>
            <a:off x="3052344" y="1995373"/>
            <a:ext cx="6485356" cy="1244600"/>
          </a:xfrm>
          <a:custGeom>
            <a:avLst/>
            <a:gdLst/>
            <a:ahLst/>
            <a:cxnLst/>
            <a:rect l="l" t="t" r="r" b="b"/>
            <a:pathLst>
              <a:path w="4759325" h="1244600">
                <a:moveTo>
                  <a:pt x="4759096" y="0"/>
                </a:moveTo>
                <a:lnTo>
                  <a:pt x="0" y="0"/>
                </a:lnTo>
                <a:lnTo>
                  <a:pt x="0" y="1244257"/>
                </a:lnTo>
                <a:lnTo>
                  <a:pt x="4759096" y="1244257"/>
                </a:lnTo>
                <a:lnTo>
                  <a:pt x="4759096" y="0"/>
                </a:lnTo>
                <a:close/>
              </a:path>
            </a:pathLst>
          </a:custGeom>
          <a:solidFill>
            <a:srgbClr val="FFFFFF"/>
          </a:solidFill>
        </p:spPr>
        <p:txBody>
          <a:bodyPr wrap="square" lIns="0" tIns="0" rIns="0" bIns="0" rtlCol="0"/>
          <a:lstStyle/>
          <a:p>
            <a:endParaRPr dirty="0"/>
          </a:p>
        </p:txBody>
      </p:sp>
      <p:sp>
        <p:nvSpPr>
          <p:cNvPr id="13" name="object 7">
            <a:extLst>
              <a:ext uri="{FF2B5EF4-FFF2-40B4-BE49-F238E27FC236}">
                <a16:creationId xmlns:a16="http://schemas.microsoft.com/office/drawing/2014/main" id="{B3BF973B-3937-D188-5151-DF89140628E0}"/>
              </a:ext>
            </a:extLst>
          </p:cNvPr>
          <p:cNvSpPr/>
          <p:nvPr/>
        </p:nvSpPr>
        <p:spPr>
          <a:xfrm>
            <a:off x="3052344" y="1995373"/>
            <a:ext cx="6485356" cy="1244600"/>
          </a:xfrm>
          <a:custGeom>
            <a:avLst/>
            <a:gdLst/>
            <a:ahLst/>
            <a:cxnLst/>
            <a:rect l="l" t="t" r="r" b="b"/>
            <a:pathLst>
              <a:path w="4759325" h="1244600">
                <a:moveTo>
                  <a:pt x="0" y="1244257"/>
                </a:moveTo>
                <a:lnTo>
                  <a:pt x="4759096" y="1244257"/>
                </a:lnTo>
                <a:lnTo>
                  <a:pt x="4759096" y="0"/>
                </a:lnTo>
                <a:lnTo>
                  <a:pt x="0" y="0"/>
                </a:lnTo>
                <a:lnTo>
                  <a:pt x="0" y="1244257"/>
                </a:lnTo>
                <a:close/>
              </a:path>
            </a:pathLst>
          </a:custGeom>
          <a:ln w="12700">
            <a:solidFill>
              <a:srgbClr val="000000"/>
            </a:solidFill>
          </a:ln>
        </p:spPr>
        <p:txBody>
          <a:bodyPr wrap="square" lIns="0" tIns="0" rIns="0" bIns="0" rtlCol="0"/>
          <a:lstStyle/>
          <a:p>
            <a:endParaRPr/>
          </a:p>
        </p:txBody>
      </p:sp>
      <p:sp>
        <p:nvSpPr>
          <p:cNvPr id="14" name="object 8">
            <a:extLst>
              <a:ext uri="{FF2B5EF4-FFF2-40B4-BE49-F238E27FC236}">
                <a16:creationId xmlns:a16="http://schemas.microsoft.com/office/drawing/2014/main" id="{1DE96123-635D-12A0-0ADD-1C28499F7B0C}"/>
              </a:ext>
            </a:extLst>
          </p:cNvPr>
          <p:cNvSpPr/>
          <p:nvPr/>
        </p:nvSpPr>
        <p:spPr>
          <a:xfrm>
            <a:off x="3081169" y="3359200"/>
            <a:ext cx="6532731" cy="3233336"/>
          </a:xfrm>
          <a:custGeom>
            <a:avLst/>
            <a:gdLst/>
            <a:ahLst/>
            <a:cxnLst/>
            <a:rect l="l" t="t" r="r" b="b"/>
            <a:pathLst>
              <a:path w="4906009" h="3314700">
                <a:moveTo>
                  <a:pt x="4905756" y="0"/>
                </a:moveTo>
                <a:lnTo>
                  <a:pt x="0" y="0"/>
                </a:lnTo>
                <a:lnTo>
                  <a:pt x="0" y="3314700"/>
                </a:lnTo>
                <a:lnTo>
                  <a:pt x="4905756" y="3314700"/>
                </a:lnTo>
                <a:lnTo>
                  <a:pt x="4905756" y="0"/>
                </a:lnTo>
                <a:close/>
              </a:path>
            </a:pathLst>
          </a:custGeom>
          <a:solidFill>
            <a:srgbClr val="000000">
              <a:alpha val="29998"/>
            </a:srgbClr>
          </a:solidFill>
        </p:spPr>
        <p:txBody>
          <a:bodyPr wrap="square" lIns="0" tIns="0" rIns="0" bIns="0" rtlCol="0"/>
          <a:lstStyle/>
          <a:p>
            <a:endParaRPr/>
          </a:p>
        </p:txBody>
      </p:sp>
      <p:sp>
        <p:nvSpPr>
          <p:cNvPr id="15" name="object 9">
            <a:extLst>
              <a:ext uri="{FF2B5EF4-FFF2-40B4-BE49-F238E27FC236}">
                <a16:creationId xmlns:a16="http://schemas.microsoft.com/office/drawing/2014/main" id="{80C4E40D-C489-CFE8-17C0-B1CD8C9125A0}"/>
              </a:ext>
            </a:extLst>
          </p:cNvPr>
          <p:cNvSpPr/>
          <p:nvPr/>
        </p:nvSpPr>
        <p:spPr>
          <a:xfrm>
            <a:off x="3052344" y="3361563"/>
            <a:ext cx="6485356" cy="3167380"/>
          </a:xfrm>
          <a:custGeom>
            <a:avLst/>
            <a:gdLst/>
            <a:ahLst/>
            <a:cxnLst/>
            <a:rect l="l" t="t" r="r" b="b"/>
            <a:pathLst>
              <a:path w="4759325" h="3167379">
                <a:moveTo>
                  <a:pt x="4759096" y="0"/>
                </a:moveTo>
                <a:lnTo>
                  <a:pt x="0" y="0"/>
                </a:lnTo>
                <a:lnTo>
                  <a:pt x="0" y="3166986"/>
                </a:lnTo>
                <a:lnTo>
                  <a:pt x="4759096" y="3166986"/>
                </a:lnTo>
                <a:lnTo>
                  <a:pt x="4759096" y="0"/>
                </a:lnTo>
                <a:close/>
              </a:path>
            </a:pathLst>
          </a:custGeom>
          <a:solidFill>
            <a:srgbClr val="FFFFFF"/>
          </a:solidFill>
        </p:spPr>
        <p:txBody>
          <a:bodyPr wrap="square" lIns="0" tIns="0" rIns="0" bIns="0" rtlCol="0"/>
          <a:lstStyle/>
          <a:p>
            <a:endParaRPr/>
          </a:p>
        </p:txBody>
      </p:sp>
      <p:sp>
        <p:nvSpPr>
          <p:cNvPr id="16" name="object 10">
            <a:extLst>
              <a:ext uri="{FF2B5EF4-FFF2-40B4-BE49-F238E27FC236}">
                <a16:creationId xmlns:a16="http://schemas.microsoft.com/office/drawing/2014/main" id="{A4549DB5-70C8-5B66-6EF6-7F871A5DC738}"/>
              </a:ext>
            </a:extLst>
          </p:cNvPr>
          <p:cNvSpPr/>
          <p:nvPr/>
        </p:nvSpPr>
        <p:spPr>
          <a:xfrm>
            <a:off x="3052344" y="3361563"/>
            <a:ext cx="6485356" cy="3167380"/>
          </a:xfrm>
          <a:custGeom>
            <a:avLst/>
            <a:gdLst/>
            <a:ahLst/>
            <a:cxnLst/>
            <a:rect l="l" t="t" r="r" b="b"/>
            <a:pathLst>
              <a:path w="4759325" h="3167379">
                <a:moveTo>
                  <a:pt x="0" y="3166986"/>
                </a:moveTo>
                <a:lnTo>
                  <a:pt x="4759096" y="3166986"/>
                </a:lnTo>
                <a:lnTo>
                  <a:pt x="4759096" y="0"/>
                </a:lnTo>
                <a:lnTo>
                  <a:pt x="0" y="0"/>
                </a:lnTo>
                <a:lnTo>
                  <a:pt x="0" y="3166986"/>
                </a:lnTo>
                <a:close/>
              </a:path>
            </a:pathLst>
          </a:custGeom>
          <a:ln w="9525">
            <a:solidFill>
              <a:srgbClr val="000000"/>
            </a:solidFill>
          </a:ln>
        </p:spPr>
        <p:txBody>
          <a:bodyPr wrap="square" lIns="0" tIns="0" rIns="0" bIns="0" rtlCol="0"/>
          <a:lstStyle/>
          <a:p>
            <a:endParaRPr/>
          </a:p>
        </p:txBody>
      </p:sp>
      <p:sp>
        <p:nvSpPr>
          <p:cNvPr id="18" name="object 12">
            <a:extLst>
              <a:ext uri="{FF2B5EF4-FFF2-40B4-BE49-F238E27FC236}">
                <a16:creationId xmlns:a16="http://schemas.microsoft.com/office/drawing/2014/main" id="{7EC7BEF4-BD9A-0E39-0C7C-46CC527571FE}"/>
              </a:ext>
            </a:extLst>
          </p:cNvPr>
          <p:cNvSpPr/>
          <p:nvPr/>
        </p:nvSpPr>
        <p:spPr>
          <a:xfrm>
            <a:off x="3977590" y="2857118"/>
            <a:ext cx="2886710" cy="12700"/>
          </a:xfrm>
          <a:custGeom>
            <a:avLst/>
            <a:gdLst/>
            <a:ahLst/>
            <a:cxnLst/>
            <a:rect l="l" t="t" r="r" b="b"/>
            <a:pathLst>
              <a:path w="2886709" h="12700">
                <a:moveTo>
                  <a:pt x="12700" y="6350"/>
                </a:moveTo>
                <a:lnTo>
                  <a:pt x="10845" y="1866"/>
                </a:lnTo>
                <a:lnTo>
                  <a:pt x="6350" y="0"/>
                </a:lnTo>
                <a:lnTo>
                  <a:pt x="1866" y="1866"/>
                </a:lnTo>
                <a:lnTo>
                  <a:pt x="0" y="6350"/>
                </a:lnTo>
                <a:lnTo>
                  <a:pt x="1866" y="10845"/>
                </a:lnTo>
                <a:lnTo>
                  <a:pt x="6350" y="12700"/>
                </a:lnTo>
                <a:lnTo>
                  <a:pt x="10845" y="10845"/>
                </a:lnTo>
                <a:lnTo>
                  <a:pt x="12700" y="6350"/>
                </a:lnTo>
                <a:close/>
              </a:path>
              <a:path w="2886709" h="12700">
                <a:moveTo>
                  <a:pt x="2886100" y="6350"/>
                </a:moveTo>
                <a:lnTo>
                  <a:pt x="2884246" y="1866"/>
                </a:lnTo>
                <a:lnTo>
                  <a:pt x="2879750" y="0"/>
                </a:lnTo>
                <a:lnTo>
                  <a:pt x="2875267" y="1866"/>
                </a:lnTo>
                <a:lnTo>
                  <a:pt x="2873400" y="6350"/>
                </a:lnTo>
                <a:lnTo>
                  <a:pt x="2875267" y="10845"/>
                </a:lnTo>
                <a:lnTo>
                  <a:pt x="2879750" y="12700"/>
                </a:lnTo>
                <a:lnTo>
                  <a:pt x="2884246" y="10845"/>
                </a:lnTo>
                <a:lnTo>
                  <a:pt x="2886100" y="6350"/>
                </a:lnTo>
                <a:close/>
              </a:path>
            </a:pathLst>
          </a:custGeom>
          <a:solidFill>
            <a:srgbClr val="000000"/>
          </a:solidFill>
        </p:spPr>
        <p:txBody>
          <a:bodyPr wrap="square" lIns="0" tIns="0" rIns="0" bIns="0" rtlCol="0"/>
          <a:lstStyle/>
          <a:p>
            <a:endParaRPr/>
          </a:p>
        </p:txBody>
      </p:sp>
      <p:sp>
        <p:nvSpPr>
          <p:cNvPr id="20" name="object 14">
            <a:extLst>
              <a:ext uri="{FF2B5EF4-FFF2-40B4-BE49-F238E27FC236}">
                <a16:creationId xmlns:a16="http://schemas.microsoft.com/office/drawing/2014/main" id="{E002BE81-1069-0096-67A7-576C708A46E5}"/>
              </a:ext>
            </a:extLst>
          </p:cNvPr>
          <p:cNvSpPr/>
          <p:nvPr/>
        </p:nvSpPr>
        <p:spPr>
          <a:xfrm>
            <a:off x="4019944" y="2626220"/>
            <a:ext cx="1383030" cy="12700"/>
          </a:xfrm>
          <a:custGeom>
            <a:avLst/>
            <a:gdLst/>
            <a:ahLst/>
            <a:cxnLst/>
            <a:rect l="l" t="t" r="r" b="b"/>
            <a:pathLst>
              <a:path w="1383029" h="12700">
                <a:moveTo>
                  <a:pt x="12700" y="6350"/>
                </a:moveTo>
                <a:lnTo>
                  <a:pt x="10833" y="1866"/>
                </a:lnTo>
                <a:lnTo>
                  <a:pt x="6350" y="0"/>
                </a:lnTo>
                <a:lnTo>
                  <a:pt x="1854" y="1866"/>
                </a:lnTo>
                <a:lnTo>
                  <a:pt x="0" y="6350"/>
                </a:lnTo>
                <a:lnTo>
                  <a:pt x="1854" y="10845"/>
                </a:lnTo>
                <a:lnTo>
                  <a:pt x="6350" y="12700"/>
                </a:lnTo>
                <a:lnTo>
                  <a:pt x="10833" y="10845"/>
                </a:lnTo>
                <a:lnTo>
                  <a:pt x="12700" y="6350"/>
                </a:lnTo>
                <a:close/>
              </a:path>
              <a:path w="1383029" h="12700">
                <a:moveTo>
                  <a:pt x="1382814" y="6350"/>
                </a:moveTo>
                <a:lnTo>
                  <a:pt x="1380947" y="1866"/>
                </a:lnTo>
                <a:lnTo>
                  <a:pt x="1376464" y="0"/>
                </a:lnTo>
                <a:lnTo>
                  <a:pt x="1371968" y="1866"/>
                </a:lnTo>
                <a:lnTo>
                  <a:pt x="1370114" y="6350"/>
                </a:lnTo>
                <a:lnTo>
                  <a:pt x="1371968" y="10845"/>
                </a:lnTo>
                <a:lnTo>
                  <a:pt x="1376464" y="12700"/>
                </a:lnTo>
                <a:lnTo>
                  <a:pt x="1380947" y="10845"/>
                </a:lnTo>
                <a:lnTo>
                  <a:pt x="1382814" y="6350"/>
                </a:lnTo>
                <a:close/>
              </a:path>
            </a:pathLst>
          </a:custGeom>
          <a:solidFill>
            <a:srgbClr val="000000"/>
          </a:solidFill>
        </p:spPr>
        <p:txBody>
          <a:bodyPr wrap="square" lIns="0" tIns="0" rIns="0" bIns="0" rtlCol="0"/>
          <a:lstStyle/>
          <a:p>
            <a:endParaRPr/>
          </a:p>
        </p:txBody>
      </p:sp>
      <p:sp>
        <p:nvSpPr>
          <p:cNvPr id="21" name="object 15">
            <a:extLst>
              <a:ext uri="{FF2B5EF4-FFF2-40B4-BE49-F238E27FC236}">
                <a16:creationId xmlns:a16="http://schemas.microsoft.com/office/drawing/2014/main" id="{B3EB3A2A-6932-1334-5EB6-FA8295C22C63}"/>
              </a:ext>
            </a:extLst>
          </p:cNvPr>
          <p:cNvSpPr/>
          <p:nvPr/>
        </p:nvSpPr>
        <p:spPr>
          <a:xfrm>
            <a:off x="1956879" y="1804470"/>
            <a:ext cx="0" cy="4571365"/>
          </a:xfrm>
          <a:custGeom>
            <a:avLst/>
            <a:gdLst/>
            <a:ahLst/>
            <a:cxnLst/>
            <a:rect l="l" t="t" r="r" b="b"/>
            <a:pathLst>
              <a:path h="4571365">
                <a:moveTo>
                  <a:pt x="0" y="381847"/>
                </a:moveTo>
                <a:lnTo>
                  <a:pt x="0" y="4571199"/>
                </a:lnTo>
              </a:path>
              <a:path h="4571365">
                <a:moveTo>
                  <a:pt x="0" y="0"/>
                </a:moveTo>
                <a:lnTo>
                  <a:pt x="0" y="104390"/>
                </a:lnTo>
              </a:path>
            </a:pathLst>
          </a:custGeom>
          <a:ln w="12700">
            <a:solidFill>
              <a:srgbClr val="2A3E67"/>
            </a:solidFill>
          </a:ln>
        </p:spPr>
        <p:txBody>
          <a:bodyPr wrap="square" lIns="0" tIns="0" rIns="0" bIns="0" rtlCol="0"/>
          <a:lstStyle/>
          <a:p>
            <a:endParaRPr/>
          </a:p>
        </p:txBody>
      </p:sp>
      <p:sp>
        <p:nvSpPr>
          <p:cNvPr id="22" name="object 16">
            <a:extLst>
              <a:ext uri="{FF2B5EF4-FFF2-40B4-BE49-F238E27FC236}">
                <a16:creationId xmlns:a16="http://schemas.microsoft.com/office/drawing/2014/main" id="{86CBEBCE-E7BC-9B46-F9B7-38A47CC7B85A}"/>
              </a:ext>
            </a:extLst>
          </p:cNvPr>
          <p:cNvSpPr/>
          <p:nvPr/>
        </p:nvSpPr>
        <p:spPr>
          <a:xfrm>
            <a:off x="1066994" y="1995373"/>
            <a:ext cx="1862862" cy="1310624"/>
          </a:xfrm>
          <a:custGeom>
            <a:avLst/>
            <a:gdLst/>
            <a:ahLst/>
            <a:cxnLst/>
            <a:rect l="l" t="t" r="r" b="b"/>
            <a:pathLst>
              <a:path w="1979929" h="1394460">
                <a:moveTo>
                  <a:pt x="1979676" y="0"/>
                </a:moveTo>
                <a:lnTo>
                  <a:pt x="0" y="0"/>
                </a:lnTo>
                <a:lnTo>
                  <a:pt x="0" y="1394460"/>
                </a:lnTo>
                <a:lnTo>
                  <a:pt x="1979676" y="1394460"/>
                </a:lnTo>
                <a:lnTo>
                  <a:pt x="1979676" y="0"/>
                </a:lnTo>
                <a:close/>
              </a:path>
            </a:pathLst>
          </a:custGeom>
          <a:solidFill>
            <a:srgbClr val="000000">
              <a:alpha val="29998"/>
            </a:srgbClr>
          </a:solidFill>
        </p:spPr>
        <p:txBody>
          <a:bodyPr wrap="square" lIns="0" tIns="0" rIns="0" bIns="0" rtlCol="0"/>
          <a:lstStyle/>
          <a:p>
            <a:endParaRPr/>
          </a:p>
        </p:txBody>
      </p:sp>
      <p:sp>
        <p:nvSpPr>
          <p:cNvPr id="23" name="object 17">
            <a:extLst>
              <a:ext uri="{FF2B5EF4-FFF2-40B4-BE49-F238E27FC236}">
                <a16:creationId xmlns:a16="http://schemas.microsoft.com/office/drawing/2014/main" id="{EA0E512B-8D88-5C83-B3A4-E24840B611CC}"/>
              </a:ext>
            </a:extLst>
          </p:cNvPr>
          <p:cNvSpPr/>
          <p:nvPr/>
        </p:nvSpPr>
        <p:spPr>
          <a:xfrm>
            <a:off x="1045223" y="1995373"/>
            <a:ext cx="1826895" cy="1244600"/>
          </a:xfrm>
          <a:custGeom>
            <a:avLst/>
            <a:gdLst/>
            <a:ahLst/>
            <a:cxnLst/>
            <a:rect l="l" t="t" r="r" b="b"/>
            <a:pathLst>
              <a:path w="1826895" h="1244600">
                <a:moveTo>
                  <a:pt x="1826895" y="0"/>
                </a:moveTo>
                <a:lnTo>
                  <a:pt x="0" y="0"/>
                </a:lnTo>
                <a:lnTo>
                  <a:pt x="0" y="1244257"/>
                </a:lnTo>
                <a:lnTo>
                  <a:pt x="1826895" y="1244257"/>
                </a:lnTo>
                <a:lnTo>
                  <a:pt x="1826895" y="0"/>
                </a:lnTo>
                <a:close/>
              </a:path>
            </a:pathLst>
          </a:custGeom>
          <a:solidFill>
            <a:srgbClr val="FFFFFF"/>
          </a:solidFill>
        </p:spPr>
        <p:txBody>
          <a:bodyPr wrap="square" lIns="0" tIns="0" rIns="0" bIns="0" rtlCol="0"/>
          <a:lstStyle/>
          <a:p>
            <a:endParaRPr/>
          </a:p>
        </p:txBody>
      </p:sp>
      <p:sp>
        <p:nvSpPr>
          <p:cNvPr id="24" name="object 18">
            <a:extLst>
              <a:ext uri="{FF2B5EF4-FFF2-40B4-BE49-F238E27FC236}">
                <a16:creationId xmlns:a16="http://schemas.microsoft.com/office/drawing/2014/main" id="{7FE414A4-9DB9-4B2C-0960-76A335A113F7}"/>
              </a:ext>
            </a:extLst>
          </p:cNvPr>
          <p:cNvSpPr/>
          <p:nvPr/>
        </p:nvSpPr>
        <p:spPr>
          <a:xfrm>
            <a:off x="1045223" y="1995373"/>
            <a:ext cx="1826895" cy="1244600"/>
          </a:xfrm>
          <a:custGeom>
            <a:avLst/>
            <a:gdLst/>
            <a:ahLst/>
            <a:cxnLst/>
            <a:rect l="l" t="t" r="r" b="b"/>
            <a:pathLst>
              <a:path w="1826895" h="1244600">
                <a:moveTo>
                  <a:pt x="0" y="1244257"/>
                </a:moveTo>
                <a:lnTo>
                  <a:pt x="1826895" y="1244257"/>
                </a:lnTo>
                <a:lnTo>
                  <a:pt x="1826895" y="0"/>
                </a:lnTo>
                <a:lnTo>
                  <a:pt x="0" y="0"/>
                </a:lnTo>
                <a:lnTo>
                  <a:pt x="0" y="1244257"/>
                </a:lnTo>
                <a:close/>
              </a:path>
            </a:pathLst>
          </a:custGeom>
          <a:ln w="12700">
            <a:solidFill>
              <a:srgbClr val="000000"/>
            </a:solidFill>
          </a:ln>
        </p:spPr>
        <p:txBody>
          <a:bodyPr wrap="square" lIns="0" tIns="0" rIns="0" bIns="0" rtlCol="0"/>
          <a:lstStyle/>
          <a:p>
            <a:endParaRPr/>
          </a:p>
        </p:txBody>
      </p:sp>
      <p:sp>
        <p:nvSpPr>
          <p:cNvPr id="25" name="object 19">
            <a:extLst>
              <a:ext uri="{FF2B5EF4-FFF2-40B4-BE49-F238E27FC236}">
                <a16:creationId xmlns:a16="http://schemas.microsoft.com/office/drawing/2014/main" id="{BFCEDA4A-694C-21B9-2E1C-9D7C698F70E2}"/>
              </a:ext>
            </a:extLst>
          </p:cNvPr>
          <p:cNvSpPr/>
          <p:nvPr/>
        </p:nvSpPr>
        <p:spPr>
          <a:xfrm>
            <a:off x="1079500" y="3359200"/>
            <a:ext cx="1850356" cy="3233336"/>
          </a:xfrm>
          <a:custGeom>
            <a:avLst/>
            <a:gdLst/>
            <a:ahLst/>
            <a:cxnLst/>
            <a:rect l="l" t="t" r="r" b="b"/>
            <a:pathLst>
              <a:path w="1975485" h="3314700">
                <a:moveTo>
                  <a:pt x="1975104" y="0"/>
                </a:moveTo>
                <a:lnTo>
                  <a:pt x="0" y="0"/>
                </a:lnTo>
                <a:lnTo>
                  <a:pt x="0" y="3314700"/>
                </a:lnTo>
                <a:lnTo>
                  <a:pt x="1975104" y="3314700"/>
                </a:lnTo>
                <a:lnTo>
                  <a:pt x="1975104" y="0"/>
                </a:lnTo>
                <a:close/>
              </a:path>
            </a:pathLst>
          </a:custGeom>
          <a:solidFill>
            <a:srgbClr val="000000">
              <a:alpha val="29998"/>
            </a:srgbClr>
          </a:solidFill>
        </p:spPr>
        <p:txBody>
          <a:bodyPr wrap="square" lIns="0" tIns="0" rIns="0" bIns="0" rtlCol="0"/>
          <a:lstStyle/>
          <a:p>
            <a:endParaRPr/>
          </a:p>
        </p:txBody>
      </p:sp>
      <p:sp>
        <p:nvSpPr>
          <p:cNvPr id="26" name="object 20">
            <a:extLst>
              <a:ext uri="{FF2B5EF4-FFF2-40B4-BE49-F238E27FC236}">
                <a16:creationId xmlns:a16="http://schemas.microsoft.com/office/drawing/2014/main" id="{C636A54E-0FB4-647E-A0F2-06F379DEF2DF}"/>
              </a:ext>
            </a:extLst>
          </p:cNvPr>
          <p:cNvSpPr/>
          <p:nvPr/>
        </p:nvSpPr>
        <p:spPr>
          <a:xfrm>
            <a:off x="1045223" y="3361563"/>
            <a:ext cx="1826895" cy="3167380"/>
          </a:xfrm>
          <a:custGeom>
            <a:avLst/>
            <a:gdLst/>
            <a:ahLst/>
            <a:cxnLst/>
            <a:rect l="l" t="t" r="r" b="b"/>
            <a:pathLst>
              <a:path w="1826895" h="3167379">
                <a:moveTo>
                  <a:pt x="1826895" y="0"/>
                </a:moveTo>
                <a:lnTo>
                  <a:pt x="0" y="0"/>
                </a:lnTo>
                <a:lnTo>
                  <a:pt x="0" y="3166986"/>
                </a:lnTo>
                <a:lnTo>
                  <a:pt x="1826895" y="3166986"/>
                </a:lnTo>
                <a:lnTo>
                  <a:pt x="1826895" y="0"/>
                </a:lnTo>
                <a:close/>
              </a:path>
            </a:pathLst>
          </a:custGeom>
          <a:solidFill>
            <a:srgbClr val="FFFFFF"/>
          </a:solidFill>
        </p:spPr>
        <p:txBody>
          <a:bodyPr wrap="square" lIns="0" tIns="0" rIns="0" bIns="0" rtlCol="0"/>
          <a:lstStyle/>
          <a:p>
            <a:endParaRPr/>
          </a:p>
        </p:txBody>
      </p:sp>
      <p:sp>
        <p:nvSpPr>
          <p:cNvPr id="27" name="object 21">
            <a:extLst>
              <a:ext uri="{FF2B5EF4-FFF2-40B4-BE49-F238E27FC236}">
                <a16:creationId xmlns:a16="http://schemas.microsoft.com/office/drawing/2014/main" id="{101655C3-B7F2-DC5B-76EC-5C3FE97F2557}"/>
              </a:ext>
            </a:extLst>
          </p:cNvPr>
          <p:cNvSpPr/>
          <p:nvPr/>
        </p:nvSpPr>
        <p:spPr>
          <a:xfrm>
            <a:off x="1045223" y="3361563"/>
            <a:ext cx="1826895" cy="3167380"/>
          </a:xfrm>
          <a:custGeom>
            <a:avLst/>
            <a:gdLst/>
            <a:ahLst/>
            <a:cxnLst/>
            <a:rect l="l" t="t" r="r" b="b"/>
            <a:pathLst>
              <a:path w="1826895" h="3167379">
                <a:moveTo>
                  <a:pt x="0" y="3166986"/>
                </a:moveTo>
                <a:lnTo>
                  <a:pt x="1826895" y="3166986"/>
                </a:lnTo>
                <a:lnTo>
                  <a:pt x="1826895" y="0"/>
                </a:lnTo>
                <a:lnTo>
                  <a:pt x="0" y="0"/>
                </a:lnTo>
                <a:lnTo>
                  <a:pt x="0" y="3166986"/>
                </a:lnTo>
                <a:close/>
              </a:path>
            </a:pathLst>
          </a:custGeom>
          <a:ln w="9524">
            <a:solidFill>
              <a:srgbClr val="000000"/>
            </a:solidFill>
          </a:ln>
        </p:spPr>
        <p:txBody>
          <a:bodyPr wrap="square" lIns="0" tIns="0" rIns="0" bIns="0" rtlCol="0"/>
          <a:lstStyle/>
          <a:p>
            <a:endParaRPr/>
          </a:p>
        </p:txBody>
      </p:sp>
      <p:sp>
        <p:nvSpPr>
          <p:cNvPr id="28" name="object 22">
            <a:extLst>
              <a:ext uri="{FF2B5EF4-FFF2-40B4-BE49-F238E27FC236}">
                <a16:creationId xmlns:a16="http://schemas.microsoft.com/office/drawing/2014/main" id="{2E04D798-EBE0-E1AA-CC17-9B39747A2AAD}"/>
              </a:ext>
            </a:extLst>
          </p:cNvPr>
          <p:cNvSpPr/>
          <p:nvPr/>
        </p:nvSpPr>
        <p:spPr>
          <a:xfrm>
            <a:off x="1038874" y="6755700"/>
            <a:ext cx="1641475" cy="0"/>
          </a:xfrm>
          <a:custGeom>
            <a:avLst/>
            <a:gdLst/>
            <a:ahLst/>
            <a:cxnLst/>
            <a:rect l="l" t="t" r="r" b="b"/>
            <a:pathLst>
              <a:path w="1641475">
                <a:moveTo>
                  <a:pt x="0" y="0"/>
                </a:moveTo>
                <a:lnTo>
                  <a:pt x="1640903" y="0"/>
                </a:lnTo>
              </a:path>
            </a:pathLst>
          </a:custGeom>
          <a:ln w="18249">
            <a:solidFill>
              <a:srgbClr val="636466"/>
            </a:solidFill>
          </a:ln>
        </p:spPr>
        <p:txBody>
          <a:bodyPr wrap="square" lIns="0" tIns="0" rIns="0" bIns="0" rtlCol="0"/>
          <a:lstStyle/>
          <a:p>
            <a:endParaRPr/>
          </a:p>
        </p:txBody>
      </p:sp>
      <p:sp>
        <p:nvSpPr>
          <p:cNvPr id="29" name="object 23">
            <a:extLst>
              <a:ext uri="{FF2B5EF4-FFF2-40B4-BE49-F238E27FC236}">
                <a16:creationId xmlns:a16="http://schemas.microsoft.com/office/drawing/2014/main" id="{1C8EA5BC-9501-2D43-F8B2-1DBA0A7D89FF}"/>
              </a:ext>
            </a:extLst>
          </p:cNvPr>
          <p:cNvSpPr/>
          <p:nvPr/>
        </p:nvSpPr>
        <p:spPr>
          <a:xfrm>
            <a:off x="2622952" y="6702859"/>
            <a:ext cx="57150" cy="106045"/>
          </a:xfrm>
          <a:custGeom>
            <a:avLst/>
            <a:gdLst/>
            <a:ahLst/>
            <a:cxnLst/>
            <a:rect l="l" t="t" r="r" b="b"/>
            <a:pathLst>
              <a:path w="57150" h="106045">
                <a:moveTo>
                  <a:pt x="0" y="0"/>
                </a:moveTo>
                <a:lnTo>
                  <a:pt x="56832" y="52844"/>
                </a:lnTo>
                <a:lnTo>
                  <a:pt x="0" y="105676"/>
                </a:lnTo>
              </a:path>
            </a:pathLst>
          </a:custGeom>
          <a:ln w="18249">
            <a:solidFill>
              <a:srgbClr val="636466"/>
            </a:solidFill>
          </a:ln>
        </p:spPr>
        <p:txBody>
          <a:bodyPr wrap="square" lIns="0" tIns="0" rIns="0" bIns="0" rtlCol="0"/>
          <a:lstStyle/>
          <a:p>
            <a:endParaRPr/>
          </a:p>
        </p:txBody>
      </p:sp>
      <p:sp>
        <p:nvSpPr>
          <p:cNvPr id="30" name="object 24">
            <a:extLst>
              <a:ext uri="{FF2B5EF4-FFF2-40B4-BE49-F238E27FC236}">
                <a16:creationId xmlns:a16="http://schemas.microsoft.com/office/drawing/2014/main" id="{9678D411-A509-661F-E0F5-5099B871C630}"/>
              </a:ext>
            </a:extLst>
          </p:cNvPr>
          <p:cNvSpPr/>
          <p:nvPr/>
        </p:nvSpPr>
        <p:spPr>
          <a:xfrm>
            <a:off x="6175301" y="6755700"/>
            <a:ext cx="1641475" cy="0"/>
          </a:xfrm>
          <a:custGeom>
            <a:avLst/>
            <a:gdLst/>
            <a:ahLst/>
            <a:cxnLst/>
            <a:rect l="l" t="t" r="r" b="b"/>
            <a:pathLst>
              <a:path w="1641475">
                <a:moveTo>
                  <a:pt x="1640903" y="0"/>
                </a:moveTo>
                <a:lnTo>
                  <a:pt x="0" y="0"/>
                </a:lnTo>
              </a:path>
            </a:pathLst>
          </a:custGeom>
          <a:ln w="18249">
            <a:solidFill>
              <a:srgbClr val="636466"/>
            </a:solidFill>
          </a:ln>
        </p:spPr>
        <p:txBody>
          <a:bodyPr wrap="square" lIns="0" tIns="0" rIns="0" bIns="0" rtlCol="0"/>
          <a:lstStyle/>
          <a:p>
            <a:endParaRPr/>
          </a:p>
        </p:txBody>
      </p:sp>
      <p:sp>
        <p:nvSpPr>
          <p:cNvPr id="31" name="object 25">
            <a:extLst>
              <a:ext uri="{FF2B5EF4-FFF2-40B4-BE49-F238E27FC236}">
                <a16:creationId xmlns:a16="http://schemas.microsoft.com/office/drawing/2014/main" id="{3DE3B416-E8EE-7169-BDEB-83612BF063F6}"/>
              </a:ext>
            </a:extLst>
          </p:cNvPr>
          <p:cNvSpPr/>
          <p:nvPr/>
        </p:nvSpPr>
        <p:spPr>
          <a:xfrm>
            <a:off x="6175294" y="6702863"/>
            <a:ext cx="57150" cy="106045"/>
          </a:xfrm>
          <a:custGeom>
            <a:avLst/>
            <a:gdLst/>
            <a:ahLst/>
            <a:cxnLst/>
            <a:rect l="l" t="t" r="r" b="b"/>
            <a:pathLst>
              <a:path w="57150" h="106045">
                <a:moveTo>
                  <a:pt x="56832" y="105676"/>
                </a:moveTo>
                <a:lnTo>
                  <a:pt x="0" y="52831"/>
                </a:lnTo>
                <a:lnTo>
                  <a:pt x="56832" y="0"/>
                </a:lnTo>
              </a:path>
            </a:pathLst>
          </a:custGeom>
          <a:ln w="18249">
            <a:solidFill>
              <a:srgbClr val="636466"/>
            </a:solidFill>
          </a:ln>
        </p:spPr>
        <p:txBody>
          <a:bodyPr wrap="square" lIns="0" tIns="0" rIns="0" bIns="0" rtlCol="0"/>
          <a:lstStyle/>
          <a:p>
            <a:endParaRPr/>
          </a:p>
        </p:txBody>
      </p:sp>
      <p:sp>
        <p:nvSpPr>
          <p:cNvPr id="37" name="object 31">
            <a:extLst>
              <a:ext uri="{FF2B5EF4-FFF2-40B4-BE49-F238E27FC236}">
                <a16:creationId xmlns:a16="http://schemas.microsoft.com/office/drawing/2014/main" id="{517A5998-56FF-1177-C4AE-8069864613EC}"/>
              </a:ext>
            </a:extLst>
          </p:cNvPr>
          <p:cNvSpPr txBox="1"/>
          <p:nvPr/>
        </p:nvSpPr>
        <p:spPr>
          <a:xfrm>
            <a:off x="1530145" y="2902498"/>
            <a:ext cx="928092" cy="197490"/>
          </a:xfrm>
          <a:prstGeom prst="rect">
            <a:avLst/>
          </a:prstGeom>
        </p:spPr>
        <p:txBody>
          <a:bodyPr vert="horz" wrap="square" lIns="0" tIns="12700" rIns="0" bIns="0" rtlCol="0">
            <a:spAutoFit/>
          </a:bodyPr>
          <a:lstStyle/>
          <a:p>
            <a:pPr marL="24130" marR="5080" indent="-12065">
              <a:lnSpc>
                <a:spcPct val="100000"/>
              </a:lnSpc>
              <a:spcBef>
                <a:spcPts val="100"/>
              </a:spcBef>
            </a:pPr>
            <a:r>
              <a:rPr lang="fr-FR" sz="600" dirty="0">
                <a:latin typeface="Century Gothic"/>
                <a:cs typeface="Century Gothic"/>
              </a:rPr>
              <a:t>Madeline LAMBERT</a:t>
            </a:r>
            <a:r>
              <a:rPr sz="600" spc="500" dirty="0">
                <a:latin typeface="Century Gothic"/>
                <a:cs typeface="Century Gothic"/>
              </a:rPr>
              <a:t> </a:t>
            </a:r>
            <a:r>
              <a:rPr sz="600" dirty="0" err="1">
                <a:latin typeface="Century Gothic"/>
                <a:cs typeface="Century Gothic"/>
              </a:rPr>
              <a:t>Interlocutr</a:t>
            </a:r>
            <a:r>
              <a:rPr lang="fr-FR" sz="600" dirty="0" err="1">
                <a:latin typeface="Century Gothic"/>
                <a:cs typeface="Century Gothic"/>
              </a:rPr>
              <a:t>ice</a:t>
            </a:r>
            <a:r>
              <a:rPr sz="600" dirty="0">
                <a:latin typeface="Century Gothic"/>
                <a:cs typeface="Century Gothic"/>
              </a:rPr>
              <a:t> </a:t>
            </a:r>
            <a:r>
              <a:rPr sz="600" spc="-10" dirty="0" err="1">
                <a:latin typeface="Century Gothic"/>
                <a:cs typeface="Century Gothic"/>
              </a:rPr>
              <a:t>privilégié</a:t>
            </a:r>
            <a:r>
              <a:rPr lang="fr-FR" sz="600" spc="-10" dirty="0">
                <a:latin typeface="Century Gothic"/>
                <a:cs typeface="Century Gothic"/>
              </a:rPr>
              <a:t>e</a:t>
            </a:r>
            <a:endParaRPr sz="600" dirty="0">
              <a:highlight>
                <a:srgbClr val="FFFF00"/>
              </a:highlight>
              <a:latin typeface="Century Gothic"/>
              <a:cs typeface="Century Gothic"/>
            </a:endParaRPr>
          </a:p>
        </p:txBody>
      </p:sp>
      <p:sp>
        <p:nvSpPr>
          <p:cNvPr id="38" name="object 32">
            <a:extLst>
              <a:ext uri="{FF2B5EF4-FFF2-40B4-BE49-F238E27FC236}">
                <a16:creationId xmlns:a16="http://schemas.microsoft.com/office/drawing/2014/main" id="{0329F792-06C7-4F54-8CBF-98BE78058C39}"/>
              </a:ext>
            </a:extLst>
          </p:cNvPr>
          <p:cNvSpPr txBox="1"/>
          <p:nvPr/>
        </p:nvSpPr>
        <p:spPr>
          <a:xfrm>
            <a:off x="3268698" y="2909893"/>
            <a:ext cx="1183005" cy="210314"/>
          </a:xfrm>
          <a:prstGeom prst="rect">
            <a:avLst/>
          </a:prstGeom>
        </p:spPr>
        <p:txBody>
          <a:bodyPr vert="horz" wrap="square" lIns="0" tIns="12700" rIns="0" bIns="0" rtlCol="0">
            <a:spAutoFit/>
          </a:bodyPr>
          <a:lstStyle/>
          <a:p>
            <a:pPr marL="12700" marR="5080" indent="248285" algn="ctr">
              <a:lnSpc>
                <a:spcPct val="100000"/>
              </a:lnSpc>
              <a:spcBef>
                <a:spcPts val="100"/>
              </a:spcBef>
            </a:pPr>
            <a:r>
              <a:rPr lang="fr-FR" sz="600" dirty="0">
                <a:latin typeface="Century Gothic"/>
                <a:cs typeface="Century Gothic"/>
              </a:rPr>
              <a:t>Fatima MEGHIT</a:t>
            </a:r>
          </a:p>
          <a:p>
            <a:pPr marL="12700" marR="5080" indent="248285" algn="ctr">
              <a:lnSpc>
                <a:spcPct val="100000"/>
              </a:lnSpc>
              <a:spcBef>
                <a:spcPts val="100"/>
              </a:spcBef>
            </a:pPr>
            <a:r>
              <a:rPr sz="600" dirty="0" err="1">
                <a:latin typeface="Century Gothic"/>
                <a:cs typeface="Century Gothic"/>
              </a:rPr>
              <a:t>Interlocut</a:t>
            </a:r>
            <a:r>
              <a:rPr lang="fr-FR" sz="600" dirty="0" err="1">
                <a:latin typeface="Century Gothic"/>
                <a:cs typeface="Century Gothic"/>
              </a:rPr>
              <a:t>rice</a:t>
            </a:r>
            <a:r>
              <a:rPr sz="600" dirty="0">
                <a:latin typeface="Century Gothic"/>
                <a:cs typeface="Century Gothic"/>
              </a:rPr>
              <a:t> </a:t>
            </a:r>
            <a:r>
              <a:rPr sz="600" spc="-10" dirty="0" err="1">
                <a:latin typeface="Century Gothic"/>
                <a:cs typeface="Century Gothic"/>
              </a:rPr>
              <a:t>privilégié</a:t>
            </a:r>
            <a:r>
              <a:rPr lang="fr-FR" sz="600" spc="-10" dirty="0">
                <a:highlight>
                  <a:srgbClr val="808000"/>
                </a:highlight>
                <a:latin typeface="Century Gothic"/>
                <a:cs typeface="Century Gothic"/>
              </a:rPr>
              <a:t>e</a:t>
            </a:r>
            <a:endParaRPr sz="600" dirty="0">
              <a:highlight>
                <a:srgbClr val="808000"/>
              </a:highlight>
              <a:latin typeface="Century Gothic"/>
              <a:cs typeface="Century Gothic"/>
            </a:endParaRPr>
          </a:p>
        </p:txBody>
      </p:sp>
      <p:sp>
        <p:nvSpPr>
          <p:cNvPr id="39" name="object 33">
            <a:extLst>
              <a:ext uri="{FF2B5EF4-FFF2-40B4-BE49-F238E27FC236}">
                <a16:creationId xmlns:a16="http://schemas.microsoft.com/office/drawing/2014/main" id="{2316F8A1-94EA-C58A-4A31-108EE025395E}"/>
              </a:ext>
            </a:extLst>
          </p:cNvPr>
          <p:cNvSpPr txBox="1"/>
          <p:nvPr/>
        </p:nvSpPr>
        <p:spPr>
          <a:xfrm>
            <a:off x="5022543" y="2902498"/>
            <a:ext cx="842644" cy="197490"/>
          </a:xfrm>
          <a:prstGeom prst="rect">
            <a:avLst/>
          </a:prstGeom>
        </p:spPr>
        <p:txBody>
          <a:bodyPr vert="horz" wrap="square" lIns="0" tIns="12700" rIns="0" bIns="0" rtlCol="0">
            <a:spAutoFit/>
          </a:bodyPr>
          <a:lstStyle/>
          <a:p>
            <a:pPr marL="12700" marR="5080" indent="80645">
              <a:lnSpc>
                <a:spcPct val="100000"/>
              </a:lnSpc>
              <a:spcBef>
                <a:spcPts val="100"/>
              </a:spcBef>
            </a:pPr>
            <a:r>
              <a:rPr lang="fr-FR" sz="600" dirty="0" err="1">
                <a:highlight>
                  <a:srgbClr val="00FFFF"/>
                </a:highlight>
                <a:latin typeface="Century Gothic"/>
                <a:cs typeface="Century Gothic"/>
              </a:rPr>
              <a:t>Xxxxxx</a:t>
            </a:r>
            <a:r>
              <a:rPr sz="600" dirty="0">
                <a:highlight>
                  <a:srgbClr val="00FFFF"/>
                </a:highlight>
                <a:latin typeface="Century Gothic"/>
                <a:cs typeface="Century Gothic"/>
              </a:rPr>
              <a:t> </a:t>
            </a:r>
            <a:r>
              <a:rPr lang="fr-FR" sz="600" spc="-10" dirty="0">
                <a:highlight>
                  <a:srgbClr val="00FFFF"/>
                </a:highlight>
                <a:latin typeface="Century Gothic"/>
                <a:cs typeface="Century Gothic"/>
              </a:rPr>
              <a:t>XXXXX</a:t>
            </a:r>
            <a:r>
              <a:rPr sz="600" spc="500" dirty="0">
                <a:highlight>
                  <a:srgbClr val="00FFFF"/>
                </a:highlight>
                <a:latin typeface="Century Gothic"/>
                <a:cs typeface="Century Gothic"/>
              </a:rPr>
              <a:t> </a:t>
            </a:r>
            <a:r>
              <a:rPr sz="600" dirty="0">
                <a:highlight>
                  <a:srgbClr val="00FFFF"/>
                </a:highlight>
                <a:latin typeface="Century Gothic"/>
                <a:cs typeface="Century Gothic"/>
              </a:rPr>
              <a:t>Interlocuteur </a:t>
            </a:r>
            <a:r>
              <a:rPr sz="600" spc="-10" dirty="0">
                <a:highlight>
                  <a:srgbClr val="00FFFF"/>
                </a:highlight>
                <a:latin typeface="Century Gothic"/>
                <a:cs typeface="Century Gothic"/>
              </a:rPr>
              <a:t>privilégié</a:t>
            </a:r>
            <a:endParaRPr sz="600" dirty="0">
              <a:highlight>
                <a:srgbClr val="00FFFF"/>
              </a:highlight>
              <a:latin typeface="Century Gothic"/>
              <a:cs typeface="Century Gothic"/>
            </a:endParaRPr>
          </a:p>
        </p:txBody>
      </p:sp>
      <p:sp>
        <p:nvSpPr>
          <p:cNvPr id="40" name="object 34">
            <a:extLst>
              <a:ext uri="{FF2B5EF4-FFF2-40B4-BE49-F238E27FC236}">
                <a16:creationId xmlns:a16="http://schemas.microsoft.com/office/drawing/2014/main" id="{EDEEE959-DC02-F116-128D-998E8EAA6876}"/>
              </a:ext>
            </a:extLst>
          </p:cNvPr>
          <p:cNvSpPr txBox="1"/>
          <p:nvPr/>
        </p:nvSpPr>
        <p:spPr>
          <a:xfrm>
            <a:off x="6459294" y="2902498"/>
            <a:ext cx="842644" cy="197490"/>
          </a:xfrm>
          <a:prstGeom prst="rect">
            <a:avLst/>
          </a:prstGeom>
        </p:spPr>
        <p:txBody>
          <a:bodyPr vert="horz" wrap="square" lIns="0" tIns="12700" rIns="0" bIns="0" rtlCol="0">
            <a:spAutoFit/>
          </a:bodyPr>
          <a:lstStyle/>
          <a:p>
            <a:pPr marL="12700" marR="5080" indent="80645">
              <a:lnSpc>
                <a:spcPct val="100000"/>
              </a:lnSpc>
              <a:spcBef>
                <a:spcPts val="100"/>
              </a:spcBef>
            </a:pPr>
            <a:r>
              <a:rPr lang="fr-FR" sz="600" dirty="0" err="1">
                <a:highlight>
                  <a:srgbClr val="00FF00"/>
                </a:highlight>
                <a:latin typeface="Century Gothic"/>
                <a:cs typeface="Century Gothic"/>
              </a:rPr>
              <a:t>Xxxxxx</a:t>
            </a:r>
            <a:r>
              <a:rPr lang="fr-FR" sz="600" dirty="0">
                <a:highlight>
                  <a:srgbClr val="00FF00"/>
                </a:highlight>
                <a:latin typeface="Century Gothic"/>
                <a:cs typeface="Century Gothic"/>
              </a:rPr>
              <a:t> </a:t>
            </a:r>
            <a:r>
              <a:rPr lang="fr-FR" sz="600" spc="-10" dirty="0">
                <a:highlight>
                  <a:srgbClr val="00FF00"/>
                </a:highlight>
                <a:latin typeface="Century Gothic"/>
                <a:cs typeface="Century Gothic"/>
              </a:rPr>
              <a:t>XXXXX</a:t>
            </a:r>
            <a:r>
              <a:rPr lang="fr-FR" sz="600" spc="500" dirty="0">
                <a:highlight>
                  <a:srgbClr val="00FF00"/>
                </a:highlight>
                <a:latin typeface="Century Gothic"/>
                <a:cs typeface="Century Gothic"/>
              </a:rPr>
              <a:t> </a:t>
            </a:r>
            <a:r>
              <a:rPr lang="fr-FR" sz="600" dirty="0">
                <a:highlight>
                  <a:srgbClr val="00FF00"/>
                </a:highlight>
                <a:latin typeface="Century Gothic"/>
                <a:cs typeface="Century Gothic"/>
              </a:rPr>
              <a:t>Interlocuteur </a:t>
            </a:r>
            <a:r>
              <a:rPr lang="fr-FR" sz="600" spc="-10" dirty="0">
                <a:highlight>
                  <a:srgbClr val="00FF00"/>
                </a:highlight>
                <a:latin typeface="Century Gothic"/>
                <a:cs typeface="Century Gothic"/>
              </a:rPr>
              <a:t>privilégié</a:t>
            </a:r>
            <a:endParaRPr lang="fr-FR" sz="600" dirty="0">
              <a:highlight>
                <a:srgbClr val="00FF00"/>
              </a:highlight>
              <a:latin typeface="Century Gothic"/>
              <a:cs typeface="Century Gothic"/>
            </a:endParaRPr>
          </a:p>
        </p:txBody>
      </p:sp>
      <p:sp>
        <p:nvSpPr>
          <p:cNvPr id="41" name="object 35">
            <a:extLst>
              <a:ext uri="{FF2B5EF4-FFF2-40B4-BE49-F238E27FC236}">
                <a16:creationId xmlns:a16="http://schemas.microsoft.com/office/drawing/2014/main" id="{95472D17-B58F-9D85-901E-78C1B3E93730}"/>
              </a:ext>
            </a:extLst>
          </p:cNvPr>
          <p:cNvSpPr txBox="1"/>
          <p:nvPr/>
        </p:nvSpPr>
        <p:spPr>
          <a:xfrm>
            <a:off x="2547231" y="1413807"/>
            <a:ext cx="833119" cy="177800"/>
          </a:xfrm>
          <a:prstGeom prst="rect">
            <a:avLst/>
          </a:prstGeom>
        </p:spPr>
        <p:txBody>
          <a:bodyPr vert="horz" wrap="square" lIns="0" tIns="12700" rIns="0" bIns="0" rtlCol="0">
            <a:spAutoFit/>
          </a:bodyPr>
          <a:lstStyle/>
          <a:p>
            <a:pPr marL="12700">
              <a:lnSpc>
                <a:spcPct val="100000"/>
              </a:lnSpc>
              <a:spcBef>
                <a:spcPts val="100"/>
              </a:spcBef>
            </a:pPr>
            <a:r>
              <a:rPr sz="1000" b="1" spc="-10" dirty="0">
                <a:latin typeface="Century Gothic"/>
                <a:cs typeface="Century Gothic"/>
              </a:rPr>
              <a:t>MANDATAIRE</a:t>
            </a:r>
            <a:endParaRPr sz="1000" dirty="0">
              <a:latin typeface="Century Gothic"/>
              <a:cs typeface="Century Gothic"/>
            </a:endParaRPr>
          </a:p>
        </p:txBody>
      </p:sp>
      <p:sp>
        <p:nvSpPr>
          <p:cNvPr id="42" name="object 36">
            <a:extLst>
              <a:ext uri="{FF2B5EF4-FFF2-40B4-BE49-F238E27FC236}">
                <a16:creationId xmlns:a16="http://schemas.microsoft.com/office/drawing/2014/main" id="{F841864D-4DC1-5582-9092-77CCC6BB490E}"/>
              </a:ext>
            </a:extLst>
          </p:cNvPr>
          <p:cNvSpPr txBox="1"/>
          <p:nvPr/>
        </p:nvSpPr>
        <p:spPr>
          <a:xfrm>
            <a:off x="1668637" y="2277980"/>
            <a:ext cx="580390" cy="132080"/>
          </a:xfrm>
          <a:prstGeom prst="rect">
            <a:avLst/>
          </a:prstGeom>
        </p:spPr>
        <p:txBody>
          <a:bodyPr vert="horz" wrap="square" lIns="0" tIns="12700" rIns="0" bIns="0" rtlCol="0">
            <a:spAutoFit/>
          </a:bodyPr>
          <a:lstStyle/>
          <a:p>
            <a:pPr marL="12700">
              <a:lnSpc>
                <a:spcPct val="100000"/>
              </a:lnSpc>
              <a:spcBef>
                <a:spcPts val="100"/>
              </a:spcBef>
            </a:pPr>
            <a:r>
              <a:rPr sz="700" b="1" spc="-10" dirty="0">
                <a:latin typeface="Century Gothic"/>
                <a:cs typeface="Century Gothic"/>
              </a:rPr>
              <a:t>ARCHITECTES</a:t>
            </a:r>
            <a:endParaRPr sz="700">
              <a:latin typeface="Century Gothic"/>
              <a:cs typeface="Century Gothic"/>
            </a:endParaRPr>
          </a:p>
        </p:txBody>
      </p:sp>
      <p:sp>
        <p:nvSpPr>
          <p:cNvPr id="44" name="object 37">
            <a:extLst>
              <a:ext uri="{FF2B5EF4-FFF2-40B4-BE49-F238E27FC236}">
                <a16:creationId xmlns:a16="http://schemas.microsoft.com/office/drawing/2014/main" id="{1164EAD8-4FF1-DF30-20A6-2A8D652B1D19}"/>
              </a:ext>
            </a:extLst>
          </p:cNvPr>
          <p:cNvSpPr txBox="1"/>
          <p:nvPr/>
        </p:nvSpPr>
        <p:spPr>
          <a:xfrm>
            <a:off x="3152079" y="2174334"/>
            <a:ext cx="1446119" cy="348813"/>
          </a:xfrm>
          <a:prstGeom prst="rect">
            <a:avLst/>
          </a:prstGeom>
        </p:spPr>
        <p:txBody>
          <a:bodyPr vert="horz" wrap="square" lIns="0" tIns="12700" rIns="0" bIns="0" rtlCol="0">
            <a:spAutoFit/>
          </a:bodyPr>
          <a:lstStyle/>
          <a:p>
            <a:pPr marL="317500" marR="5080" indent="-305435" algn="ctr">
              <a:lnSpc>
                <a:spcPct val="100000"/>
              </a:lnSpc>
              <a:spcBef>
                <a:spcPts val="100"/>
              </a:spcBef>
            </a:pPr>
            <a:r>
              <a:rPr lang="fr-FR" sz="700" b="1" spc="-10" dirty="0">
                <a:latin typeface="Century Gothic"/>
                <a:cs typeface="Century Gothic"/>
              </a:rPr>
              <a:t>MAÎTRISE DES COÛTS</a:t>
            </a:r>
            <a:endParaRPr lang="fr-FR" sz="700" dirty="0">
              <a:latin typeface="Century Gothic"/>
              <a:cs typeface="Century Gothic"/>
            </a:endParaRPr>
          </a:p>
          <a:p>
            <a:pPr marL="317500" marR="5080" indent="-305435" algn="ctr">
              <a:lnSpc>
                <a:spcPct val="100000"/>
              </a:lnSpc>
              <a:spcBef>
                <a:spcPts val="100"/>
              </a:spcBef>
            </a:pPr>
            <a:r>
              <a:rPr lang="fr-FR" sz="700" b="1" spc="-10" dirty="0">
                <a:latin typeface="Century Gothic"/>
                <a:cs typeface="Century Gothic"/>
              </a:rPr>
              <a:t>DIRECTION DE L’EXECUTION DES TRAVAUX / OPC</a:t>
            </a:r>
            <a:endParaRPr sz="700" dirty="0">
              <a:latin typeface="Century Gothic"/>
              <a:cs typeface="Century Gothic"/>
            </a:endParaRPr>
          </a:p>
        </p:txBody>
      </p:sp>
      <p:sp>
        <p:nvSpPr>
          <p:cNvPr id="45" name="object 38">
            <a:extLst>
              <a:ext uri="{FF2B5EF4-FFF2-40B4-BE49-F238E27FC236}">
                <a16:creationId xmlns:a16="http://schemas.microsoft.com/office/drawing/2014/main" id="{DE9FFB7A-A1CF-F2DC-B92B-F1CEE623DD9D}"/>
              </a:ext>
            </a:extLst>
          </p:cNvPr>
          <p:cNvSpPr txBox="1"/>
          <p:nvPr/>
        </p:nvSpPr>
        <p:spPr>
          <a:xfrm>
            <a:off x="4762362" y="2226809"/>
            <a:ext cx="1268004" cy="228268"/>
          </a:xfrm>
          <a:prstGeom prst="rect">
            <a:avLst/>
          </a:prstGeom>
        </p:spPr>
        <p:txBody>
          <a:bodyPr vert="horz" wrap="square" lIns="0" tIns="12700" rIns="0" bIns="0" rtlCol="0">
            <a:spAutoFit/>
          </a:bodyPr>
          <a:lstStyle/>
          <a:p>
            <a:pPr marL="12700" algn="ctr">
              <a:lnSpc>
                <a:spcPct val="100000"/>
              </a:lnSpc>
              <a:spcBef>
                <a:spcPts val="100"/>
              </a:spcBef>
            </a:pPr>
            <a:r>
              <a:rPr sz="700" b="1" dirty="0">
                <a:highlight>
                  <a:srgbClr val="00FFFF"/>
                </a:highlight>
                <a:latin typeface="Century Gothic"/>
                <a:cs typeface="Century Gothic"/>
              </a:rPr>
              <a:t>BET</a:t>
            </a:r>
            <a:r>
              <a:rPr sz="700" b="1" spc="-10" dirty="0">
                <a:highlight>
                  <a:srgbClr val="00FFFF"/>
                </a:highlight>
                <a:latin typeface="Century Gothic"/>
                <a:cs typeface="Century Gothic"/>
              </a:rPr>
              <a:t> </a:t>
            </a:r>
            <a:r>
              <a:rPr sz="700" b="1" dirty="0">
                <a:highlight>
                  <a:srgbClr val="00FFFF"/>
                </a:highlight>
                <a:latin typeface="Century Gothic"/>
                <a:cs typeface="Century Gothic"/>
              </a:rPr>
              <a:t>FLUIDES</a:t>
            </a:r>
            <a:r>
              <a:rPr sz="700" b="1" spc="-10" dirty="0">
                <a:highlight>
                  <a:srgbClr val="00FFFF"/>
                </a:highlight>
                <a:latin typeface="Century Gothic"/>
                <a:cs typeface="Century Gothic"/>
              </a:rPr>
              <a:t> </a:t>
            </a:r>
            <a:r>
              <a:rPr sz="700" b="1" dirty="0">
                <a:highlight>
                  <a:srgbClr val="00FFFF"/>
                </a:highlight>
                <a:latin typeface="Century Gothic"/>
                <a:cs typeface="Century Gothic"/>
              </a:rPr>
              <a:t>/</a:t>
            </a:r>
            <a:r>
              <a:rPr sz="700" b="1" spc="-10" dirty="0">
                <a:highlight>
                  <a:srgbClr val="00FFFF"/>
                </a:highlight>
                <a:latin typeface="Century Gothic"/>
                <a:cs typeface="Century Gothic"/>
              </a:rPr>
              <a:t> THERMIQUE</a:t>
            </a:r>
            <a:r>
              <a:rPr lang="fr-FR" sz="700" b="1" spc="-10" dirty="0">
                <a:highlight>
                  <a:srgbClr val="00FFFF"/>
                </a:highlight>
                <a:latin typeface="Century Gothic"/>
                <a:cs typeface="Century Gothic"/>
              </a:rPr>
              <a:t> / PERFORMANCE ENERGETIQUE</a:t>
            </a:r>
          </a:p>
        </p:txBody>
      </p:sp>
      <p:sp>
        <p:nvSpPr>
          <p:cNvPr id="46" name="object 39">
            <a:extLst>
              <a:ext uri="{FF2B5EF4-FFF2-40B4-BE49-F238E27FC236}">
                <a16:creationId xmlns:a16="http://schemas.microsoft.com/office/drawing/2014/main" id="{674D0BFD-3DB4-588C-7187-4B46A8F826EC}"/>
              </a:ext>
            </a:extLst>
          </p:cNvPr>
          <p:cNvSpPr txBox="1"/>
          <p:nvPr/>
        </p:nvSpPr>
        <p:spPr>
          <a:xfrm>
            <a:off x="6459294" y="2304477"/>
            <a:ext cx="842644" cy="120546"/>
          </a:xfrm>
          <a:prstGeom prst="rect">
            <a:avLst/>
          </a:prstGeom>
        </p:spPr>
        <p:txBody>
          <a:bodyPr vert="horz" wrap="square" lIns="0" tIns="12700" rIns="0" bIns="0" rtlCol="0">
            <a:spAutoFit/>
          </a:bodyPr>
          <a:lstStyle/>
          <a:p>
            <a:pPr marL="12700" algn="ctr">
              <a:lnSpc>
                <a:spcPct val="100000"/>
              </a:lnSpc>
              <a:spcBef>
                <a:spcPts val="100"/>
              </a:spcBef>
            </a:pPr>
            <a:r>
              <a:rPr sz="700" b="1" dirty="0">
                <a:latin typeface="Century Gothic"/>
                <a:cs typeface="Century Gothic"/>
              </a:rPr>
              <a:t>BET </a:t>
            </a:r>
            <a:r>
              <a:rPr lang="fr-FR" sz="700" b="1" dirty="0">
                <a:latin typeface="Century Gothic"/>
                <a:cs typeface="Century Gothic"/>
              </a:rPr>
              <a:t>ACOUSTIQUE</a:t>
            </a:r>
            <a:endParaRPr sz="700" dirty="0">
              <a:latin typeface="Century Gothic"/>
              <a:cs typeface="Century Gothic"/>
            </a:endParaRPr>
          </a:p>
        </p:txBody>
      </p:sp>
      <p:sp>
        <p:nvSpPr>
          <p:cNvPr id="47" name="object 40">
            <a:extLst>
              <a:ext uri="{FF2B5EF4-FFF2-40B4-BE49-F238E27FC236}">
                <a16:creationId xmlns:a16="http://schemas.microsoft.com/office/drawing/2014/main" id="{CD329F22-B9E9-7558-2EB3-FF0B6379D12A}"/>
              </a:ext>
            </a:extLst>
          </p:cNvPr>
          <p:cNvSpPr txBox="1"/>
          <p:nvPr/>
        </p:nvSpPr>
        <p:spPr>
          <a:xfrm>
            <a:off x="1310764" y="3946292"/>
            <a:ext cx="1318895" cy="391160"/>
          </a:xfrm>
          <a:prstGeom prst="rect">
            <a:avLst/>
          </a:prstGeom>
        </p:spPr>
        <p:txBody>
          <a:bodyPr vert="horz" wrap="square" lIns="0" tIns="12700" rIns="0" bIns="0" rtlCol="0">
            <a:spAutoFit/>
          </a:bodyPr>
          <a:lstStyle/>
          <a:p>
            <a:pPr marL="300990">
              <a:lnSpc>
                <a:spcPct val="100000"/>
              </a:lnSpc>
              <a:spcBef>
                <a:spcPts val="100"/>
              </a:spcBef>
            </a:pPr>
            <a:r>
              <a:rPr sz="800" dirty="0">
                <a:highlight>
                  <a:srgbClr val="FFFF00"/>
                </a:highlight>
                <a:latin typeface="Century Gothic"/>
                <a:cs typeface="Century Gothic"/>
              </a:rPr>
              <a:t>A. </a:t>
            </a:r>
            <a:r>
              <a:rPr sz="800" spc="-10" dirty="0">
                <a:highlight>
                  <a:srgbClr val="FFFF00"/>
                </a:highlight>
                <a:latin typeface="Century Gothic"/>
                <a:cs typeface="Century Gothic"/>
              </a:rPr>
              <a:t>GOVOROFF</a:t>
            </a:r>
            <a:endParaRPr sz="800" dirty="0">
              <a:highlight>
                <a:srgbClr val="FFFF00"/>
              </a:highlight>
              <a:latin typeface="Century Gothic"/>
              <a:cs typeface="Century Gothic"/>
            </a:endParaRPr>
          </a:p>
          <a:p>
            <a:pPr marL="12700" marR="5080" indent="182880">
              <a:lnSpc>
                <a:spcPct val="100000"/>
              </a:lnSpc>
            </a:pPr>
            <a:r>
              <a:rPr sz="800" i="1" dirty="0">
                <a:highlight>
                  <a:srgbClr val="FFFF00"/>
                </a:highlight>
                <a:latin typeface="Century Gothic"/>
                <a:cs typeface="Century Gothic"/>
              </a:rPr>
              <a:t>Directeur</a:t>
            </a:r>
            <a:r>
              <a:rPr sz="800" i="1" spc="-25" dirty="0">
                <a:highlight>
                  <a:srgbClr val="FFFF00"/>
                </a:highlight>
                <a:latin typeface="Century Gothic"/>
                <a:cs typeface="Century Gothic"/>
              </a:rPr>
              <a:t> </a:t>
            </a:r>
            <a:r>
              <a:rPr sz="800" i="1" dirty="0">
                <a:highlight>
                  <a:srgbClr val="FFFF00"/>
                </a:highlight>
                <a:latin typeface="Century Gothic"/>
                <a:cs typeface="Century Gothic"/>
              </a:rPr>
              <a:t>du</a:t>
            </a:r>
            <a:r>
              <a:rPr sz="800" i="1" spc="-25" dirty="0">
                <a:highlight>
                  <a:srgbClr val="FFFF00"/>
                </a:highlight>
                <a:latin typeface="Century Gothic"/>
                <a:cs typeface="Century Gothic"/>
              </a:rPr>
              <a:t> </a:t>
            </a:r>
            <a:r>
              <a:rPr sz="800" i="1" spc="-10" dirty="0">
                <a:highlight>
                  <a:srgbClr val="FFFF00"/>
                </a:highlight>
                <a:latin typeface="Century Gothic"/>
                <a:cs typeface="Century Gothic"/>
              </a:rPr>
              <a:t>projet </a:t>
            </a:r>
            <a:r>
              <a:rPr sz="800" i="1" dirty="0">
                <a:solidFill>
                  <a:srgbClr val="6D6E71"/>
                </a:solidFill>
                <a:highlight>
                  <a:srgbClr val="FFFF00"/>
                </a:highlight>
                <a:latin typeface="Century Gothic"/>
                <a:cs typeface="Century Gothic"/>
              </a:rPr>
              <a:t>Associé</a:t>
            </a:r>
            <a:r>
              <a:rPr sz="800" i="1" spc="-25" dirty="0">
                <a:solidFill>
                  <a:srgbClr val="6D6E71"/>
                </a:solidFill>
                <a:highlight>
                  <a:srgbClr val="FFFF00"/>
                </a:highlight>
                <a:latin typeface="Century Gothic"/>
                <a:cs typeface="Century Gothic"/>
              </a:rPr>
              <a:t> </a:t>
            </a:r>
            <a:r>
              <a:rPr sz="800" i="1" dirty="0">
                <a:solidFill>
                  <a:srgbClr val="6D6E71"/>
                </a:solidFill>
                <a:highlight>
                  <a:srgbClr val="FFFF00"/>
                </a:highlight>
                <a:latin typeface="Century Gothic"/>
                <a:cs typeface="Century Gothic"/>
              </a:rPr>
              <a:t>/</a:t>
            </a:r>
            <a:r>
              <a:rPr sz="800" i="1" spc="-25" dirty="0">
                <a:solidFill>
                  <a:srgbClr val="6D6E71"/>
                </a:solidFill>
                <a:highlight>
                  <a:srgbClr val="FFFF00"/>
                </a:highlight>
                <a:latin typeface="Century Gothic"/>
                <a:cs typeface="Century Gothic"/>
              </a:rPr>
              <a:t> </a:t>
            </a:r>
            <a:r>
              <a:rPr sz="800" i="1" dirty="0">
                <a:solidFill>
                  <a:srgbClr val="6D6E71"/>
                </a:solidFill>
                <a:highlight>
                  <a:srgbClr val="FFFF00"/>
                </a:highlight>
                <a:latin typeface="Century Gothic"/>
                <a:cs typeface="Century Gothic"/>
              </a:rPr>
              <a:t>Architecte</a:t>
            </a:r>
            <a:r>
              <a:rPr sz="800" i="1" spc="-25" dirty="0">
                <a:solidFill>
                  <a:srgbClr val="6D6E71"/>
                </a:solidFill>
                <a:highlight>
                  <a:srgbClr val="FFFF00"/>
                </a:highlight>
                <a:latin typeface="Century Gothic"/>
                <a:cs typeface="Century Gothic"/>
              </a:rPr>
              <a:t> </a:t>
            </a:r>
            <a:r>
              <a:rPr sz="800" i="1" spc="-20" dirty="0">
                <a:solidFill>
                  <a:srgbClr val="6D6E71"/>
                </a:solidFill>
                <a:highlight>
                  <a:srgbClr val="FFFF00"/>
                </a:highlight>
                <a:latin typeface="Century Gothic"/>
                <a:cs typeface="Century Gothic"/>
              </a:rPr>
              <a:t>DPLG</a:t>
            </a:r>
            <a:endParaRPr sz="800" dirty="0">
              <a:highlight>
                <a:srgbClr val="FFFF00"/>
              </a:highlight>
              <a:latin typeface="Century Gothic"/>
              <a:cs typeface="Century Gothic"/>
            </a:endParaRPr>
          </a:p>
        </p:txBody>
      </p:sp>
      <p:sp>
        <p:nvSpPr>
          <p:cNvPr id="48" name="object 41">
            <a:extLst>
              <a:ext uri="{FF2B5EF4-FFF2-40B4-BE49-F238E27FC236}">
                <a16:creationId xmlns:a16="http://schemas.microsoft.com/office/drawing/2014/main" id="{98E960A3-15A9-638E-2BEE-B7CE9BF6A423}"/>
              </a:ext>
            </a:extLst>
          </p:cNvPr>
          <p:cNvSpPr txBox="1"/>
          <p:nvPr/>
        </p:nvSpPr>
        <p:spPr>
          <a:xfrm>
            <a:off x="1399562" y="4555892"/>
            <a:ext cx="1141730" cy="513080"/>
          </a:xfrm>
          <a:prstGeom prst="rect">
            <a:avLst/>
          </a:prstGeom>
        </p:spPr>
        <p:txBody>
          <a:bodyPr vert="horz" wrap="square" lIns="0" tIns="12700" rIns="0" bIns="0" rtlCol="0">
            <a:spAutoFit/>
          </a:bodyPr>
          <a:lstStyle/>
          <a:p>
            <a:pPr marL="278765">
              <a:lnSpc>
                <a:spcPct val="100000"/>
              </a:lnSpc>
              <a:spcBef>
                <a:spcPts val="100"/>
              </a:spcBef>
            </a:pPr>
            <a:r>
              <a:rPr sz="800" dirty="0">
                <a:highlight>
                  <a:srgbClr val="FFFF00"/>
                </a:highlight>
                <a:latin typeface="Century Gothic"/>
                <a:cs typeface="Century Gothic"/>
              </a:rPr>
              <a:t>M.</a:t>
            </a:r>
            <a:r>
              <a:rPr sz="800" spc="-10" dirty="0">
                <a:highlight>
                  <a:srgbClr val="FFFF00"/>
                </a:highlight>
                <a:latin typeface="Century Gothic"/>
                <a:cs typeface="Century Gothic"/>
              </a:rPr>
              <a:t> LAMBERT</a:t>
            </a:r>
            <a:endParaRPr sz="800" dirty="0">
              <a:highlight>
                <a:srgbClr val="FFFF00"/>
              </a:highlight>
              <a:latin typeface="Century Gothic"/>
              <a:cs typeface="Century Gothic"/>
            </a:endParaRPr>
          </a:p>
          <a:p>
            <a:pPr marL="12700" marR="5080" indent="-635" algn="ctr">
              <a:lnSpc>
                <a:spcPct val="100000"/>
              </a:lnSpc>
            </a:pPr>
            <a:r>
              <a:rPr sz="800" i="1" dirty="0">
                <a:highlight>
                  <a:srgbClr val="FFFF00"/>
                </a:highlight>
                <a:latin typeface="Century Gothic"/>
                <a:cs typeface="Century Gothic"/>
              </a:rPr>
              <a:t>Cheffe</a:t>
            </a:r>
            <a:r>
              <a:rPr sz="800" i="1" spc="-20" dirty="0">
                <a:highlight>
                  <a:srgbClr val="FFFF00"/>
                </a:highlight>
                <a:latin typeface="Century Gothic"/>
                <a:cs typeface="Century Gothic"/>
              </a:rPr>
              <a:t> </a:t>
            </a:r>
            <a:r>
              <a:rPr sz="800" i="1" dirty="0">
                <a:highlight>
                  <a:srgbClr val="FFFF00"/>
                </a:highlight>
                <a:latin typeface="Century Gothic"/>
                <a:cs typeface="Century Gothic"/>
              </a:rPr>
              <a:t>de</a:t>
            </a:r>
            <a:r>
              <a:rPr sz="800" i="1" spc="-20" dirty="0">
                <a:highlight>
                  <a:srgbClr val="FFFF00"/>
                </a:highlight>
                <a:latin typeface="Century Gothic"/>
                <a:cs typeface="Century Gothic"/>
              </a:rPr>
              <a:t> </a:t>
            </a:r>
            <a:r>
              <a:rPr sz="800" i="1" spc="-10" dirty="0">
                <a:highlight>
                  <a:srgbClr val="FFFF00"/>
                </a:highlight>
                <a:latin typeface="Century Gothic"/>
                <a:cs typeface="Century Gothic"/>
              </a:rPr>
              <a:t>projet </a:t>
            </a:r>
            <a:r>
              <a:rPr sz="800" i="1" spc="-50" dirty="0">
                <a:solidFill>
                  <a:srgbClr val="6D6E71"/>
                </a:solidFill>
                <a:highlight>
                  <a:srgbClr val="FFFF00"/>
                </a:highlight>
                <a:latin typeface="Century Gothic"/>
                <a:cs typeface="Century Gothic"/>
              </a:rPr>
              <a:t>Architecte</a:t>
            </a:r>
            <a:r>
              <a:rPr sz="800" i="1" spc="-45" dirty="0">
                <a:solidFill>
                  <a:srgbClr val="6D6E71"/>
                </a:solidFill>
                <a:highlight>
                  <a:srgbClr val="FFFF00"/>
                </a:highlight>
                <a:latin typeface="Century Gothic"/>
                <a:cs typeface="Century Gothic"/>
              </a:rPr>
              <a:t> </a:t>
            </a:r>
            <a:r>
              <a:rPr sz="800" i="1" spc="-35" dirty="0">
                <a:solidFill>
                  <a:srgbClr val="6D6E71"/>
                </a:solidFill>
                <a:highlight>
                  <a:srgbClr val="FFFF00"/>
                </a:highlight>
                <a:latin typeface="Century Gothic"/>
                <a:cs typeface="Century Gothic"/>
              </a:rPr>
              <a:t>DE</a:t>
            </a:r>
            <a:r>
              <a:rPr sz="800" i="1" spc="-40" dirty="0">
                <a:solidFill>
                  <a:srgbClr val="6D6E71"/>
                </a:solidFill>
                <a:highlight>
                  <a:srgbClr val="FFFF00"/>
                </a:highlight>
                <a:latin typeface="Century Gothic"/>
                <a:cs typeface="Century Gothic"/>
              </a:rPr>
              <a:t> </a:t>
            </a:r>
            <a:r>
              <a:rPr sz="800" i="1" dirty="0">
                <a:solidFill>
                  <a:srgbClr val="6D6E71"/>
                </a:solidFill>
                <a:highlight>
                  <a:srgbClr val="FFFF00"/>
                </a:highlight>
                <a:latin typeface="Century Gothic"/>
                <a:cs typeface="Century Gothic"/>
              </a:rPr>
              <a:t>-</a:t>
            </a:r>
            <a:r>
              <a:rPr sz="800" i="1" spc="-45" dirty="0">
                <a:solidFill>
                  <a:srgbClr val="6D6E71"/>
                </a:solidFill>
                <a:highlight>
                  <a:srgbClr val="FFFF00"/>
                </a:highlight>
                <a:latin typeface="Century Gothic"/>
                <a:cs typeface="Century Gothic"/>
              </a:rPr>
              <a:t> HMONP</a:t>
            </a:r>
            <a:r>
              <a:rPr sz="800" i="1" spc="-40" dirty="0">
                <a:solidFill>
                  <a:srgbClr val="6D6E71"/>
                </a:solidFill>
                <a:highlight>
                  <a:srgbClr val="FFFF00"/>
                </a:highlight>
                <a:latin typeface="Century Gothic"/>
                <a:cs typeface="Century Gothic"/>
              </a:rPr>
              <a:t> </a:t>
            </a:r>
            <a:r>
              <a:rPr sz="800" i="1" spc="-50" dirty="0">
                <a:solidFill>
                  <a:srgbClr val="6D6E71"/>
                </a:solidFill>
                <a:highlight>
                  <a:srgbClr val="FFFF00"/>
                </a:highlight>
                <a:latin typeface="Century Gothic"/>
                <a:cs typeface="Century Gothic"/>
              </a:rPr>
              <a:t>/</a:t>
            </a:r>
            <a:r>
              <a:rPr sz="800" i="1" spc="500" dirty="0">
                <a:solidFill>
                  <a:srgbClr val="6D6E71"/>
                </a:solidFill>
                <a:highlight>
                  <a:srgbClr val="FFFF00"/>
                </a:highlight>
                <a:latin typeface="Century Gothic"/>
                <a:cs typeface="Century Gothic"/>
              </a:rPr>
              <a:t> </a:t>
            </a:r>
            <a:r>
              <a:rPr sz="800" i="1" spc="-50" dirty="0">
                <a:solidFill>
                  <a:srgbClr val="6D6E71"/>
                </a:solidFill>
                <a:highlight>
                  <a:srgbClr val="FFFF00"/>
                </a:highlight>
                <a:latin typeface="Century Gothic"/>
                <a:cs typeface="Century Gothic"/>
              </a:rPr>
              <a:t>Co-</a:t>
            </a:r>
            <a:r>
              <a:rPr sz="800" i="1" spc="-10" dirty="0">
                <a:solidFill>
                  <a:srgbClr val="6D6E71"/>
                </a:solidFill>
                <a:highlight>
                  <a:srgbClr val="FFFF00"/>
                </a:highlight>
                <a:latin typeface="Century Gothic"/>
                <a:cs typeface="Century Gothic"/>
              </a:rPr>
              <a:t>gérante</a:t>
            </a:r>
            <a:endParaRPr sz="800" dirty="0">
              <a:highlight>
                <a:srgbClr val="FFFF00"/>
              </a:highlight>
              <a:latin typeface="Century Gothic"/>
              <a:cs typeface="Century Gothic"/>
            </a:endParaRPr>
          </a:p>
        </p:txBody>
      </p:sp>
      <p:sp>
        <p:nvSpPr>
          <p:cNvPr id="49" name="object 42">
            <a:extLst>
              <a:ext uri="{FF2B5EF4-FFF2-40B4-BE49-F238E27FC236}">
                <a16:creationId xmlns:a16="http://schemas.microsoft.com/office/drawing/2014/main" id="{F34F1552-3677-D79B-73FA-E15E2FFCB132}"/>
              </a:ext>
            </a:extLst>
          </p:cNvPr>
          <p:cNvSpPr txBox="1"/>
          <p:nvPr/>
        </p:nvSpPr>
        <p:spPr>
          <a:xfrm>
            <a:off x="1363799" y="5287412"/>
            <a:ext cx="1213485" cy="391160"/>
          </a:xfrm>
          <a:prstGeom prst="rect">
            <a:avLst/>
          </a:prstGeom>
        </p:spPr>
        <p:txBody>
          <a:bodyPr vert="horz" wrap="square" lIns="0" tIns="12700" rIns="0" bIns="0" rtlCol="0">
            <a:spAutoFit/>
          </a:bodyPr>
          <a:lstStyle/>
          <a:p>
            <a:pPr marL="323215">
              <a:lnSpc>
                <a:spcPct val="100000"/>
              </a:lnSpc>
              <a:spcBef>
                <a:spcPts val="100"/>
              </a:spcBef>
            </a:pPr>
            <a:r>
              <a:rPr sz="800" dirty="0">
                <a:highlight>
                  <a:srgbClr val="FFFF00"/>
                </a:highlight>
                <a:latin typeface="Century Gothic"/>
                <a:cs typeface="Century Gothic"/>
              </a:rPr>
              <a:t>S.</a:t>
            </a:r>
            <a:r>
              <a:rPr sz="800" spc="-10" dirty="0">
                <a:highlight>
                  <a:srgbClr val="FFFF00"/>
                </a:highlight>
                <a:latin typeface="Century Gothic"/>
                <a:cs typeface="Century Gothic"/>
              </a:rPr>
              <a:t> BENSAHA</a:t>
            </a:r>
            <a:endParaRPr sz="800" dirty="0">
              <a:highlight>
                <a:srgbClr val="FFFF00"/>
              </a:highlight>
              <a:latin typeface="Century Gothic"/>
              <a:cs typeface="Century Gothic"/>
            </a:endParaRPr>
          </a:p>
          <a:p>
            <a:pPr marL="297180" marR="5080" indent="-285115">
              <a:lnSpc>
                <a:spcPct val="100000"/>
              </a:lnSpc>
            </a:pPr>
            <a:r>
              <a:rPr sz="800" i="1" dirty="0">
                <a:highlight>
                  <a:srgbClr val="FFFF00"/>
                </a:highlight>
                <a:latin typeface="Century Gothic"/>
                <a:cs typeface="Century Gothic"/>
              </a:rPr>
              <a:t>Collaboratrice</a:t>
            </a:r>
            <a:r>
              <a:rPr sz="800" i="1" spc="-35" dirty="0">
                <a:highlight>
                  <a:srgbClr val="FFFF00"/>
                </a:highlight>
                <a:latin typeface="Century Gothic"/>
                <a:cs typeface="Century Gothic"/>
              </a:rPr>
              <a:t> </a:t>
            </a:r>
            <a:r>
              <a:rPr sz="800" i="1" dirty="0">
                <a:highlight>
                  <a:srgbClr val="FFFF00"/>
                </a:highlight>
                <a:latin typeface="Century Gothic"/>
                <a:cs typeface="Century Gothic"/>
              </a:rPr>
              <a:t>du</a:t>
            </a:r>
            <a:r>
              <a:rPr sz="800" i="1" spc="-35" dirty="0">
                <a:highlight>
                  <a:srgbClr val="FFFF00"/>
                </a:highlight>
                <a:latin typeface="Century Gothic"/>
                <a:cs typeface="Century Gothic"/>
              </a:rPr>
              <a:t> </a:t>
            </a:r>
            <a:r>
              <a:rPr sz="800" i="1" spc="-10" dirty="0">
                <a:highlight>
                  <a:srgbClr val="FFFF00"/>
                </a:highlight>
                <a:latin typeface="Century Gothic"/>
                <a:cs typeface="Century Gothic"/>
              </a:rPr>
              <a:t>projet </a:t>
            </a:r>
            <a:r>
              <a:rPr sz="800" i="1" spc="-50" dirty="0">
                <a:solidFill>
                  <a:srgbClr val="6D6E71"/>
                </a:solidFill>
                <a:highlight>
                  <a:srgbClr val="FFFF00"/>
                </a:highlight>
                <a:latin typeface="Century Gothic"/>
                <a:cs typeface="Century Gothic"/>
              </a:rPr>
              <a:t>Architecte</a:t>
            </a:r>
            <a:r>
              <a:rPr sz="800" i="1" spc="15" dirty="0">
                <a:solidFill>
                  <a:srgbClr val="6D6E71"/>
                </a:solidFill>
                <a:highlight>
                  <a:srgbClr val="FFFF00"/>
                </a:highlight>
                <a:latin typeface="Century Gothic"/>
                <a:cs typeface="Century Gothic"/>
              </a:rPr>
              <a:t> </a:t>
            </a:r>
            <a:r>
              <a:rPr sz="800" i="1" spc="-25" dirty="0">
                <a:solidFill>
                  <a:srgbClr val="6D6E71"/>
                </a:solidFill>
                <a:highlight>
                  <a:srgbClr val="FFFF00"/>
                </a:highlight>
                <a:latin typeface="Century Gothic"/>
                <a:cs typeface="Century Gothic"/>
              </a:rPr>
              <a:t>DE</a:t>
            </a:r>
            <a:endParaRPr sz="800" dirty="0">
              <a:highlight>
                <a:srgbClr val="FFFF00"/>
              </a:highlight>
              <a:latin typeface="Century Gothic"/>
              <a:cs typeface="Century Gothic"/>
            </a:endParaRPr>
          </a:p>
        </p:txBody>
      </p:sp>
      <p:sp>
        <p:nvSpPr>
          <p:cNvPr id="57" name="object 50">
            <a:extLst>
              <a:ext uri="{FF2B5EF4-FFF2-40B4-BE49-F238E27FC236}">
                <a16:creationId xmlns:a16="http://schemas.microsoft.com/office/drawing/2014/main" id="{707F62FB-E5C5-DA05-511D-B5CC45DA6C53}"/>
              </a:ext>
            </a:extLst>
          </p:cNvPr>
          <p:cNvSpPr/>
          <p:nvPr/>
        </p:nvSpPr>
        <p:spPr>
          <a:xfrm>
            <a:off x="1379868" y="1908861"/>
            <a:ext cx="1154430" cy="277495"/>
          </a:xfrm>
          <a:custGeom>
            <a:avLst/>
            <a:gdLst/>
            <a:ahLst/>
            <a:cxnLst/>
            <a:rect l="l" t="t" r="r" b="b"/>
            <a:pathLst>
              <a:path w="1154429" h="277494">
                <a:moveTo>
                  <a:pt x="1154023" y="0"/>
                </a:moveTo>
                <a:lnTo>
                  <a:pt x="0" y="0"/>
                </a:lnTo>
                <a:lnTo>
                  <a:pt x="0" y="277456"/>
                </a:lnTo>
                <a:lnTo>
                  <a:pt x="1154023" y="277456"/>
                </a:lnTo>
                <a:lnTo>
                  <a:pt x="1154023" y="0"/>
                </a:lnTo>
                <a:close/>
              </a:path>
            </a:pathLst>
          </a:custGeom>
          <a:solidFill>
            <a:srgbClr val="FFFFFF"/>
          </a:solidFill>
        </p:spPr>
        <p:txBody>
          <a:bodyPr wrap="square" lIns="0" tIns="0" rIns="0" bIns="0" rtlCol="0"/>
          <a:lstStyle/>
          <a:p>
            <a:endParaRPr/>
          </a:p>
        </p:txBody>
      </p:sp>
      <p:sp>
        <p:nvSpPr>
          <p:cNvPr id="58" name="object 51">
            <a:extLst>
              <a:ext uri="{FF2B5EF4-FFF2-40B4-BE49-F238E27FC236}">
                <a16:creationId xmlns:a16="http://schemas.microsoft.com/office/drawing/2014/main" id="{1CCBE5DA-A522-3789-02ED-9DE79C614ABB}"/>
              </a:ext>
            </a:extLst>
          </p:cNvPr>
          <p:cNvSpPr txBox="1"/>
          <p:nvPr/>
        </p:nvSpPr>
        <p:spPr>
          <a:xfrm>
            <a:off x="1618037" y="1911934"/>
            <a:ext cx="678180" cy="146050"/>
          </a:xfrm>
          <a:prstGeom prst="rect">
            <a:avLst/>
          </a:prstGeom>
        </p:spPr>
        <p:txBody>
          <a:bodyPr vert="horz" wrap="square" lIns="0" tIns="11430" rIns="0" bIns="0" rtlCol="0">
            <a:spAutoFit/>
          </a:bodyPr>
          <a:lstStyle/>
          <a:p>
            <a:pPr marL="12700">
              <a:lnSpc>
                <a:spcPct val="100000"/>
              </a:lnSpc>
              <a:spcBef>
                <a:spcPts val="90"/>
              </a:spcBef>
            </a:pPr>
            <a:r>
              <a:rPr sz="800" b="1" spc="-10" dirty="0">
                <a:solidFill>
                  <a:srgbClr val="636466"/>
                </a:solidFill>
                <a:latin typeface="Century Gothic"/>
                <a:cs typeface="Century Gothic"/>
              </a:rPr>
              <a:t>CONCEPTION</a:t>
            </a:r>
            <a:endParaRPr sz="800">
              <a:latin typeface="Century Gothic"/>
              <a:cs typeface="Century Gothic"/>
            </a:endParaRPr>
          </a:p>
        </p:txBody>
      </p:sp>
      <p:sp>
        <p:nvSpPr>
          <p:cNvPr id="59" name="object 52">
            <a:extLst>
              <a:ext uri="{FF2B5EF4-FFF2-40B4-BE49-F238E27FC236}">
                <a16:creationId xmlns:a16="http://schemas.microsoft.com/office/drawing/2014/main" id="{556B0D0A-89B5-50A4-7692-6165D1DDD0C9}"/>
              </a:ext>
            </a:extLst>
          </p:cNvPr>
          <p:cNvSpPr txBox="1"/>
          <p:nvPr/>
        </p:nvSpPr>
        <p:spPr>
          <a:xfrm>
            <a:off x="1536735" y="2032382"/>
            <a:ext cx="840740" cy="146050"/>
          </a:xfrm>
          <a:prstGeom prst="rect">
            <a:avLst/>
          </a:prstGeom>
        </p:spPr>
        <p:txBody>
          <a:bodyPr vert="horz" wrap="square" lIns="0" tIns="11430" rIns="0" bIns="0" rtlCol="0">
            <a:spAutoFit/>
          </a:bodyPr>
          <a:lstStyle/>
          <a:p>
            <a:pPr marL="12700">
              <a:lnSpc>
                <a:spcPct val="100000"/>
              </a:lnSpc>
              <a:spcBef>
                <a:spcPts val="90"/>
              </a:spcBef>
            </a:pPr>
            <a:r>
              <a:rPr sz="800" b="1" spc="-10" dirty="0">
                <a:solidFill>
                  <a:srgbClr val="636466"/>
                </a:solidFill>
                <a:latin typeface="Century Gothic"/>
                <a:cs typeface="Century Gothic"/>
              </a:rPr>
              <a:t>ARCHITECTURALE</a:t>
            </a:r>
            <a:endParaRPr sz="800">
              <a:latin typeface="Century Gothic"/>
              <a:cs typeface="Century Gothic"/>
            </a:endParaRPr>
          </a:p>
        </p:txBody>
      </p:sp>
      <p:pic>
        <p:nvPicPr>
          <p:cNvPr id="61" name="object 54">
            <a:extLst>
              <a:ext uri="{FF2B5EF4-FFF2-40B4-BE49-F238E27FC236}">
                <a16:creationId xmlns:a16="http://schemas.microsoft.com/office/drawing/2014/main" id="{23ED75D4-89B0-0D9F-6838-57D225E3C459}"/>
              </a:ext>
            </a:extLst>
          </p:cNvPr>
          <p:cNvPicPr/>
          <p:nvPr/>
        </p:nvPicPr>
        <p:blipFill>
          <a:blip r:embed="rId2" cstate="print"/>
          <a:stretch>
            <a:fillRect/>
          </a:stretch>
        </p:blipFill>
        <p:spPr>
          <a:xfrm>
            <a:off x="1804988" y="2474303"/>
            <a:ext cx="316484" cy="316484"/>
          </a:xfrm>
          <a:prstGeom prst="rect">
            <a:avLst/>
          </a:prstGeom>
        </p:spPr>
      </p:pic>
      <p:sp>
        <p:nvSpPr>
          <p:cNvPr id="65" name="object 58">
            <a:extLst>
              <a:ext uri="{FF2B5EF4-FFF2-40B4-BE49-F238E27FC236}">
                <a16:creationId xmlns:a16="http://schemas.microsoft.com/office/drawing/2014/main" id="{5D6C776D-AF8D-4B0F-7C7F-ECA3DBCA10A1}"/>
              </a:ext>
            </a:extLst>
          </p:cNvPr>
          <p:cNvSpPr/>
          <p:nvPr/>
        </p:nvSpPr>
        <p:spPr>
          <a:xfrm>
            <a:off x="3681499" y="1724025"/>
            <a:ext cx="45719" cy="82558"/>
          </a:xfrm>
          <a:custGeom>
            <a:avLst/>
            <a:gdLst/>
            <a:ahLst/>
            <a:cxnLst/>
            <a:rect l="l" t="t" r="r" b="b"/>
            <a:pathLst>
              <a:path h="208914">
                <a:moveTo>
                  <a:pt x="0" y="0"/>
                </a:moveTo>
                <a:lnTo>
                  <a:pt x="0" y="208800"/>
                </a:lnTo>
              </a:path>
            </a:pathLst>
          </a:custGeom>
          <a:ln w="12700">
            <a:solidFill>
              <a:srgbClr val="2A3E67"/>
            </a:solidFill>
          </a:ln>
        </p:spPr>
        <p:txBody>
          <a:bodyPr wrap="square" lIns="0" tIns="0" rIns="0" bIns="0" rtlCol="0"/>
          <a:lstStyle/>
          <a:p>
            <a:endParaRPr/>
          </a:p>
        </p:txBody>
      </p:sp>
      <p:sp>
        <p:nvSpPr>
          <p:cNvPr id="66" name="object 59">
            <a:extLst>
              <a:ext uri="{FF2B5EF4-FFF2-40B4-BE49-F238E27FC236}">
                <a16:creationId xmlns:a16="http://schemas.microsoft.com/office/drawing/2014/main" id="{CA568ED8-7BA9-3657-F84C-EEAE3C52D97B}"/>
              </a:ext>
            </a:extLst>
          </p:cNvPr>
          <p:cNvSpPr/>
          <p:nvPr/>
        </p:nvSpPr>
        <p:spPr>
          <a:xfrm>
            <a:off x="5445965" y="1804470"/>
            <a:ext cx="0" cy="104775"/>
          </a:xfrm>
          <a:custGeom>
            <a:avLst/>
            <a:gdLst/>
            <a:ahLst/>
            <a:cxnLst/>
            <a:rect l="l" t="t" r="r" b="b"/>
            <a:pathLst>
              <a:path h="104775">
                <a:moveTo>
                  <a:pt x="0" y="0"/>
                </a:moveTo>
                <a:lnTo>
                  <a:pt x="0" y="104402"/>
                </a:lnTo>
              </a:path>
            </a:pathLst>
          </a:custGeom>
          <a:ln w="12700">
            <a:solidFill>
              <a:srgbClr val="2A3E67"/>
            </a:solidFill>
          </a:ln>
        </p:spPr>
        <p:txBody>
          <a:bodyPr wrap="square" lIns="0" tIns="0" rIns="0" bIns="0" rtlCol="0"/>
          <a:lstStyle/>
          <a:p>
            <a:endParaRPr/>
          </a:p>
        </p:txBody>
      </p:sp>
      <p:sp>
        <p:nvSpPr>
          <p:cNvPr id="67" name="object 60">
            <a:extLst>
              <a:ext uri="{FF2B5EF4-FFF2-40B4-BE49-F238E27FC236}">
                <a16:creationId xmlns:a16="http://schemas.microsoft.com/office/drawing/2014/main" id="{E17A4AE9-920A-3B40-F101-244EBC6B0C7E}"/>
              </a:ext>
            </a:extLst>
          </p:cNvPr>
          <p:cNvSpPr/>
          <p:nvPr/>
        </p:nvSpPr>
        <p:spPr>
          <a:xfrm>
            <a:off x="3983947" y="2834205"/>
            <a:ext cx="0" cy="15240"/>
          </a:xfrm>
          <a:custGeom>
            <a:avLst/>
            <a:gdLst/>
            <a:ahLst/>
            <a:cxnLst/>
            <a:rect l="l" t="t" r="r" b="b"/>
            <a:pathLst>
              <a:path h="15239">
                <a:moveTo>
                  <a:pt x="0" y="0"/>
                </a:moveTo>
                <a:lnTo>
                  <a:pt x="0" y="14630"/>
                </a:lnTo>
              </a:path>
            </a:pathLst>
          </a:custGeom>
          <a:ln w="12700">
            <a:solidFill>
              <a:srgbClr val="000000"/>
            </a:solidFill>
            <a:prstDash val="dot"/>
          </a:ln>
        </p:spPr>
        <p:txBody>
          <a:bodyPr wrap="square" lIns="0" tIns="0" rIns="0" bIns="0" rtlCol="0"/>
          <a:lstStyle/>
          <a:p>
            <a:endParaRPr/>
          </a:p>
        </p:txBody>
      </p:sp>
      <p:sp>
        <p:nvSpPr>
          <p:cNvPr id="68" name="object 61">
            <a:extLst>
              <a:ext uri="{FF2B5EF4-FFF2-40B4-BE49-F238E27FC236}">
                <a16:creationId xmlns:a16="http://schemas.microsoft.com/office/drawing/2014/main" id="{A2756156-6DE2-0CC7-171E-8184234E2E8B}"/>
              </a:ext>
            </a:extLst>
          </p:cNvPr>
          <p:cNvSpPr/>
          <p:nvPr/>
        </p:nvSpPr>
        <p:spPr>
          <a:xfrm>
            <a:off x="3977590" y="2798597"/>
            <a:ext cx="12700" cy="71755"/>
          </a:xfrm>
          <a:custGeom>
            <a:avLst/>
            <a:gdLst/>
            <a:ahLst/>
            <a:cxnLst/>
            <a:rect l="l" t="t" r="r" b="b"/>
            <a:pathLst>
              <a:path w="12700" h="71755">
                <a:moveTo>
                  <a:pt x="12700" y="64871"/>
                </a:moveTo>
                <a:lnTo>
                  <a:pt x="10845" y="60388"/>
                </a:lnTo>
                <a:lnTo>
                  <a:pt x="6350" y="58521"/>
                </a:lnTo>
                <a:lnTo>
                  <a:pt x="1866" y="60388"/>
                </a:lnTo>
                <a:lnTo>
                  <a:pt x="0" y="64871"/>
                </a:lnTo>
                <a:lnTo>
                  <a:pt x="1866" y="69367"/>
                </a:lnTo>
                <a:lnTo>
                  <a:pt x="6350" y="71221"/>
                </a:lnTo>
                <a:lnTo>
                  <a:pt x="10845" y="69367"/>
                </a:lnTo>
                <a:lnTo>
                  <a:pt x="12700" y="64871"/>
                </a:lnTo>
                <a:close/>
              </a:path>
              <a:path w="12700" h="71755">
                <a:moveTo>
                  <a:pt x="12700" y="6350"/>
                </a:moveTo>
                <a:lnTo>
                  <a:pt x="10845" y="1866"/>
                </a:lnTo>
                <a:lnTo>
                  <a:pt x="6350" y="0"/>
                </a:lnTo>
                <a:lnTo>
                  <a:pt x="1866" y="1866"/>
                </a:lnTo>
                <a:lnTo>
                  <a:pt x="0" y="6350"/>
                </a:lnTo>
                <a:lnTo>
                  <a:pt x="1866" y="10845"/>
                </a:lnTo>
                <a:lnTo>
                  <a:pt x="6350" y="12700"/>
                </a:lnTo>
                <a:lnTo>
                  <a:pt x="10845" y="10845"/>
                </a:lnTo>
                <a:lnTo>
                  <a:pt x="12700" y="6350"/>
                </a:lnTo>
                <a:close/>
              </a:path>
            </a:pathLst>
          </a:custGeom>
          <a:solidFill>
            <a:srgbClr val="000000"/>
          </a:solidFill>
        </p:spPr>
        <p:txBody>
          <a:bodyPr wrap="square" lIns="0" tIns="0" rIns="0" bIns="0" rtlCol="0"/>
          <a:lstStyle/>
          <a:p>
            <a:endParaRPr/>
          </a:p>
        </p:txBody>
      </p:sp>
      <p:sp>
        <p:nvSpPr>
          <p:cNvPr id="71" name="object 64">
            <a:extLst>
              <a:ext uri="{FF2B5EF4-FFF2-40B4-BE49-F238E27FC236}">
                <a16:creationId xmlns:a16="http://schemas.microsoft.com/office/drawing/2014/main" id="{B98EC498-448B-9EEA-4941-E80AD3A39C93}"/>
              </a:ext>
            </a:extLst>
          </p:cNvPr>
          <p:cNvSpPr/>
          <p:nvPr/>
        </p:nvSpPr>
        <p:spPr>
          <a:xfrm>
            <a:off x="1958669" y="1810815"/>
            <a:ext cx="3485515" cy="0"/>
          </a:xfrm>
          <a:custGeom>
            <a:avLst/>
            <a:gdLst/>
            <a:ahLst/>
            <a:cxnLst/>
            <a:rect l="l" t="t" r="r" b="b"/>
            <a:pathLst>
              <a:path w="3485515">
                <a:moveTo>
                  <a:pt x="3485019" y="0"/>
                </a:moveTo>
                <a:lnTo>
                  <a:pt x="0" y="0"/>
                </a:lnTo>
              </a:path>
            </a:pathLst>
          </a:custGeom>
          <a:ln w="12700">
            <a:solidFill>
              <a:srgbClr val="2A3E67"/>
            </a:solidFill>
          </a:ln>
        </p:spPr>
        <p:txBody>
          <a:bodyPr wrap="square" lIns="0" tIns="0" rIns="0" bIns="0" rtlCol="0"/>
          <a:lstStyle/>
          <a:p>
            <a:endParaRPr/>
          </a:p>
        </p:txBody>
      </p:sp>
      <p:sp>
        <p:nvSpPr>
          <p:cNvPr id="76" name="object 69">
            <a:extLst>
              <a:ext uri="{FF2B5EF4-FFF2-40B4-BE49-F238E27FC236}">
                <a16:creationId xmlns:a16="http://schemas.microsoft.com/office/drawing/2014/main" id="{F08CF4E4-5699-1311-EE40-19029700CB49}"/>
              </a:ext>
            </a:extLst>
          </p:cNvPr>
          <p:cNvSpPr/>
          <p:nvPr/>
        </p:nvSpPr>
        <p:spPr>
          <a:xfrm>
            <a:off x="4548912" y="1908873"/>
            <a:ext cx="1790064" cy="227965"/>
          </a:xfrm>
          <a:custGeom>
            <a:avLst/>
            <a:gdLst/>
            <a:ahLst/>
            <a:cxnLst/>
            <a:rect l="l" t="t" r="r" b="b"/>
            <a:pathLst>
              <a:path w="1790065" h="227964">
                <a:moveTo>
                  <a:pt x="1789544" y="0"/>
                </a:moveTo>
                <a:lnTo>
                  <a:pt x="0" y="0"/>
                </a:lnTo>
                <a:lnTo>
                  <a:pt x="0" y="227926"/>
                </a:lnTo>
                <a:lnTo>
                  <a:pt x="1789544" y="227926"/>
                </a:lnTo>
                <a:lnTo>
                  <a:pt x="1789544" y="0"/>
                </a:lnTo>
                <a:close/>
              </a:path>
            </a:pathLst>
          </a:custGeom>
          <a:solidFill>
            <a:srgbClr val="FFFFFF"/>
          </a:solidFill>
        </p:spPr>
        <p:txBody>
          <a:bodyPr wrap="square" lIns="0" tIns="0" rIns="0" bIns="0" rtlCol="0"/>
          <a:lstStyle/>
          <a:p>
            <a:endParaRPr/>
          </a:p>
        </p:txBody>
      </p:sp>
      <p:sp>
        <p:nvSpPr>
          <p:cNvPr id="77" name="object 71">
            <a:extLst>
              <a:ext uri="{FF2B5EF4-FFF2-40B4-BE49-F238E27FC236}">
                <a16:creationId xmlns:a16="http://schemas.microsoft.com/office/drawing/2014/main" id="{71D84FA3-6D79-0FF0-7249-4B6076C4A85F}"/>
              </a:ext>
            </a:extLst>
          </p:cNvPr>
          <p:cNvSpPr txBox="1"/>
          <p:nvPr/>
        </p:nvSpPr>
        <p:spPr>
          <a:xfrm>
            <a:off x="4683044" y="1927637"/>
            <a:ext cx="1549400" cy="146050"/>
          </a:xfrm>
          <a:prstGeom prst="rect">
            <a:avLst/>
          </a:prstGeom>
        </p:spPr>
        <p:txBody>
          <a:bodyPr vert="horz" wrap="square" lIns="0" tIns="11430" rIns="0" bIns="0" rtlCol="0">
            <a:spAutoFit/>
          </a:bodyPr>
          <a:lstStyle/>
          <a:p>
            <a:pPr marL="12700">
              <a:lnSpc>
                <a:spcPct val="100000"/>
              </a:lnSpc>
              <a:spcBef>
                <a:spcPts val="90"/>
              </a:spcBef>
            </a:pPr>
            <a:r>
              <a:rPr sz="800" b="1" spc="-10" dirty="0">
                <a:solidFill>
                  <a:srgbClr val="636466"/>
                </a:solidFill>
                <a:latin typeface="Century Gothic"/>
                <a:cs typeface="Century Gothic"/>
              </a:rPr>
              <a:t>BUREAUX</a:t>
            </a:r>
            <a:r>
              <a:rPr sz="800" b="1" spc="-15" dirty="0">
                <a:solidFill>
                  <a:srgbClr val="636466"/>
                </a:solidFill>
                <a:latin typeface="Century Gothic"/>
                <a:cs typeface="Century Gothic"/>
              </a:rPr>
              <a:t> </a:t>
            </a:r>
            <a:r>
              <a:rPr sz="800" b="1" spc="-10" dirty="0">
                <a:solidFill>
                  <a:srgbClr val="636466"/>
                </a:solidFill>
                <a:latin typeface="Century Gothic"/>
                <a:cs typeface="Century Gothic"/>
              </a:rPr>
              <a:t>D’ÉTUDES</a:t>
            </a:r>
            <a:r>
              <a:rPr sz="800" b="1" spc="-15" dirty="0">
                <a:solidFill>
                  <a:srgbClr val="636466"/>
                </a:solidFill>
                <a:latin typeface="Century Gothic"/>
                <a:cs typeface="Century Gothic"/>
              </a:rPr>
              <a:t> </a:t>
            </a:r>
            <a:r>
              <a:rPr sz="800" b="1" spc="-10" dirty="0">
                <a:solidFill>
                  <a:srgbClr val="636466"/>
                </a:solidFill>
                <a:latin typeface="Century Gothic"/>
                <a:cs typeface="Century Gothic"/>
              </a:rPr>
              <a:t>TECHNIQUES</a:t>
            </a:r>
            <a:endParaRPr sz="800" dirty="0">
              <a:latin typeface="Century Gothic"/>
              <a:cs typeface="Century Gothic"/>
            </a:endParaRPr>
          </a:p>
        </p:txBody>
      </p:sp>
      <p:pic>
        <p:nvPicPr>
          <p:cNvPr id="88" name="Image 87">
            <a:extLst>
              <a:ext uri="{FF2B5EF4-FFF2-40B4-BE49-F238E27FC236}">
                <a16:creationId xmlns:a16="http://schemas.microsoft.com/office/drawing/2014/main" id="{3ABC2309-8A69-1DC7-B7C6-057F729757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36880" y="2544054"/>
            <a:ext cx="862281" cy="305391"/>
          </a:xfrm>
          <a:prstGeom prst="rect">
            <a:avLst/>
          </a:prstGeom>
        </p:spPr>
      </p:pic>
      <p:sp>
        <p:nvSpPr>
          <p:cNvPr id="101" name="object 43">
            <a:extLst>
              <a:ext uri="{FF2B5EF4-FFF2-40B4-BE49-F238E27FC236}">
                <a16:creationId xmlns:a16="http://schemas.microsoft.com/office/drawing/2014/main" id="{ADF24517-11E4-5A82-A21D-B7B6F673F38D}"/>
              </a:ext>
            </a:extLst>
          </p:cNvPr>
          <p:cNvSpPr txBox="1"/>
          <p:nvPr/>
        </p:nvSpPr>
        <p:spPr>
          <a:xfrm>
            <a:off x="4944695" y="4002687"/>
            <a:ext cx="952500" cy="1859483"/>
          </a:xfrm>
          <a:prstGeom prst="rect">
            <a:avLst/>
          </a:prstGeom>
        </p:spPr>
        <p:txBody>
          <a:bodyPr vert="horz" wrap="square" lIns="0" tIns="12700" rIns="0" bIns="0" rtlCol="0">
            <a:spAutoFit/>
          </a:bodyPr>
          <a:lstStyle/>
          <a:p>
            <a:pPr marL="229235" marR="5080" indent="-217170" algn="ctr"/>
            <a:r>
              <a:rPr lang="fr-FR" sz="800" dirty="0">
                <a:highlight>
                  <a:srgbClr val="00FFFF"/>
                </a:highlight>
                <a:latin typeface="Century Gothic"/>
                <a:cs typeface="Century Gothic"/>
              </a:rPr>
              <a:t>L.</a:t>
            </a:r>
            <a:r>
              <a:rPr lang="fr-FR" sz="800" spc="-15" dirty="0">
                <a:highlight>
                  <a:srgbClr val="00FFFF"/>
                </a:highlight>
                <a:latin typeface="Century Gothic"/>
                <a:cs typeface="Century Gothic"/>
              </a:rPr>
              <a:t> </a:t>
            </a:r>
            <a:r>
              <a:rPr lang="fr-FR" sz="800" spc="-25" dirty="0">
                <a:highlight>
                  <a:srgbClr val="00FFFF"/>
                </a:highlight>
                <a:latin typeface="Century Gothic"/>
                <a:cs typeface="Century Gothic"/>
              </a:rPr>
              <a:t>JAN</a:t>
            </a:r>
            <a:endParaRPr lang="fr-FR" sz="800" dirty="0">
              <a:highlight>
                <a:srgbClr val="00FFFF"/>
              </a:highlight>
              <a:latin typeface="Century Gothic"/>
              <a:cs typeface="Century Gothic"/>
            </a:endParaRPr>
          </a:p>
          <a:p>
            <a:pPr marL="229235" marR="5080" indent="-217170" algn="ctr">
              <a:lnSpc>
                <a:spcPct val="100000"/>
              </a:lnSpc>
            </a:pPr>
            <a:r>
              <a:rPr sz="800" i="1" dirty="0">
                <a:highlight>
                  <a:srgbClr val="00FFFF"/>
                </a:highlight>
                <a:latin typeface="Century Gothic"/>
                <a:cs typeface="Century Gothic"/>
              </a:rPr>
              <a:t>Directeur</a:t>
            </a:r>
            <a:r>
              <a:rPr sz="800" i="1" spc="-25" dirty="0">
                <a:highlight>
                  <a:srgbClr val="00FFFF"/>
                </a:highlight>
                <a:latin typeface="Century Gothic"/>
                <a:cs typeface="Century Gothic"/>
              </a:rPr>
              <a:t> </a:t>
            </a:r>
            <a:r>
              <a:rPr sz="800" i="1" dirty="0">
                <a:highlight>
                  <a:srgbClr val="00FFFF"/>
                </a:highlight>
                <a:latin typeface="Century Gothic"/>
                <a:cs typeface="Century Gothic"/>
              </a:rPr>
              <a:t>du</a:t>
            </a:r>
            <a:r>
              <a:rPr sz="800" i="1" spc="-25" dirty="0">
                <a:highlight>
                  <a:srgbClr val="00FFFF"/>
                </a:highlight>
                <a:latin typeface="Century Gothic"/>
                <a:cs typeface="Century Gothic"/>
              </a:rPr>
              <a:t> </a:t>
            </a:r>
            <a:r>
              <a:rPr sz="800" i="1" spc="-10" dirty="0" err="1">
                <a:highlight>
                  <a:srgbClr val="00FFFF"/>
                </a:highlight>
                <a:latin typeface="Century Gothic"/>
                <a:cs typeface="Century Gothic"/>
              </a:rPr>
              <a:t>proje</a:t>
            </a:r>
            <a:r>
              <a:rPr lang="fr-FR" sz="800" i="1" spc="-10" dirty="0">
                <a:highlight>
                  <a:srgbClr val="00FFFF"/>
                </a:highlight>
                <a:latin typeface="Century Gothic"/>
                <a:cs typeface="Century Gothic"/>
              </a:rPr>
              <a:t>t</a:t>
            </a:r>
          </a:p>
          <a:p>
            <a:pPr marL="229235" marR="5080" indent="-217170" algn="ctr">
              <a:lnSpc>
                <a:spcPct val="100000"/>
              </a:lnSpc>
            </a:pPr>
            <a:r>
              <a:rPr sz="800" i="1" spc="-45" dirty="0">
                <a:solidFill>
                  <a:srgbClr val="6D6E71"/>
                </a:solidFill>
                <a:highlight>
                  <a:srgbClr val="00FFFF"/>
                </a:highlight>
                <a:latin typeface="Century Gothic"/>
                <a:cs typeface="Century Gothic"/>
              </a:rPr>
              <a:t>Co-</a:t>
            </a:r>
            <a:r>
              <a:rPr sz="800" i="1" spc="-10" dirty="0" err="1">
                <a:solidFill>
                  <a:srgbClr val="6D6E71"/>
                </a:solidFill>
                <a:highlight>
                  <a:srgbClr val="00FFFF"/>
                </a:highlight>
                <a:latin typeface="Century Gothic"/>
                <a:cs typeface="Century Gothic"/>
              </a:rPr>
              <a:t>gérany</a:t>
            </a:r>
            <a:endParaRPr lang="fr-FR" sz="800" i="1" spc="-10" dirty="0">
              <a:solidFill>
                <a:srgbClr val="6D6E71"/>
              </a:solidFill>
              <a:highlight>
                <a:srgbClr val="00FFFF"/>
              </a:highlight>
              <a:latin typeface="Century Gothic"/>
              <a:cs typeface="Century Gothic"/>
            </a:endParaRPr>
          </a:p>
          <a:p>
            <a:pPr marL="229235" marR="5080" indent="-217170" algn="ctr">
              <a:lnSpc>
                <a:spcPct val="100000"/>
              </a:lnSpc>
            </a:pPr>
            <a:endParaRPr lang="fr-FR" sz="800" i="1" spc="-10" dirty="0">
              <a:solidFill>
                <a:srgbClr val="6D6E71"/>
              </a:solidFill>
              <a:highlight>
                <a:srgbClr val="00FFFF"/>
              </a:highlight>
              <a:latin typeface="Century Gothic"/>
              <a:cs typeface="Century Gothic"/>
            </a:endParaRPr>
          </a:p>
          <a:p>
            <a:pPr marL="229235" marR="5080" indent="-217170" algn="ctr">
              <a:lnSpc>
                <a:spcPct val="100000"/>
              </a:lnSpc>
            </a:pPr>
            <a:r>
              <a:rPr lang="fr-FR" sz="800" dirty="0">
                <a:highlight>
                  <a:srgbClr val="00FFFF"/>
                </a:highlight>
                <a:latin typeface="Century Gothic"/>
                <a:cs typeface="Century Gothic"/>
              </a:rPr>
              <a:t>F.</a:t>
            </a:r>
            <a:r>
              <a:rPr lang="fr-FR" sz="800" spc="-10" dirty="0">
                <a:highlight>
                  <a:srgbClr val="00FFFF"/>
                </a:highlight>
                <a:latin typeface="Century Gothic"/>
                <a:cs typeface="Century Gothic"/>
              </a:rPr>
              <a:t> RALHA</a:t>
            </a:r>
            <a:endParaRPr lang="fr-FR" sz="800" dirty="0">
              <a:highlight>
                <a:srgbClr val="00FFFF"/>
              </a:highlight>
              <a:latin typeface="Century Gothic"/>
              <a:cs typeface="Century Gothic"/>
            </a:endParaRPr>
          </a:p>
          <a:p>
            <a:pPr marL="187325" marR="5080" indent="-175260" algn="ctr">
              <a:lnSpc>
                <a:spcPct val="100000"/>
              </a:lnSpc>
            </a:pPr>
            <a:r>
              <a:rPr lang="fr-FR" sz="800" i="1" dirty="0">
                <a:highlight>
                  <a:srgbClr val="00FFFF"/>
                </a:highlight>
                <a:latin typeface="Century Gothic"/>
                <a:cs typeface="Century Gothic"/>
              </a:rPr>
              <a:t>Chef</a:t>
            </a:r>
            <a:r>
              <a:rPr lang="fr-FR" sz="800" i="1" spc="-15" dirty="0">
                <a:highlight>
                  <a:srgbClr val="00FFFF"/>
                </a:highlight>
                <a:latin typeface="Century Gothic"/>
                <a:cs typeface="Century Gothic"/>
              </a:rPr>
              <a:t> </a:t>
            </a:r>
            <a:r>
              <a:rPr lang="fr-FR" sz="800" i="1" dirty="0">
                <a:highlight>
                  <a:srgbClr val="00FFFF"/>
                </a:highlight>
                <a:latin typeface="Century Gothic"/>
                <a:cs typeface="Century Gothic"/>
              </a:rPr>
              <a:t>de</a:t>
            </a:r>
            <a:r>
              <a:rPr lang="fr-FR" sz="800" i="1" spc="-15" dirty="0">
                <a:highlight>
                  <a:srgbClr val="00FFFF"/>
                </a:highlight>
                <a:latin typeface="Century Gothic"/>
                <a:cs typeface="Century Gothic"/>
              </a:rPr>
              <a:t> </a:t>
            </a:r>
            <a:r>
              <a:rPr lang="fr-FR" sz="800" i="1" spc="-10" dirty="0">
                <a:highlight>
                  <a:srgbClr val="00FFFF"/>
                </a:highlight>
                <a:latin typeface="Century Gothic"/>
                <a:cs typeface="Century Gothic"/>
              </a:rPr>
              <a:t>projet</a:t>
            </a:r>
          </a:p>
          <a:p>
            <a:pPr marL="187325" marR="5080" indent="-175260" algn="ctr">
              <a:lnSpc>
                <a:spcPct val="100000"/>
              </a:lnSpc>
            </a:pPr>
            <a:r>
              <a:rPr lang="fr-FR" sz="800" i="1" spc="-10" dirty="0">
                <a:solidFill>
                  <a:srgbClr val="6D6E71"/>
                </a:solidFill>
                <a:highlight>
                  <a:srgbClr val="00FFFF"/>
                </a:highlight>
                <a:latin typeface="Century Gothic"/>
                <a:cs typeface="Century Gothic"/>
              </a:rPr>
              <a:t>Associé</a:t>
            </a:r>
          </a:p>
          <a:p>
            <a:pPr marL="187325" marR="5080" indent="-175260" algn="ctr">
              <a:lnSpc>
                <a:spcPct val="100000"/>
              </a:lnSpc>
            </a:pPr>
            <a:endParaRPr lang="fr-FR" sz="800" dirty="0">
              <a:highlight>
                <a:srgbClr val="00FFFF"/>
              </a:highlight>
              <a:latin typeface="Century Gothic"/>
              <a:cs typeface="Century Gothic"/>
            </a:endParaRPr>
          </a:p>
          <a:p>
            <a:pPr marL="187325" marR="5080" indent="-175260" algn="ctr">
              <a:lnSpc>
                <a:spcPct val="100000"/>
              </a:lnSpc>
            </a:pPr>
            <a:r>
              <a:rPr lang="fr-FR" sz="800" dirty="0">
                <a:highlight>
                  <a:srgbClr val="00FFFF"/>
                </a:highlight>
                <a:latin typeface="Century Gothic"/>
                <a:cs typeface="Century Gothic"/>
              </a:rPr>
              <a:t>N.</a:t>
            </a:r>
            <a:r>
              <a:rPr lang="fr-FR" sz="800" spc="-20" dirty="0">
                <a:highlight>
                  <a:srgbClr val="00FFFF"/>
                </a:highlight>
                <a:latin typeface="Century Gothic"/>
                <a:cs typeface="Century Gothic"/>
              </a:rPr>
              <a:t>HAYS</a:t>
            </a:r>
            <a:endParaRPr lang="fr-FR" sz="800" dirty="0">
              <a:highlight>
                <a:srgbClr val="00FFFF"/>
              </a:highlight>
              <a:latin typeface="Century Gothic"/>
              <a:cs typeface="Century Gothic"/>
            </a:endParaRPr>
          </a:p>
          <a:p>
            <a:pPr marL="41910" marR="5080" indent="-29845" algn="ctr">
              <a:lnSpc>
                <a:spcPct val="100000"/>
              </a:lnSpc>
            </a:pPr>
            <a:r>
              <a:rPr lang="fr-FR" sz="800" i="1" dirty="0">
                <a:highlight>
                  <a:srgbClr val="00FFFF"/>
                </a:highlight>
                <a:latin typeface="Century Gothic"/>
                <a:cs typeface="Century Gothic"/>
              </a:rPr>
              <a:t>Architecte</a:t>
            </a:r>
            <a:r>
              <a:rPr lang="fr-FR" sz="800" i="1" spc="-45" dirty="0">
                <a:highlight>
                  <a:srgbClr val="00FFFF"/>
                </a:highlight>
                <a:latin typeface="Century Gothic"/>
                <a:cs typeface="Century Gothic"/>
              </a:rPr>
              <a:t> - i</a:t>
            </a:r>
            <a:r>
              <a:rPr lang="fr-FR" sz="800" i="1" spc="-10" dirty="0">
                <a:highlight>
                  <a:srgbClr val="00FFFF"/>
                </a:highlight>
                <a:latin typeface="Century Gothic"/>
                <a:cs typeface="Century Gothic"/>
              </a:rPr>
              <a:t>ngénieure</a:t>
            </a:r>
          </a:p>
          <a:p>
            <a:pPr marL="41910" marR="5080" indent="-29845" algn="ctr">
              <a:lnSpc>
                <a:spcPct val="100000"/>
              </a:lnSpc>
            </a:pPr>
            <a:endParaRPr lang="fr-FR" sz="800" i="1" spc="-10" dirty="0">
              <a:highlight>
                <a:srgbClr val="00FFFF"/>
              </a:highlight>
              <a:latin typeface="Century Gothic"/>
              <a:cs typeface="Century Gothic"/>
            </a:endParaRPr>
          </a:p>
          <a:p>
            <a:pPr marL="41910" marR="5080" indent="-29845" algn="ctr">
              <a:lnSpc>
                <a:spcPct val="100000"/>
              </a:lnSpc>
            </a:pPr>
            <a:r>
              <a:rPr lang="fr-FR" sz="800" dirty="0">
                <a:highlight>
                  <a:srgbClr val="00FFFF"/>
                </a:highlight>
                <a:latin typeface="Century Gothic"/>
                <a:cs typeface="Century Gothic"/>
              </a:rPr>
              <a:t>C.</a:t>
            </a:r>
            <a:r>
              <a:rPr lang="fr-FR" sz="800" spc="-10" dirty="0">
                <a:highlight>
                  <a:srgbClr val="00FFFF"/>
                </a:highlight>
                <a:latin typeface="Century Gothic"/>
                <a:cs typeface="Century Gothic"/>
              </a:rPr>
              <a:t> </a:t>
            </a:r>
            <a:r>
              <a:rPr lang="fr-FR" sz="800" spc="-20" dirty="0">
                <a:highlight>
                  <a:srgbClr val="00FFFF"/>
                </a:highlight>
                <a:latin typeface="Century Gothic"/>
                <a:cs typeface="Century Gothic"/>
              </a:rPr>
              <a:t>BIAN</a:t>
            </a:r>
            <a:endParaRPr lang="fr-FR" sz="800" dirty="0">
              <a:highlight>
                <a:srgbClr val="00FFFF"/>
              </a:highlight>
              <a:latin typeface="Century Gothic"/>
              <a:cs typeface="Century Gothic"/>
            </a:endParaRPr>
          </a:p>
          <a:p>
            <a:pPr marL="12700" algn="ctr">
              <a:lnSpc>
                <a:spcPct val="100000"/>
              </a:lnSpc>
            </a:pPr>
            <a:r>
              <a:rPr lang="fr-FR" sz="800" i="1" dirty="0">
                <a:highlight>
                  <a:srgbClr val="00FFFF"/>
                </a:highlight>
                <a:latin typeface="Century Gothic"/>
                <a:cs typeface="Century Gothic"/>
              </a:rPr>
              <a:t>Assistante</a:t>
            </a:r>
            <a:r>
              <a:rPr lang="fr-FR" sz="800" i="1" spc="-40" dirty="0">
                <a:highlight>
                  <a:srgbClr val="00FFFF"/>
                </a:highlight>
                <a:latin typeface="Century Gothic"/>
                <a:cs typeface="Century Gothic"/>
              </a:rPr>
              <a:t> </a:t>
            </a:r>
            <a:r>
              <a:rPr lang="fr-FR" sz="800" i="1" spc="-10" dirty="0">
                <a:highlight>
                  <a:srgbClr val="00FFFF"/>
                </a:highlight>
                <a:latin typeface="Century Gothic"/>
                <a:cs typeface="Century Gothic"/>
              </a:rPr>
              <a:t>technique</a:t>
            </a:r>
            <a:endParaRPr lang="fr-FR" sz="800" dirty="0">
              <a:highlight>
                <a:srgbClr val="00FFFF"/>
              </a:highlight>
              <a:latin typeface="Century Gothic"/>
              <a:cs typeface="Century Gothic"/>
            </a:endParaRPr>
          </a:p>
        </p:txBody>
      </p:sp>
      <p:sp>
        <p:nvSpPr>
          <p:cNvPr id="102" name="object 43">
            <a:extLst>
              <a:ext uri="{FF2B5EF4-FFF2-40B4-BE49-F238E27FC236}">
                <a16:creationId xmlns:a16="http://schemas.microsoft.com/office/drawing/2014/main" id="{C8CF1B0D-0C80-8D14-E714-9E28F1444D75}"/>
              </a:ext>
            </a:extLst>
          </p:cNvPr>
          <p:cNvSpPr txBox="1"/>
          <p:nvPr/>
        </p:nvSpPr>
        <p:spPr>
          <a:xfrm>
            <a:off x="3491769" y="4028636"/>
            <a:ext cx="1001415" cy="1982594"/>
          </a:xfrm>
          <a:prstGeom prst="rect">
            <a:avLst/>
          </a:prstGeom>
        </p:spPr>
        <p:txBody>
          <a:bodyPr vert="horz" wrap="square" lIns="0" tIns="12700" rIns="0" bIns="0" rtlCol="0">
            <a:spAutoFit/>
          </a:bodyPr>
          <a:lstStyle/>
          <a:p>
            <a:pPr marL="229235" marR="5080" indent="-217170" algn="ctr"/>
            <a:r>
              <a:rPr lang="fr-FR" sz="800" dirty="0">
                <a:latin typeface="Century Gothic"/>
                <a:cs typeface="Century Gothic"/>
              </a:rPr>
              <a:t>F. MEGHIT</a:t>
            </a:r>
          </a:p>
          <a:p>
            <a:pPr marL="229235" marR="5080" indent="-217170" algn="ctr">
              <a:lnSpc>
                <a:spcPct val="100000"/>
              </a:lnSpc>
            </a:pPr>
            <a:r>
              <a:rPr sz="800" i="1" dirty="0">
                <a:latin typeface="Century Gothic"/>
                <a:cs typeface="Century Gothic"/>
              </a:rPr>
              <a:t>Direct</a:t>
            </a:r>
            <a:r>
              <a:rPr lang="fr-FR" sz="800" i="1" dirty="0" err="1">
                <a:latin typeface="Century Gothic"/>
                <a:cs typeface="Century Gothic"/>
              </a:rPr>
              <a:t>rice</a:t>
            </a:r>
            <a:r>
              <a:rPr sz="800" i="1" spc="-25" dirty="0">
                <a:latin typeface="Century Gothic"/>
                <a:cs typeface="Century Gothic"/>
              </a:rPr>
              <a:t> </a:t>
            </a:r>
            <a:r>
              <a:rPr sz="800" i="1" dirty="0">
                <a:latin typeface="Century Gothic"/>
                <a:cs typeface="Century Gothic"/>
              </a:rPr>
              <a:t>d</a:t>
            </a:r>
            <a:r>
              <a:rPr lang="fr-FR" sz="800" i="1" dirty="0">
                <a:latin typeface="Century Gothic"/>
                <a:cs typeface="Century Gothic"/>
              </a:rPr>
              <a:t>e</a:t>
            </a:r>
            <a:r>
              <a:rPr sz="800" i="1" spc="-25" dirty="0">
                <a:latin typeface="Century Gothic"/>
                <a:cs typeface="Century Gothic"/>
              </a:rPr>
              <a:t> </a:t>
            </a:r>
            <a:r>
              <a:rPr sz="800" i="1" spc="-10" dirty="0" err="1">
                <a:latin typeface="Century Gothic"/>
                <a:cs typeface="Century Gothic"/>
              </a:rPr>
              <a:t>proje</a:t>
            </a:r>
            <a:r>
              <a:rPr lang="fr-FR" sz="800" i="1" spc="-10" dirty="0">
                <a:latin typeface="Century Gothic"/>
                <a:cs typeface="Century Gothic"/>
              </a:rPr>
              <a:t>t</a:t>
            </a:r>
          </a:p>
          <a:p>
            <a:pPr marL="229235" marR="5080" indent="-217170" algn="ctr">
              <a:lnSpc>
                <a:spcPct val="100000"/>
              </a:lnSpc>
            </a:pPr>
            <a:r>
              <a:rPr lang="fr-FR" sz="800" i="1" spc="-45" dirty="0">
                <a:solidFill>
                  <a:srgbClr val="6D6E71"/>
                </a:solidFill>
                <a:latin typeface="Century Gothic"/>
                <a:cs typeface="Century Gothic"/>
              </a:rPr>
              <a:t>Directrice générale</a:t>
            </a:r>
            <a:endParaRPr lang="fr-FR" sz="800" i="1" spc="-10" dirty="0">
              <a:solidFill>
                <a:srgbClr val="6D6E71"/>
              </a:solidFill>
              <a:latin typeface="Century Gothic"/>
              <a:cs typeface="Century Gothic"/>
            </a:endParaRPr>
          </a:p>
          <a:p>
            <a:pPr marL="229235" marR="5080" indent="-217170" algn="ctr">
              <a:lnSpc>
                <a:spcPct val="100000"/>
              </a:lnSpc>
            </a:pPr>
            <a:endParaRPr lang="fr-FR" sz="800" i="1" spc="-10" dirty="0">
              <a:solidFill>
                <a:srgbClr val="6D6E71"/>
              </a:solidFill>
              <a:latin typeface="Century Gothic"/>
              <a:cs typeface="Century Gothic"/>
            </a:endParaRPr>
          </a:p>
          <a:p>
            <a:pPr marL="229235" marR="5080" indent="-217170" algn="ctr">
              <a:lnSpc>
                <a:spcPct val="100000"/>
              </a:lnSpc>
            </a:pPr>
            <a:r>
              <a:rPr lang="fr-FR" sz="800" dirty="0">
                <a:latin typeface="Century Gothic"/>
                <a:cs typeface="Century Gothic"/>
              </a:rPr>
              <a:t>Y. ROJAS</a:t>
            </a:r>
          </a:p>
          <a:p>
            <a:pPr marL="187325" marR="5080" indent="-175260" algn="ctr">
              <a:lnSpc>
                <a:spcPct val="100000"/>
              </a:lnSpc>
            </a:pPr>
            <a:r>
              <a:rPr lang="fr-FR" sz="800" i="1" dirty="0">
                <a:latin typeface="Century Gothic"/>
                <a:cs typeface="Century Gothic"/>
              </a:rPr>
              <a:t>Chef</a:t>
            </a:r>
            <a:r>
              <a:rPr lang="fr-FR" sz="800" i="1" spc="-15" dirty="0">
                <a:latin typeface="Century Gothic"/>
                <a:cs typeface="Century Gothic"/>
              </a:rPr>
              <a:t> </a:t>
            </a:r>
            <a:r>
              <a:rPr lang="fr-FR" sz="800" i="1" dirty="0">
                <a:latin typeface="Century Gothic"/>
                <a:cs typeface="Century Gothic"/>
              </a:rPr>
              <a:t>de</a:t>
            </a:r>
            <a:r>
              <a:rPr lang="fr-FR" sz="800" i="1" spc="-15" dirty="0">
                <a:latin typeface="Century Gothic"/>
                <a:cs typeface="Century Gothic"/>
              </a:rPr>
              <a:t> </a:t>
            </a:r>
            <a:r>
              <a:rPr lang="fr-FR" sz="800" i="1" spc="-10" dirty="0">
                <a:latin typeface="Century Gothic"/>
                <a:cs typeface="Century Gothic"/>
              </a:rPr>
              <a:t>projet</a:t>
            </a:r>
          </a:p>
          <a:p>
            <a:pPr marL="187325" marR="5080" indent="-175260" algn="ctr">
              <a:lnSpc>
                <a:spcPct val="100000"/>
              </a:lnSpc>
            </a:pPr>
            <a:r>
              <a:rPr lang="fr-FR" sz="800" i="1" spc="-10" dirty="0">
                <a:solidFill>
                  <a:srgbClr val="6D6E71"/>
                </a:solidFill>
                <a:latin typeface="Century Gothic"/>
                <a:cs typeface="Century Gothic"/>
              </a:rPr>
              <a:t>Associé</a:t>
            </a:r>
          </a:p>
          <a:p>
            <a:pPr marL="187325" marR="5080" indent="-175260" algn="ctr">
              <a:lnSpc>
                <a:spcPct val="100000"/>
              </a:lnSpc>
            </a:pPr>
            <a:endParaRPr lang="fr-FR" sz="800" dirty="0">
              <a:latin typeface="Century Gothic"/>
              <a:cs typeface="Century Gothic"/>
            </a:endParaRPr>
          </a:p>
          <a:p>
            <a:pPr marL="187325" marR="5080" indent="-175260" algn="ctr">
              <a:lnSpc>
                <a:spcPct val="100000"/>
              </a:lnSpc>
            </a:pPr>
            <a:r>
              <a:rPr lang="fr-FR" sz="800" dirty="0">
                <a:latin typeface="Century Gothic"/>
                <a:cs typeface="Century Gothic"/>
              </a:rPr>
              <a:t>D. JEAN MARIE DESIREE</a:t>
            </a:r>
          </a:p>
          <a:p>
            <a:pPr marL="41910" marR="5080" indent="-29845" algn="ctr">
              <a:lnSpc>
                <a:spcPct val="100000"/>
              </a:lnSpc>
            </a:pPr>
            <a:r>
              <a:rPr lang="fr-FR" sz="800" i="1" dirty="0">
                <a:latin typeface="Century Gothic"/>
                <a:cs typeface="Century Gothic"/>
              </a:rPr>
              <a:t>Economiste</a:t>
            </a:r>
            <a:r>
              <a:rPr lang="fr-FR" sz="800" i="1" spc="-45" dirty="0">
                <a:latin typeface="Century Gothic"/>
                <a:cs typeface="Century Gothic"/>
              </a:rPr>
              <a:t> – i</a:t>
            </a:r>
            <a:r>
              <a:rPr lang="fr-FR" sz="800" i="1" spc="-10" dirty="0">
                <a:latin typeface="Century Gothic"/>
                <a:cs typeface="Century Gothic"/>
              </a:rPr>
              <a:t>ngénieur BTP</a:t>
            </a:r>
          </a:p>
          <a:p>
            <a:pPr marL="41910" marR="5080" indent="-29845" algn="ctr">
              <a:lnSpc>
                <a:spcPct val="100000"/>
              </a:lnSpc>
            </a:pPr>
            <a:endParaRPr lang="fr-FR" sz="800" i="1" spc="-10" dirty="0">
              <a:latin typeface="Century Gothic"/>
              <a:cs typeface="Century Gothic"/>
            </a:endParaRPr>
          </a:p>
          <a:p>
            <a:pPr marL="41910" marR="5080" indent="-29845" algn="ctr">
              <a:lnSpc>
                <a:spcPct val="100000"/>
              </a:lnSpc>
            </a:pPr>
            <a:r>
              <a:rPr lang="fr-FR" sz="800" dirty="0">
                <a:latin typeface="Century Gothic"/>
                <a:cs typeface="Century Gothic"/>
              </a:rPr>
              <a:t>S. TRONQUET</a:t>
            </a:r>
          </a:p>
          <a:p>
            <a:pPr marL="12700" algn="ctr">
              <a:lnSpc>
                <a:spcPct val="100000"/>
              </a:lnSpc>
            </a:pPr>
            <a:r>
              <a:rPr lang="fr-FR" sz="800" i="1" dirty="0">
                <a:latin typeface="Century Gothic"/>
                <a:cs typeface="Century Gothic"/>
              </a:rPr>
              <a:t>Assistante</a:t>
            </a:r>
            <a:r>
              <a:rPr lang="fr-FR" sz="800" i="1" spc="-40" dirty="0">
                <a:latin typeface="Century Gothic"/>
                <a:cs typeface="Century Gothic"/>
              </a:rPr>
              <a:t> </a:t>
            </a:r>
            <a:r>
              <a:rPr lang="fr-FR" sz="800" i="1" spc="-10" dirty="0">
                <a:latin typeface="Century Gothic"/>
                <a:cs typeface="Century Gothic"/>
              </a:rPr>
              <a:t>technique</a:t>
            </a:r>
            <a:endParaRPr lang="fr-FR" sz="800" dirty="0">
              <a:latin typeface="Century Gothic"/>
              <a:cs typeface="Century Gothic"/>
            </a:endParaRPr>
          </a:p>
        </p:txBody>
      </p:sp>
      <p:sp>
        <p:nvSpPr>
          <p:cNvPr id="103" name="object 43">
            <a:extLst>
              <a:ext uri="{FF2B5EF4-FFF2-40B4-BE49-F238E27FC236}">
                <a16:creationId xmlns:a16="http://schemas.microsoft.com/office/drawing/2014/main" id="{A71BB875-FD8D-D335-6639-0C6903F0214D}"/>
              </a:ext>
            </a:extLst>
          </p:cNvPr>
          <p:cNvSpPr txBox="1"/>
          <p:nvPr/>
        </p:nvSpPr>
        <p:spPr>
          <a:xfrm>
            <a:off x="6404352" y="3940057"/>
            <a:ext cx="952500" cy="1859483"/>
          </a:xfrm>
          <a:prstGeom prst="rect">
            <a:avLst/>
          </a:prstGeom>
        </p:spPr>
        <p:txBody>
          <a:bodyPr vert="horz" wrap="square" lIns="0" tIns="12700" rIns="0" bIns="0" rtlCol="0">
            <a:spAutoFit/>
          </a:bodyPr>
          <a:lstStyle/>
          <a:p>
            <a:pPr marL="229235" marR="5080" indent="-217170" algn="ctr"/>
            <a:r>
              <a:rPr lang="fr-FR" sz="800" dirty="0">
                <a:highlight>
                  <a:srgbClr val="00FF00"/>
                </a:highlight>
                <a:latin typeface="Century Gothic"/>
                <a:cs typeface="Century Gothic"/>
              </a:rPr>
              <a:t>L.</a:t>
            </a:r>
            <a:r>
              <a:rPr lang="fr-FR" sz="800" spc="-15" dirty="0">
                <a:highlight>
                  <a:srgbClr val="00FF00"/>
                </a:highlight>
                <a:latin typeface="Century Gothic"/>
                <a:cs typeface="Century Gothic"/>
              </a:rPr>
              <a:t> </a:t>
            </a:r>
            <a:r>
              <a:rPr lang="fr-FR" sz="800" spc="-25" dirty="0">
                <a:highlight>
                  <a:srgbClr val="00FF00"/>
                </a:highlight>
                <a:latin typeface="Century Gothic"/>
                <a:cs typeface="Century Gothic"/>
              </a:rPr>
              <a:t>JAN</a:t>
            </a:r>
            <a:endParaRPr lang="fr-FR" sz="800" dirty="0">
              <a:highlight>
                <a:srgbClr val="00FF00"/>
              </a:highlight>
              <a:latin typeface="Century Gothic"/>
              <a:cs typeface="Century Gothic"/>
            </a:endParaRPr>
          </a:p>
          <a:p>
            <a:pPr marL="229235" marR="5080" indent="-217170" algn="ctr">
              <a:lnSpc>
                <a:spcPct val="100000"/>
              </a:lnSpc>
            </a:pPr>
            <a:r>
              <a:rPr sz="800" i="1" dirty="0">
                <a:highlight>
                  <a:srgbClr val="00FF00"/>
                </a:highlight>
                <a:latin typeface="Century Gothic"/>
                <a:cs typeface="Century Gothic"/>
              </a:rPr>
              <a:t>Directeur</a:t>
            </a:r>
            <a:r>
              <a:rPr sz="800" i="1" spc="-25" dirty="0">
                <a:highlight>
                  <a:srgbClr val="00FF00"/>
                </a:highlight>
                <a:latin typeface="Century Gothic"/>
                <a:cs typeface="Century Gothic"/>
              </a:rPr>
              <a:t> </a:t>
            </a:r>
            <a:r>
              <a:rPr sz="800" i="1" dirty="0">
                <a:highlight>
                  <a:srgbClr val="00FF00"/>
                </a:highlight>
                <a:latin typeface="Century Gothic"/>
                <a:cs typeface="Century Gothic"/>
              </a:rPr>
              <a:t>du</a:t>
            </a:r>
            <a:r>
              <a:rPr sz="800" i="1" spc="-25" dirty="0">
                <a:highlight>
                  <a:srgbClr val="00FF00"/>
                </a:highlight>
                <a:latin typeface="Century Gothic"/>
                <a:cs typeface="Century Gothic"/>
              </a:rPr>
              <a:t> </a:t>
            </a:r>
            <a:r>
              <a:rPr sz="800" i="1" spc="-10" dirty="0" err="1">
                <a:highlight>
                  <a:srgbClr val="00FF00"/>
                </a:highlight>
                <a:latin typeface="Century Gothic"/>
                <a:cs typeface="Century Gothic"/>
              </a:rPr>
              <a:t>proje</a:t>
            </a:r>
            <a:r>
              <a:rPr lang="fr-FR" sz="800" i="1" spc="-10" dirty="0">
                <a:highlight>
                  <a:srgbClr val="00FF00"/>
                </a:highlight>
                <a:latin typeface="Century Gothic"/>
                <a:cs typeface="Century Gothic"/>
              </a:rPr>
              <a:t>t</a:t>
            </a:r>
          </a:p>
          <a:p>
            <a:pPr marL="229235" marR="5080" indent="-217170" algn="ctr">
              <a:lnSpc>
                <a:spcPct val="100000"/>
              </a:lnSpc>
            </a:pPr>
            <a:r>
              <a:rPr sz="800" i="1" spc="-45" dirty="0">
                <a:solidFill>
                  <a:srgbClr val="6D6E71"/>
                </a:solidFill>
                <a:highlight>
                  <a:srgbClr val="00FF00"/>
                </a:highlight>
                <a:latin typeface="Century Gothic"/>
                <a:cs typeface="Century Gothic"/>
              </a:rPr>
              <a:t>Co-</a:t>
            </a:r>
            <a:r>
              <a:rPr sz="800" i="1" spc="-10" dirty="0" err="1">
                <a:solidFill>
                  <a:srgbClr val="6D6E71"/>
                </a:solidFill>
                <a:highlight>
                  <a:srgbClr val="00FF00"/>
                </a:highlight>
                <a:latin typeface="Century Gothic"/>
                <a:cs typeface="Century Gothic"/>
              </a:rPr>
              <a:t>gérany</a:t>
            </a:r>
            <a:endParaRPr lang="fr-FR" sz="800" i="1" spc="-10" dirty="0">
              <a:solidFill>
                <a:srgbClr val="6D6E71"/>
              </a:solidFill>
              <a:highlight>
                <a:srgbClr val="00FF00"/>
              </a:highlight>
              <a:latin typeface="Century Gothic"/>
              <a:cs typeface="Century Gothic"/>
            </a:endParaRPr>
          </a:p>
          <a:p>
            <a:pPr marL="229235" marR="5080" indent="-217170" algn="ctr">
              <a:lnSpc>
                <a:spcPct val="100000"/>
              </a:lnSpc>
            </a:pPr>
            <a:endParaRPr lang="fr-FR" sz="800" i="1" spc="-10" dirty="0">
              <a:solidFill>
                <a:srgbClr val="6D6E71"/>
              </a:solidFill>
              <a:highlight>
                <a:srgbClr val="00FF00"/>
              </a:highlight>
              <a:latin typeface="Century Gothic"/>
              <a:cs typeface="Century Gothic"/>
            </a:endParaRPr>
          </a:p>
          <a:p>
            <a:pPr marL="229235" marR="5080" indent="-217170" algn="ctr">
              <a:lnSpc>
                <a:spcPct val="100000"/>
              </a:lnSpc>
            </a:pPr>
            <a:r>
              <a:rPr lang="fr-FR" sz="800" dirty="0">
                <a:highlight>
                  <a:srgbClr val="00FF00"/>
                </a:highlight>
                <a:latin typeface="Century Gothic"/>
                <a:cs typeface="Century Gothic"/>
              </a:rPr>
              <a:t>F.</a:t>
            </a:r>
            <a:r>
              <a:rPr lang="fr-FR" sz="800" spc="-10" dirty="0">
                <a:highlight>
                  <a:srgbClr val="00FF00"/>
                </a:highlight>
                <a:latin typeface="Century Gothic"/>
                <a:cs typeface="Century Gothic"/>
              </a:rPr>
              <a:t> RALHA</a:t>
            </a:r>
            <a:endParaRPr lang="fr-FR" sz="800" dirty="0">
              <a:highlight>
                <a:srgbClr val="00FF00"/>
              </a:highlight>
              <a:latin typeface="Century Gothic"/>
              <a:cs typeface="Century Gothic"/>
            </a:endParaRPr>
          </a:p>
          <a:p>
            <a:pPr marL="187325" marR="5080" indent="-175260" algn="ctr">
              <a:lnSpc>
                <a:spcPct val="100000"/>
              </a:lnSpc>
            </a:pPr>
            <a:r>
              <a:rPr lang="fr-FR" sz="800" i="1" dirty="0">
                <a:highlight>
                  <a:srgbClr val="00FF00"/>
                </a:highlight>
                <a:latin typeface="Century Gothic"/>
                <a:cs typeface="Century Gothic"/>
              </a:rPr>
              <a:t>Chef</a:t>
            </a:r>
            <a:r>
              <a:rPr lang="fr-FR" sz="800" i="1" spc="-15" dirty="0">
                <a:highlight>
                  <a:srgbClr val="00FF00"/>
                </a:highlight>
                <a:latin typeface="Century Gothic"/>
                <a:cs typeface="Century Gothic"/>
              </a:rPr>
              <a:t> </a:t>
            </a:r>
            <a:r>
              <a:rPr lang="fr-FR" sz="800" i="1" dirty="0">
                <a:highlight>
                  <a:srgbClr val="00FF00"/>
                </a:highlight>
                <a:latin typeface="Century Gothic"/>
                <a:cs typeface="Century Gothic"/>
              </a:rPr>
              <a:t>de</a:t>
            </a:r>
            <a:r>
              <a:rPr lang="fr-FR" sz="800" i="1" spc="-15" dirty="0">
                <a:highlight>
                  <a:srgbClr val="00FF00"/>
                </a:highlight>
                <a:latin typeface="Century Gothic"/>
                <a:cs typeface="Century Gothic"/>
              </a:rPr>
              <a:t> </a:t>
            </a:r>
            <a:r>
              <a:rPr lang="fr-FR" sz="800" i="1" spc="-10" dirty="0">
                <a:highlight>
                  <a:srgbClr val="00FF00"/>
                </a:highlight>
                <a:latin typeface="Century Gothic"/>
                <a:cs typeface="Century Gothic"/>
              </a:rPr>
              <a:t>projet</a:t>
            </a:r>
          </a:p>
          <a:p>
            <a:pPr marL="187325" marR="5080" indent="-175260" algn="ctr">
              <a:lnSpc>
                <a:spcPct val="100000"/>
              </a:lnSpc>
            </a:pPr>
            <a:r>
              <a:rPr lang="fr-FR" sz="800" i="1" spc="-10" dirty="0">
                <a:solidFill>
                  <a:srgbClr val="6D6E71"/>
                </a:solidFill>
                <a:highlight>
                  <a:srgbClr val="00FF00"/>
                </a:highlight>
                <a:latin typeface="Century Gothic"/>
                <a:cs typeface="Century Gothic"/>
              </a:rPr>
              <a:t>Associé</a:t>
            </a:r>
          </a:p>
          <a:p>
            <a:pPr marL="187325" marR="5080" indent="-175260" algn="ctr">
              <a:lnSpc>
                <a:spcPct val="100000"/>
              </a:lnSpc>
            </a:pPr>
            <a:endParaRPr lang="fr-FR" sz="800" dirty="0">
              <a:highlight>
                <a:srgbClr val="00FF00"/>
              </a:highlight>
              <a:latin typeface="Century Gothic"/>
              <a:cs typeface="Century Gothic"/>
            </a:endParaRPr>
          </a:p>
          <a:p>
            <a:pPr marL="187325" marR="5080" indent="-175260" algn="ctr">
              <a:lnSpc>
                <a:spcPct val="100000"/>
              </a:lnSpc>
            </a:pPr>
            <a:r>
              <a:rPr lang="fr-FR" sz="800" dirty="0">
                <a:highlight>
                  <a:srgbClr val="00FF00"/>
                </a:highlight>
                <a:latin typeface="Century Gothic"/>
                <a:cs typeface="Century Gothic"/>
              </a:rPr>
              <a:t>N.</a:t>
            </a:r>
            <a:r>
              <a:rPr lang="fr-FR" sz="800" spc="-20" dirty="0">
                <a:highlight>
                  <a:srgbClr val="00FF00"/>
                </a:highlight>
                <a:latin typeface="Century Gothic"/>
                <a:cs typeface="Century Gothic"/>
              </a:rPr>
              <a:t>HAYS</a:t>
            </a:r>
            <a:endParaRPr lang="fr-FR" sz="800" dirty="0">
              <a:highlight>
                <a:srgbClr val="00FF00"/>
              </a:highlight>
              <a:latin typeface="Century Gothic"/>
              <a:cs typeface="Century Gothic"/>
            </a:endParaRPr>
          </a:p>
          <a:p>
            <a:pPr marL="41910" marR="5080" indent="-29845" algn="ctr">
              <a:lnSpc>
                <a:spcPct val="100000"/>
              </a:lnSpc>
            </a:pPr>
            <a:r>
              <a:rPr lang="fr-FR" sz="800" i="1" dirty="0">
                <a:highlight>
                  <a:srgbClr val="00FF00"/>
                </a:highlight>
                <a:latin typeface="Century Gothic"/>
                <a:cs typeface="Century Gothic"/>
              </a:rPr>
              <a:t>Architecte</a:t>
            </a:r>
            <a:r>
              <a:rPr lang="fr-FR" sz="800" i="1" spc="-45" dirty="0">
                <a:highlight>
                  <a:srgbClr val="00FF00"/>
                </a:highlight>
                <a:latin typeface="Century Gothic"/>
                <a:cs typeface="Century Gothic"/>
              </a:rPr>
              <a:t> - i</a:t>
            </a:r>
            <a:r>
              <a:rPr lang="fr-FR" sz="800" i="1" spc="-10" dirty="0">
                <a:highlight>
                  <a:srgbClr val="00FF00"/>
                </a:highlight>
                <a:latin typeface="Century Gothic"/>
                <a:cs typeface="Century Gothic"/>
              </a:rPr>
              <a:t>ngénieure</a:t>
            </a:r>
          </a:p>
          <a:p>
            <a:pPr marL="41910" marR="5080" indent="-29845" algn="ctr">
              <a:lnSpc>
                <a:spcPct val="100000"/>
              </a:lnSpc>
            </a:pPr>
            <a:endParaRPr lang="fr-FR" sz="800" i="1" spc="-10" dirty="0">
              <a:highlight>
                <a:srgbClr val="00FF00"/>
              </a:highlight>
              <a:latin typeface="Century Gothic"/>
              <a:cs typeface="Century Gothic"/>
            </a:endParaRPr>
          </a:p>
          <a:p>
            <a:pPr marL="41910" marR="5080" indent="-29845" algn="ctr">
              <a:lnSpc>
                <a:spcPct val="100000"/>
              </a:lnSpc>
            </a:pPr>
            <a:r>
              <a:rPr lang="fr-FR" sz="800" dirty="0">
                <a:highlight>
                  <a:srgbClr val="00FF00"/>
                </a:highlight>
                <a:latin typeface="Century Gothic"/>
                <a:cs typeface="Century Gothic"/>
              </a:rPr>
              <a:t>C.</a:t>
            </a:r>
            <a:r>
              <a:rPr lang="fr-FR" sz="800" spc="-10" dirty="0">
                <a:highlight>
                  <a:srgbClr val="00FF00"/>
                </a:highlight>
                <a:latin typeface="Century Gothic"/>
                <a:cs typeface="Century Gothic"/>
              </a:rPr>
              <a:t> </a:t>
            </a:r>
            <a:r>
              <a:rPr lang="fr-FR" sz="800" spc="-20" dirty="0">
                <a:highlight>
                  <a:srgbClr val="00FF00"/>
                </a:highlight>
                <a:latin typeface="Century Gothic"/>
                <a:cs typeface="Century Gothic"/>
              </a:rPr>
              <a:t>BIAN</a:t>
            </a:r>
            <a:endParaRPr lang="fr-FR" sz="800" dirty="0">
              <a:highlight>
                <a:srgbClr val="00FF00"/>
              </a:highlight>
              <a:latin typeface="Century Gothic"/>
              <a:cs typeface="Century Gothic"/>
            </a:endParaRPr>
          </a:p>
          <a:p>
            <a:pPr marL="12700" algn="ctr">
              <a:lnSpc>
                <a:spcPct val="100000"/>
              </a:lnSpc>
            </a:pPr>
            <a:r>
              <a:rPr lang="fr-FR" sz="800" i="1" dirty="0">
                <a:highlight>
                  <a:srgbClr val="00FF00"/>
                </a:highlight>
                <a:latin typeface="Century Gothic"/>
                <a:cs typeface="Century Gothic"/>
              </a:rPr>
              <a:t>Assistante</a:t>
            </a:r>
            <a:r>
              <a:rPr lang="fr-FR" sz="800" i="1" spc="-40" dirty="0">
                <a:highlight>
                  <a:srgbClr val="00FF00"/>
                </a:highlight>
                <a:latin typeface="Century Gothic"/>
                <a:cs typeface="Century Gothic"/>
              </a:rPr>
              <a:t> </a:t>
            </a:r>
            <a:r>
              <a:rPr lang="fr-FR" sz="800" i="1" spc="-10" dirty="0">
                <a:highlight>
                  <a:srgbClr val="00FF00"/>
                </a:highlight>
                <a:latin typeface="Century Gothic"/>
                <a:cs typeface="Century Gothic"/>
              </a:rPr>
              <a:t>technique</a:t>
            </a:r>
            <a:endParaRPr lang="fr-FR" sz="800" dirty="0">
              <a:highlight>
                <a:srgbClr val="00FF00"/>
              </a:highlight>
              <a:latin typeface="Century Gothic"/>
              <a:cs typeface="Century Gothic"/>
            </a:endParaRPr>
          </a:p>
        </p:txBody>
      </p:sp>
      <p:sp>
        <p:nvSpPr>
          <p:cNvPr id="104" name="Rectangle 103">
            <a:extLst>
              <a:ext uri="{FF2B5EF4-FFF2-40B4-BE49-F238E27FC236}">
                <a16:creationId xmlns:a16="http://schemas.microsoft.com/office/drawing/2014/main" id="{9946D64A-0706-5935-5F61-F4F15AD5C216}"/>
              </a:ext>
            </a:extLst>
          </p:cNvPr>
          <p:cNvSpPr/>
          <p:nvPr/>
        </p:nvSpPr>
        <p:spPr>
          <a:xfrm>
            <a:off x="4889757" y="2528763"/>
            <a:ext cx="1075075" cy="284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dirty="0"/>
              <a:t>BET fluides thermique perf </a:t>
            </a:r>
            <a:r>
              <a:rPr lang="fr-FR" sz="800" dirty="0" err="1"/>
              <a:t>energ</a:t>
            </a:r>
            <a:endParaRPr lang="fr-FR" sz="800" dirty="0"/>
          </a:p>
        </p:txBody>
      </p:sp>
      <p:pic>
        <p:nvPicPr>
          <p:cNvPr id="105" name="Image 104">
            <a:extLst>
              <a:ext uri="{FF2B5EF4-FFF2-40B4-BE49-F238E27FC236}">
                <a16:creationId xmlns:a16="http://schemas.microsoft.com/office/drawing/2014/main" id="{58353229-4302-E3C0-ABCB-AD07DFC3FF7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83854" y="2568547"/>
            <a:ext cx="1193496" cy="217482"/>
          </a:xfrm>
          <a:prstGeom prst="rect">
            <a:avLst/>
          </a:prstGeom>
        </p:spPr>
      </p:pic>
      <p:sp>
        <p:nvSpPr>
          <p:cNvPr id="106" name="object 34">
            <a:extLst>
              <a:ext uri="{FF2B5EF4-FFF2-40B4-BE49-F238E27FC236}">
                <a16:creationId xmlns:a16="http://schemas.microsoft.com/office/drawing/2014/main" id="{E14BEA86-4F71-37F2-CE89-72FFC47AF749}"/>
              </a:ext>
            </a:extLst>
          </p:cNvPr>
          <p:cNvSpPr txBox="1"/>
          <p:nvPr/>
        </p:nvSpPr>
        <p:spPr>
          <a:xfrm>
            <a:off x="8049240" y="2906446"/>
            <a:ext cx="842644" cy="197490"/>
          </a:xfrm>
          <a:prstGeom prst="rect">
            <a:avLst/>
          </a:prstGeom>
        </p:spPr>
        <p:txBody>
          <a:bodyPr vert="horz" wrap="square" lIns="0" tIns="12700" rIns="0" bIns="0" rtlCol="0">
            <a:spAutoFit/>
          </a:bodyPr>
          <a:lstStyle/>
          <a:p>
            <a:pPr marL="12700" marR="5080" indent="80645">
              <a:lnSpc>
                <a:spcPct val="100000"/>
              </a:lnSpc>
              <a:spcBef>
                <a:spcPts val="100"/>
              </a:spcBef>
            </a:pPr>
            <a:r>
              <a:rPr lang="fr-FR" sz="600" dirty="0" err="1">
                <a:highlight>
                  <a:srgbClr val="FF00FF"/>
                </a:highlight>
                <a:latin typeface="Century Gothic"/>
                <a:cs typeface="Century Gothic"/>
              </a:rPr>
              <a:t>Xxxxxx</a:t>
            </a:r>
            <a:r>
              <a:rPr lang="fr-FR" sz="600" dirty="0">
                <a:highlight>
                  <a:srgbClr val="FF00FF"/>
                </a:highlight>
                <a:latin typeface="Century Gothic"/>
                <a:cs typeface="Century Gothic"/>
              </a:rPr>
              <a:t> </a:t>
            </a:r>
            <a:r>
              <a:rPr lang="fr-FR" sz="600" spc="-10" dirty="0">
                <a:highlight>
                  <a:srgbClr val="FF00FF"/>
                </a:highlight>
                <a:latin typeface="Century Gothic"/>
                <a:cs typeface="Century Gothic"/>
              </a:rPr>
              <a:t>XXXXX</a:t>
            </a:r>
            <a:r>
              <a:rPr lang="fr-FR" sz="600" spc="500" dirty="0">
                <a:highlight>
                  <a:srgbClr val="FF00FF"/>
                </a:highlight>
                <a:latin typeface="Century Gothic"/>
                <a:cs typeface="Century Gothic"/>
              </a:rPr>
              <a:t> </a:t>
            </a:r>
            <a:r>
              <a:rPr lang="fr-FR" sz="600" dirty="0">
                <a:highlight>
                  <a:srgbClr val="FF00FF"/>
                </a:highlight>
                <a:latin typeface="Century Gothic"/>
                <a:cs typeface="Century Gothic"/>
              </a:rPr>
              <a:t>Interlocuteur </a:t>
            </a:r>
            <a:r>
              <a:rPr lang="fr-FR" sz="600" spc="-10" dirty="0">
                <a:highlight>
                  <a:srgbClr val="FF00FF"/>
                </a:highlight>
                <a:latin typeface="Century Gothic"/>
                <a:cs typeface="Century Gothic"/>
              </a:rPr>
              <a:t>privilégié</a:t>
            </a:r>
            <a:endParaRPr lang="fr-FR" sz="600" dirty="0">
              <a:highlight>
                <a:srgbClr val="FF00FF"/>
              </a:highlight>
              <a:latin typeface="Century Gothic"/>
              <a:cs typeface="Century Gothic"/>
            </a:endParaRPr>
          </a:p>
        </p:txBody>
      </p:sp>
      <p:sp>
        <p:nvSpPr>
          <p:cNvPr id="107" name="object 39">
            <a:extLst>
              <a:ext uri="{FF2B5EF4-FFF2-40B4-BE49-F238E27FC236}">
                <a16:creationId xmlns:a16="http://schemas.microsoft.com/office/drawing/2014/main" id="{8E851F5B-3E41-BAF8-2B87-2A63E0658ADE}"/>
              </a:ext>
            </a:extLst>
          </p:cNvPr>
          <p:cNvSpPr txBox="1"/>
          <p:nvPr/>
        </p:nvSpPr>
        <p:spPr>
          <a:xfrm>
            <a:off x="8049240" y="2308425"/>
            <a:ext cx="842644" cy="120546"/>
          </a:xfrm>
          <a:prstGeom prst="rect">
            <a:avLst/>
          </a:prstGeom>
        </p:spPr>
        <p:txBody>
          <a:bodyPr vert="horz" wrap="square" lIns="0" tIns="12700" rIns="0" bIns="0" rtlCol="0">
            <a:spAutoFit/>
          </a:bodyPr>
          <a:lstStyle/>
          <a:p>
            <a:pPr marL="12700" algn="ctr">
              <a:lnSpc>
                <a:spcPct val="100000"/>
              </a:lnSpc>
              <a:spcBef>
                <a:spcPts val="100"/>
              </a:spcBef>
            </a:pPr>
            <a:r>
              <a:rPr sz="700" b="1" dirty="0">
                <a:latin typeface="Century Gothic"/>
                <a:cs typeface="Century Gothic"/>
              </a:rPr>
              <a:t>BET </a:t>
            </a:r>
            <a:r>
              <a:rPr lang="fr-FR" sz="700" b="1" dirty="0">
                <a:latin typeface="Century Gothic"/>
                <a:cs typeface="Century Gothic"/>
              </a:rPr>
              <a:t>STRUCTURE</a:t>
            </a:r>
            <a:endParaRPr sz="700" dirty="0">
              <a:latin typeface="Century Gothic"/>
              <a:cs typeface="Century Gothic"/>
            </a:endParaRPr>
          </a:p>
        </p:txBody>
      </p:sp>
      <p:sp>
        <p:nvSpPr>
          <p:cNvPr id="108" name="object 43">
            <a:extLst>
              <a:ext uri="{FF2B5EF4-FFF2-40B4-BE49-F238E27FC236}">
                <a16:creationId xmlns:a16="http://schemas.microsoft.com/office/drawing/2014/main" id="{EE9D5727-9BE3-16AC-63E5-8A9263329B67}"/>
              </a:ext>
            </a:extLst>
          </p:cNvPr>
          <p:cNvSpPr txBox="1"/>
          <p:nvPr/>
        </p:nvSpPr>
        <p:spPr>
          <a:xfrm>
            <a:off x="7994298" y="3944005"/>
            <a:ext cx="952500" cy="1859483"/>
          </a:xfrm>
          <a:prstGeom prst="rect">
            <a:avLst/>
          </a:prstGeom>
        </p:spPr>
        <p:txBody>
          <a:bodyPr vert="horz" wrap="square" lIns="0" tIns="12700" rIns="0" bIns="0" rtlCol="0">
            <a:spAutoFit/>
          </a:bodyPr>
          <a:lstStyle/>
          <a:p>
            <a:pPr marL="229235" marR="5080" indent="-217170" algn="ctr"/>
            <a:r>
              <a:rPr lang="fr-FR" sz="800" dirty="0">
                <a:highlight>
                  <a:srgbClr val="FF00FF"/>
                </a:highlight>
                <a:latin typeface="Century Gothic"/>
                <a:cs typeface="Century Gothic"/>
              </a:rPr>
              <a:t>L.</a:t>
            </a:r>
            <a:r>
              <a:rPr lang="fr-FR" sz="800" spc="-15" dirty="0">
                <a:highlight>
                  <a:srgbClr val="FF00FF"/>
                </a:highlight>
                <a:latin typeface="Century Gothic"/>
                <a:cs typeface="Century Gothic"/>
              </a:rPr>
              <a:t> </a:t>
            </a:r>
            <a:r>
              <a:rPr lang="fr-FR" sz="800" spc="-25" dirty="0">
                <a:highlight>
                  <a:srgbClr val="FF00FF"/>
                </a:highlight>
                <a:latin typeface="Century Gothic"/>
                <a:cs typeface="Century Gothic"/>
              </a:rPr>
              <a:t>JAN</a:t>
            </a:r>
            <a:endParaRPr lang="fr-FR" sz="800" dirty="0">
              <a:highlight>
                <a:srgbClr val="FF00FF"/>
              </a:highlight>
              <a:latin typeface="Century Gothic"/>
              <a:cs typeface="Century Gothic"/>
            </a:endParaRPr>
          </a:p>
          <a:p>
            <a:pPr marL="229235" marR="5080" indent="-217170" algn="ctr">
              <a:lnSpc>
                <a:spcPct val="100000"/>
              </a:lnSpc>
            </a:pPr>
            <a:r>
              <a:rPr sz="800" i="1" dirty="0">
                <a:highlight>
                  <a:srgbClr val="FF00FF"/>
                </a:highlight>
                <a:latin typeface="Century Gothic"/>
                <a:cs typeface="Century Gothic"/>
              </a:rPr>
              <a:t>Directeur</a:t>
            </a:r>
            <a:r>
              <a:rPr sz="800" i="1" spc="-25" dirty="0">
                <a:highlight>
                  <a:srgbClr val="FF00FF"/>
                </a:highlight>
                <a:latin typeface="Century Gothic"/>
                <a:cs typeface="Century Gothic"/>
              </a:rPr>
              <a:t> </a:t>
            </a:r>
            <a:r>
              <a:rPr sz="800" i="1" dirty="0">
                <a:highlight>
                  <a:srgbClr val="FF00FF"/>
                </a:highlight>
                <a:latin typeface="Century Gothic"/>
                <a:cs typeface="Century Gothic"/>
              </a:rPr>
              <a:t>du</a:t>
            </a:r>
            <a:r>
              <a:rPr sz="800" i="1" spc="-25" dirty="0">
                <a:highlight>
                  <a:srgbClr val="FF00FF"/>
                </a:highlight>
                <a:latin typeface="Century Gothic"/>
                <a:cs typeface="Century Gothic"/>
              </a:rPr>
              <a:t> </a:t>
            </a:r>
            <a:r>
              <a:rPr sz="800" i="1" spc="-10" dirty="0" err="1">
                <a:highlight>
                  <a:srgbClr val="FF00FF"/>
                </a:highlight>
                <a:latin typeface="Century Gothic"/>
                <a:cs typeface="Century Gothic"/>
              </a:rPr>
              <a:t>proje</a:t>
            </a:r>
            <a:r>
              <a:rPr lang="fr-FR" sz="800" i="1" spc="-10" dirty="0">
                <a:highlight>
                  <a:srgbClr val="FF00FF"/>
                </a:highlight>
                <a:latin typeface="Century Gothic"/>
                <a:cs typeface="Century Gothic"/>
              </a:rPr>
              <a:t>t</a:t>
            </a:r>
          </a:p>
          <a:p>
            <a:pPr marL="229235" marR="5080" indent="-217170" algn="ctr">
              <a:lnSpc>
                <a:spcPct val="100000"/>
              </a:lnSpc>
            </a:pPr>
            <a:r>
              <a:rPr sz="800" i="1" spc="-45" dirty="0">
                <a:solidFill>
                  <a:srgbClr val="6D6E71"/>
                </a:solidFill>
                <a:highlight>
                  <a:srgbClr val="FF00FF"/>
                </a:highlight>
                <a:latin typeface="Century Gothic"/>
                <a:cs typeface="Century Gothic"/>
              </a:rPr>
              <a:t>Co-</a:t>
            </a:r>
            <a:r>
              <a:rPr sz="800" i="1" spc="-10" dirty="0" err="1">
                <a:solidFill>
                  <a:srgbClr val="6D6E71"/>
                </a:solidFill>
                <a:highlight>
                  <a:srgbClr val="FF00FF"/>
                </a:highlight>
                <a:latin typeface="Century Gothic"/>
                <a:cs typeface="Century Gothic"/>
              </a:rPr>
              <a:t>gérany</a:t>
            </a:r>
            <a:endParaRPr lang="fr-FR" sz="800" i="1" spc="-10" dirty="0">
              <a:solidFill>
                <a:srgbClr val="6D6E71"/>
              </a:solidFill>
              <a:highlight>
                <a:srgbClr val="FF00FF"/>
              </a:highlight>
              <a:latin typeface="Century Gothic"/>
              <a:cs typeface="Century Gothic"/>
            </a:endParaRPr>
          </a:p>
          <a:p>
            <a:pPr marL="229235" marR="5080" indent="-217170" algn="ctr">
              <a:lnSpc>
                <a:spcPct val="100000"/>
              </a:lnSpc>
            </a:pPr>
            <a:endParaRPr lang="fr-FR" sz="800" i="1" spc="-10" dirty="0">
              <a:solidFill>
                <a:srgbClr val="6D6E71"/>
              </a:solidFill>
              <a:highlight>
                <a:srgbClr val="FF00FF"/>
              </a:highlight>
              <a:latin typeface="Century Gothic"/>
              <a:cs typeface="Century Gothic"/>
            </a:endParaRPr>
          </a:p>
          <a:p>
            <a:pPr marL="229235" marR="5080" indent="-217170" algn="ctr">
              <a:lnSpc>
                <a:spcPct val="100000"/>
              </a:lnSpc>
            </a:pPr>
            <a:r>
              <a:rPr lang="fr-FR" sz="800" dirty="0">
                <a:highlight>
                  <a:srgbClr val="FF00FF"/>
                </a:highlight>
                <a:latin typeface="Century Gothic"/>
                <a:cs typeface="Century Gothic"/>
              </a:rPr>
              <a:t>F.</a:t>
            </a:r>
            <a:r>
              <a:rPr lang="fr-FR" sz="800" spc="-10" dirty="0">
                <a:highlight>
                  <a:srgbClr val="FF00FF"/>
                </a:highlight>
                <a:latin typeface="Century Gothic"/>
                <a:cs typeface="Century Gothic"/>
              </a:rPr>
              <a:t> RALHA</a:t>
            </a:r>
            <a:endParaRPr lang="fr-FR" sz="800" dirty="0">
              <a:highlight>
                <a:srgbClr val="FF00FF"/>
              </a:highlight>
              <a:latin typeface="Century Gothic"/>
              <a:cs typeface="Century Gothic"/>
            </a:endParaRPr>
          </a:p>
          <a:p>
            <a:pPr marL="187325" marR="5080" indent="-175260" algn="ctr">
              <a:lnSpc>
                <a:spcPct val="100000"/>
              </a:lnSpc>
            </a:pPr>
            <a:r>
              <a:rPr lang="fr-FR" sz="800" i="1" dirty="0">
                <a:highlight>
                  <a:srgbClr val="FF00FF"/>
                </a:highlight>
                <a:latin typeface="Century Gothic"/>
                <a:cs typeface="Century Gothic"/>
              </a:rPr>
              <a:t>Chef</a:t>
            </a:r>
            <a:r>
              <a:rPr lang="fr-FR" sz="800" i="1" spc="-15" dirty="0">
                <a:highlight>
                  <a:srgbClr val="FF00FF"/>
                </a:highlight>
                <a:latin typeface="Century Gothic"/>
                <a:cs typeface="Century Gothic"/>
              </a:rPr>
              <a:t> </a:t>
            </a:r>
            <a:r>
              <a:rPr lang="fr-FR" sz="800" i="1" dirty="0">
                <a:highlight>
                  <a:srgbClr val="FF00FF"/>
                </a:highlight>
                <a:latin typeface="Century Gothic"/>
                <a:cs typeface="Century Gothic"/>
              </a:rPr>
              <a:t>de</a:t>
            </a:r>
            <a:r>
              <a:rPr lang="fr-FR" sz="800" i="1" spc="-15" dirty="0">
                <a:highlight>
                  <a:srgbClr val="FF00FF"/>
                </a:highlight>
                <a:latin typeface="Century Gothic"/>
                <a:cs typeface="Century Gothic"/>
              </a:rPr>
              <a:t> </a:t>
            </a:r>
            <a:r>
              <a:rPr lang="fr-FR" sz="800" i="1" spc="-10" dirty="0">
                <a:highlight>
                  <a:srgbClr val="FF00FF"/>
                </a:highlight>
                <a:latin typeface="Century Gothic"/>
                <a:cs typeface="Century Gothic"/>
              </a:rPr>
              <a:t>projet</a:t>
            </a:r>
          </a:p>
          <a:p>
            <a:pPr marL="187325" marR="5080" indent="-175260" algn="ctr">
              <a:lnSpc>
                <a:spcPct val="100000"/>
              </a:lnSpc>
            </a:pPr>
            <a:r>
              <a:rPr lang="fr-FR" sz="800" i="1" spc="-10" dirty="0">
                <a:solidFill>
                  <a:srgbClr val="6D6E71"/>
                </a:solidFill>
                <a:highlight>
                  <a:srgbClr val="FF00FF"/>
                </a:highlight>
                <a:latin typeface="Century Gothic"/>
                <a:cs typeface="Century Gothic"/>
              </a:rPr>
              <a:t>Associé</a:t>
            </a:r>
          </a:p>
          <a:p>
            <a:pPr marL="187325" marR="5080" indent="-175260" algn="ctr">
              <a:lnSpc>
                <a:spcPct val="100000"/>
              </a:lnSpc>
            </a:pPr>
            <a:endParaRPr lang="fr-FR" sz="800" dirty="0">
              <a:highlight>
                <a:srgbClr val="FF00FF"/>
              </a:highlight>
              <a:latin typeface="Century Gothic"/>
              <a:cs typeface="Century Gothic"/>
            </a:endParaRPr>
          </a:p>
          <a:p>
            <a:pPr marL="187325" marR="5080" indent="-175260" algn="ctr">
              <a:lnSpc>
                <a:spcPct val="100000"/>
              </a:lnSpc>
            </a:pPr>
            <a:r>
              <a:rPr lang="fr-FR" sz="800" dirty="0">
                <a:highlight>
                  <a:srgbClr val="FF00FF"/>
                </a:highlight>
                <a:latin typeface="Century Gothic"/>
                <a:cs typeface="Century Gothic"/>
              </a:rPr>
              <a:t>N.</a:t>
            </a:r>
            <a:r>
              <a:rPr lang="fr-FR" sz="800" spc="-20" dirty="0">
                <a:highlight>
                  <a:srgbClr val="FF00FF"/>
                </a:highlight>
                <a:latin typeface="Century Gothic"/>
                <a:cs typeface="Century Gothic"/>
              </a:rPr>
              <a:t>HAYS</a:t>
            </a:r>
            <a:endParaRPr lang="fr-FR" sz="800" dirty="0">
              <a:highlight>
                <a:srgbClr val="FF00FF"/>
              </a:highlight>
              <a:latin typeface="Century Gothic"/>
              <a:cs typeface="Century Gothic"/>
            </a:endParaRPr>
          </a:p>
          <a:p>
            <a:pPr marL="41910" marR="5080" indent="-29845" algn="ctr">
              <a:lnSpc>
                <a:spcPct val="100000"/>
              </a:lnSpc>
            </a:pPr>
            <a:r>
              <a:rPr lang="fr-FR" sz="800" i="1" dirty="0">
                <a:highlight>
                  <a:srgbClr val="FF00FF"/>
                </a:highlight>
                <a:latin typeface="Century Gothic"/>
                <a:cs typeface="Century Gothic"/>
              </a:rPr>
              <a:t>Architecte</a:t>
            </a:r>
            <a:r>
              <a:rPr lang="fr-FR" sz="800" i="1" spc="-45" dirty="0">
                <a:highlight>
                  <a:srgbClr val="FF00FF"/>
                </a:highlight>
                <a:latin typeface="Century Gothic"/>
                <a:cs typeface="Century Gothic"/>
              </a:rPr>
              <a:t> - i</a:t>
            </a:r>
            <a:r>
              <a:rPr lang="fr-FR" sz="800" i="1" spc="-10" dirty="0">
                <a:highlight>
                  <a:srgbClr val="FF00FF"/>
                </a:highlight>
                <a:latin typeface="Century Gothic"/>
                <a:cs typeface="Century Gothic"/>
              </a:rPr>
              <a:t>ngénieure</a:t>
            </a:r>
          </a:p>
          <a:p>
            <a:pPr marL="41910" marR="5080" indent="-29845" algn="ctr">
              <a:lnSpc>
                <a:spcPct val="100000"/>
              </a:lnSpc>
            </a:pPr>
            <a:endParaRPr lang="fr-FR" sz="800" i="1" spc="-10" dirty="0">
              <a:highlight>
                <a:srgbClr val="FF00FF"/>
              </a:highlight>
              <a:latin typeface="Century Gothic"/>
              <a:cs typeface="Century Gothic"/>
            </a:endParaRPr>
          </a:p>
          <a:p>
            <a:pPr marL="41910" marR="5080" indent="-29845" algn="ctr">
              <a:lnSpc>
                <a:spcPct val="100000"/>
              </a:lnSpc>
            </a:pPr>
            <a:r>
              <a:rPr lang="fr-FR" sz="800" dirty="0">
                <a:highlight>
                  <a:srgbClr val="FF00FF"/>
                </a:highlight>
                <a:latin typeface="Century Gothic"/>
                <a:cs typeface="Century Gothic"/>
              </a:rPr>
              <a:t>C.</a:t>
            </a:r>
            <a:r>
              <a:rPr lang="fr-FR" sz="800" spc="-10" dirty="0">
                <a:highlight>
                  <a:srgbClr val="FF00FF"/>
                </a:highlight>
                <a:latin typeface="Century Gothic"/>
                <a:cs typeface="Century Gothic"/>
              </a:rPr>
              <a:t> </a:t>
            </a:r>
            <a:r>
              <a:rPr lang="fr-FR" sz="800" spc="-20" dirty="0">
                <a:highlight>
                  <a:srgbClr val="FF00FF"/>
                </a:highlight>
                <a:latin typeface="Century Gothic"/>
                <a:cs typeface="Century Gothic"/>
              </a:rPr>
              <a:t>BIAN</a:t>
            </a:r>
            <a:endParaRPr lang="fr-FR" sz="800" dirty="0">
              <a:highlight>
                <a:srgbClr val="FF00FF"/>
              </a:highlight>
              <a:latin typeface="Century Gothic"/>
              <a:cs typeface="Century Gothic"/>
            </a:endParaRPr>
          </a:p>
          <a:p>
            <a:pPr marL="12700" algn="ctr">
              <a:lnSpc>
                <a:spcPct val="100000"/>
              </a:lnSpc>
            </a:pPr>
            <a:r>
              <a:rPr lang="fr-FR" sz="800" i="1" dirty="0">
                <a:highlight>
                  <a:srgbClr val="FF00FF"/>
                </a:highlight>
                <a:latin typeface="Century Gothic"/>
                <a:cs typeface="Century Gothic"/>
              </a:rPr>
              <a:t>Assistante</a:t>
            </a:r>
            <a:r>
              <a:rPr lang="fr-FR" sz="800" i="1" spc="-40" dirty="0">
                <a:highlight>
                  <a:srgbClr val="FF00FF"/>
                </a:highlight>
                <a:latin typeface="Century Gothic"/>
                <a:cs typeface="Century Gothic"/>
              </a:rPr>
              <a:t> </a:t>
            </a:r>
            <a:r>
              <a:rPr lang="fr-FR" sz="800" i="1" spc="-10" dirty="0">
                <a:highlight>
                  <a:srgbClr val="FF00FF"/>
                </a:highlight>
                <a:latin typeface="Century Gothic"/>
                <a:cs typeface="Century Gothic"/>
              </a:rPr>
              <a:t>technique</a:t>
            </a:r>
            <a:endParaRPr lang="fr-FR" sz="800" dirty="0">
              <a:highlight>
                <a:srgbClr val="FF00FF"/>
              </a:highlight>
              <a:latin typeface="Century Gothic"/>
              <a:cs typeface="Century Gothic"/>
            </a:endParaRPr>
          </a:p>
        </p:txBody>
      </p:sp>
      <p:pic>
        <p:nvPicPr>
          <p:cNvPr id="110" name="Image 109">
            <a:extLst>
              <a:ext uri="{FF2B5EF4-FFF2-40B4-BE49-F238E27FC236}">
                <a16:creationId xmlns:a16="http://schemas.microsoft.com/office/drawing/2014/main" id="{12115D2E-FB31-4521-EE11-5B763D67373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3553" y="2515677"/>
            <a:ext cx="283916" cy="323271"/>
          </a:xfrm>
          <a:prstGeom prst="rect">
            <a:avLst/>
          </a:prstGeom>
        </p:spPr>
      </p:pic>
      <p:sp>
        <p:nvSpPr>
          <p:cNvPr id="9" name="object 29">
            <a:extLst>
              <a:ext uri="{FF2B5EF4-FFF2-40B4-BE49-F238E27FC236}">
                <a16:creationId xmlns:a16="http://schemas.microsoft.com/office/drawing/2014/main" id="{52CDA501-5D83-AF18-6AAA-0E3116EC88ED}"/>
              </a:ext>
            </a:extLst>
          </p:cNvPr>
          <p:cNvSpPr txBox="1"/>
          <p:nvPr/>
        </p:nvSpPr>
        <p:spPr>
          <a:xfrm>
            <a:off x="3977640" y="1397806"/>
            <a:ext cx="1216660" cy="222885"/>
          </a:xfrm>
          <a:prstGeom prst="rect">
            <a:avLst/>
          </a:prstGeom>
        </p:spPr>
        <p:txBody>
          <a:bodyPr vert="horz" wrap="square" lIns="0" tIns="12065" rIns="0" bIns="0" rtlCol="0">
            <a:spAutoFit/>
          </a:bodyPr>
          <a:lstStyle/>
          <a:p>
            <a:pPr marL="12700">
              <a:lnSpc>
                <a:spcPts val="780"/>
              </a:lnSpc>
              <a:spcBef>
                <a:spcPts val="95"/>
              </a:spcBef>
            </a:pPr>
            <a:r>
              <a:rPr sz="650" dirty="0">
                <a:latin typeface="Century Gothic"/>
                <a:cs typeface="Century Gothic"/>
              </a:rPr>
              <a:t>Madeline</a:t>
            </a:r>
            <a:r>
              <a:rPr sz="650" spc="-35" dirty="0">
                <a:latin typeface="Century Gothic"/>
                <a:cs typeface="Century Gothic"/>
              </a:rPr>
              <a:t> </a:t>
            </a:r>
            <a:r>
              <a:rPr sz="650" spc="-10" dirty="0">
                <a:latin typeface="Century Gothic"/>
                <a:cs typeface="Century Gothic"/>
              </a:rPr>
              <a:t>LAMBERT</a:t>
            </a:r>
            <a:endParaRPr sz="650" dirty="0">
              <a:latin typeface="Century Gothic"/>
              <a:cs typeface="Century Gothic"/>
            </a:endParaRPr>
          </a:p>
          <a:p>
            <a:pPr marL="12700">
              <a:lnSpc>
                <a:spcPts val="780"/>
              </a:lnSpc>
            </a:pPr>
            <a:r>
              <a:rPr sz="650" spc="-10" dirty="0">
                <a:latin typeface="Century Gothic"/>
                <a:cs typeface="Century Gothic"/>
              </a:rPr>
              <a:t>référente</a:t>
            </a:r>
            <a:r>
              <a:rPr sz="650" spc="-5" dirty="0">
                <a:latin typeface="Century Gothic"/>
                <a:cs typeface="Century Gothic"/>
              </a:rPr>
              <a:t> </a:t>
            </a:r>
            <a:r>
              <a:rPr sz="650" dirty="0">
                <a:latin typeface="Century Gothic"/>
                <a:cs typeface="Century Gothic"/>
              </a:rPr>
              <a:t>pour le </a:t>
            </a:r>
            <a:r>
              <a:rPr sz="650" spc="-10" dirty="0">
                <a:latin typeface="Century Gothic"/>
                <a:cs typeface="Century Gothic"/>
              </a:rPr>
              <a:t>groupement</a:t>
            </a:r>
            <a:endParaRPr sz="650" dirty="0">
              <a:latin typeface="Century Gothic"/>
              <a:cs typeface="Century Gothic"/>
            </a:endParaRPr>
          </a:p>
        </p:txBody>
      </p:sp>
      <p:pic>
        <p:nvPicPr>
          <p:cNvPr id="10" name="object 52">
            <a:extLst>
              <a:ext uri="{FF2B5EF4-FFF2-40B4-BE49-F238E27FC236}">
                <a16:creationId xmlns:a16="http://schemas.microsoft.com/office/drawing/2014/main" id="{90BD84EB-AA25-2395-E3F9-4034A8F7C4B9}"/>
              </a:ext>
            </a:extLst>
          </p:cNvPr>
          <p:cNvPicPr/>
          <p:nvPr/>
        </p:nvPicPr>
        <p:blipFill>
          <a:blip r:embed="rId6" cstate="print"/>
          <a:stretch>
            <a:fillRect/>
          </a:stretch>
        </p:blipFill>
        <p:spPr>
          <a:xfrm>
            <a:off x="3486478" y="1295117"/>
            <a:ext cx="431990" cy="431990"/>
          </a:xfrm>
          <a:prstGeom prst="rect">
            <a:avLst/>
          </a:prstGeom>
        </p:spPr>
      </p:pic>
    </p:spTree>
    <p:extLst>
      <p:ext uri="{BB962C8B-B14F-4D97-AF65-F5344CB8AC3E}">
        <p14:creationId xmlns:p14="http://schemas.microsoft.com/office/powerpoint/2010/main" val="2083745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481AA-48E6-10A1-B8B0-D2767A37A2C7}"/>
            </a:ext>
          </a:extLst>
        </p:cNvPr>
        <p:cNvGrpSpPr/>
        <p:nvPr/>
      </p:nvGrpSpPr>
      <p:grpSpPr>
        <a:xfrm>
          <a:off x="0" y="0"/>
          <a:ext cx="0" cy="0"/>
          <a:chOff x="0" y="0"/>
          <a:chExt cx="0" cy="0"/>
        </a:xfrm>
      </p:grpSpPr>
      <p:sp>
        <p:nvSpPr>
          <p:cNvPr id="4" name="object 14">
            <a:extLst>
              <a:ext uri="{FF2B5EF4-FFF2-40B4-BE49-F238E27FC236}">
                <a16:creationId xmlns:a16="http://schemas.microsoft.com/office/drawing/2014/main" id="{70B762F9-C303-B9B0-4656-E02CFB5FAFB8}"/>
              </a:ext>
            </a:extLst>
          </p:cNvPr>
          <p:cNvSpPr/>
          <p:nvPr/>
        </p:nvSpPr>
        <p:spPr>
          <a:xfrm>
            <a:off x="10172248" y="7227706"/>
            <a:ext cx="132080" cy="132080"/>
          </a:xfrm>
          <a:custGeom>
            <a:avLst/>
            <a:gdLst/>
            <a:ahLst/>
            <a:cxnLst/>
            <a:rect l="l" t="t" r="r" b="b"/>
            <a:pathLst>
              <a:path w="132079" h="132079">
                <a:moveTo>
                  <a:pt x="131546" y="0"/>
                </a:moveTo>
                <a:lnTo>
                  <a:pt x="0" y="131546"/>
                </a:lnTo>
              </a:path>
            </a:pathLst>
          </a:custGeom>
          <a:ln w="6350">
            <a:solidFill>
              <a:srgbClr val="000000"/>
            </a:solidFill>
          </a:ln>
        </p:spPr>
        <p:txBody>
          <a:bodyPr wrap="square" lIns="0" tIns="0" rIns="0" bIns="0" rtlCol="0"/>
          <a:lstStyle/>
          <a:p>
            <a:endParaRPr/>
          </a:p>
        </p:txBody>
      </p:sp>
      <p:sp>
        <p:nvSpPr>
          <p:cNvPr id="5" name="object 33">
            <a:extLst>
              <a:ext uri="{FF2B5EF4-FFF2-40B4-BE49-F238E27FC236}">
                <a16:creationId xmlns:a16="http://schemas.microsoft.com/office/drawing/2014/main" id="{71E21EFE-83B5-9678-71F6-8519B7A64E66}"/>
              </a:ext>
            </a:extLst>
          </p:cNvPr>
          <p:cNvSpPr txBox="1">
            <a:spLocks noGrp="1"/>
          </p:cNvSpPr>
          <p:nvPr>
            <p:ph type="dt" sz="half" idx="6"/>
          </p:nvPr>
        </p:nvSpPr>
        <p:spPr>
          <a:xfrm>
            <a:off x="5585969" y="7083574"/>
            <a:ext cx="4218431" cy="336631"/>
          </a:xfrm>
          <a:prstGeom prst="rect">
            <a:avLst/>
          </a:prstGeom>
        </p:spPr>
        <p:txBody>
          <a:bodyPr vert="horz" wrap="square" lIns="0" tIns="13335" rIns="0" bIns="0" rtlCol="0">
            <a:spAutoFit/>
          </a:bodyPr>
          <a:lstStyle/>
          <a:p>
            <a:pPr marL="12700">
              <a:lnSpc>
                <a:spcPct val="100000"/>
              </a:lnSpc>
              <a:spcBef>
                <a:spcPts val="105"/>
              </a:spcBef>
            </a:pPr>
            <a:r>
              <a:rPr lang="fr-FR" spc="-10" dirty="0"/>
              <a:t>Notice d’intention</a:t>
            </a:r>
            <a:endParaRPr spc="-10" dirty="0"/>
          </a:p>
          <a:p>
            <a:pPr marL="12700">
              <a:lnSpc>
                <a:spcPct val="100000"/>
              </a:lnSpc>
            </a:pPr>
            <a:r>
              <a:rPr b="0" dirty="0">
                <a:latin typeface="Century Gothic"/>
                <a:cs typeface="Century Gothic"/>
              </a:rPr>
              <a:t>Mission</a:t>
            </a:r>
            <a:r>
              <a:rPr b="0" spc="-5" dirty="0">
                <a:latin typeface="Century Gothic"/>
                <a:cs typeface="Century Gothic"/>
              </a:rPr>
              <a:t> </a:t>
            </a:r>
            <a:r>
              <a:rPr b="0" dirty="0">
                <a:latin typeface="Century Gothic"/>
                <a:cs typeface="Century Gothic"/>
              </a:rPr>
              <a:t>de maîtrise d’œuvre pour la rehabilitation </a:t>
            </a:r>
            <a:r>
              <a:rPr lang="fr-FR" b="0" dirty="0">
                <a:latin typeface="Century Gothic"/>
                <a:cs typeface="Century Gothic"/>
              </a:rPr>
              <a:t>et surélévation de la Résidence « Paris </a:t>
            </a:r>
            <a:r>
              <a:rPr lang="fr-FR" b="0" dirty="0" err="1">
                <a:latin typeface="Century Gothic"/>
                <a:cs typeface="Century Gothic"/>
              </a:rPr>
              <a:t>Boucry</a:t>
            </a:r>
            <a:r>
              <a:rPr lang="fr-FR" b="0" dirty="0">
                <a:latin typeface="Century Gothic"/>
                <a:cs typeface="Century Gothic"/>
              </a:rPr>
              <a:t> »</a:t>
            </a:r>
          </a:p>
          <a:p>
            <a:pPr marL="12700">
              <a:lnSpc>
                <a:spcPct val="100000"/>
              </a:lnSpc>
            </a:pPr>
            <a:r>
              <a:rPr lang="fr-FR" b="0" spc="-20" dirty="0">
                <a:latin typeface="Century Gothic"/>
                <a:cs typeface="Century Gothic"/>
              </a:rPr>
              <a:t>29 rue de </a:t>
            </a:r>
            <a:r>
              <a:rPr lang="fr-FR" b="0" spc="-20" dirty="0" err="1">
                <a:latin typeface="Century Gothic"/>
                <a:cs typeface="Century Gothic"/>
              </a:rPr>
              <a:t>Boucry</a:t>
            </a:r>
            <a:r>
              <a:rPr lang="fr-FR" b="0" spc="-20" dirty="0">
                <a:latin typeface="Century Gothic"/>
                <a:cs typeface="Century Gothic"/>
              </a:rPr>
              <a:t> 75018 PARIS</a:t>
            </a:r>
            <a:endParaRPr b="0" spc="-20" dirty="0">
              <a:latin typeface="Century Gothic"/>
              <a:cs typeface="Century Gothic"/>
            </a:endParaRPr>
          </a:p>
        </p:txBody>
      </p:sp>
      <p:sp>
        <p:nvSpPr>
          <p:cNvPr id="6" name="object 34">
            <a:extLst>
              <a:ext uri="{FF2B5EF4-FFF2-40B4-BE49-F238E27FC236}">
                <a16:creationId xmlns:a16="http://schemas.microsoft.com/office/drawing/2014/main" id="{FE80F970-7F5D-716F-E389-CDECA9AFCE20}"/>
              </a:ext>
            </a:extLst>
          </p:cNvPr>
          <p:cNvSpPr txBox="1">
            <a:spLocks noGrp="1"/>
          </p:cNvSpPr>
          <p:nvPr>
            <p:ph type="sldNum" sz="quarter" idx="7"/>
          </p:nvPr>
        </p:nvSpPr>
        <p:spPr>
          <a:xfrm>
            <a:off x="10055521" y="7164998"/>
            <a:ext cx="201929" cy="150495"/>
          </a:xfrm>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25" dirty="0"/>
              <a:t>5</a:t>
            </a:fld>
            <a:endParaRPr spc="-25" dirty="0"/>
          </a:p>
        </p:txBody>
      </p:sp>
      <p:sp>
        <p:nvSpPr>
          <p:cNvPr id="7" name="object 35">
            <a:extLst>
              <a:ext uri="{FF2B5EF4-FFF2-40B4-BE49-F238E27FC236}">
                <a16:creationId xmlns:a16="http://schemas.microsoft.com/office/drawing/2014/main" id="{5BF97FA5-9C2F-5F4C-FB6A-89176B10F6E8}"/>
              </a:ext>
            </a:extLst>
          </p:cNvPr>
          <p:cNvSpPr txBox="1">
            <a:spLocks noGrp="1"/>
          </p:cNvSpPr>
          <p:nvPr>
            <p:ph type="ftr" sz="quarter" idx="5"/>
          </p:nvPr>
        </p:nvSpPr>
        <p:spPr>
          <a:xfrm>
            <a:off x="10246427" y="7268322"/>
            <a:ext cx="109854" cy="119379"/>
          </a:xfrm>
          <a:prstGeom prst="rect">
            <a:avLst/>
          </a:prstGeom>
        </p:spPr>
        <p:txBody>
          <a:bodyPr vert="horz" wrap="square" lIns="0" tIns="12700" rIns="0" bIns="0" rtlCol="0">
            <a:spAutoFit/>
          </a:bodyPr>
          <a:lstStyle/>
          <a:p>
            <a:pPr marL="12700">
              <a:lnSpc>
                <a:spcPct val="100000"/>
              </a:lnSpc>
              <a:spcBef>
                <a:spcPts val="100"/>
              </a:spcBef>
            </a:pPr>
            <a:r>
              <a:rPr spc="-25" dirty="0"/>
              <a:t>25</a:t>
            </a:r>
          </a:p>
        </p:txBody>
      </p:sp>
      <p:sp>
        <p:nvSpPr>
          <p:cNvPr id="2" name="object 70">
            <a:extLst>
              <a:ext uri="{FF2B5EF4-FFF2-40B4-BE49-F238E27FC236}">
                <a16:creationId xmlns:a16="http://schemas.microsoft.com/office/drawing/2014/main" id="{0101038B-93BB-1E6D-B1AC-E3F20D798E60}"/>
              </a:ext>
            </a:extLst>
          </p:cNvPr>
          <p:cNvSpPr txBox="1">
            <a:spLocks/>
          </p:cNvSpPr>
          <p:nvPr/>
        </p:nvSpPr>
        <p:spPr>
          <a:xfrm>
            <a:off x="0" y="273659"/>
            <a:ext cx="7677150" cy="310983"/>
          </a:xfrm>
          <a:prstGeom prst="rect">
            <a:avLst/>
          </a:prstGeom>
          <a:solidFill>
            <a:srgbClr val="C50A4C"/>
          </a:solidFill>
        </p:spPr>
        <p:txBody>
          <a:bodyPr vert="horz" wrap="square" lIns="0" tIns="33655" rIns="0" bIns="0" rtlCol="0">
            <a:spAutoFit/>
          </a:bodyPr>
          <a:lstStyle>
            <a:lvl1pPr>
              <a:defRPr sz="1800" b="1" i="0">
                <a:solidFill>
                  <a:schemeClr val="bg1"/>
                </a:solidFill>
                <a:latin typeface="Century Gothic"/>
                <a:ea typeface="+mj-ea"/>
                <a:cs typeface="Century Gothic"/>
              </a:defRPr>
            </a:lvl1pPr>
          </a:lstStyle>
          <a:p>
            <a:pPr marL="503555">
              <a:spcBef>
                <a:spcPts val="265"/>
              </a:spcBef>
            </a:pPr>
            <a:r>
              <a:rPr lang="fr-FR" spc="-10" dirty="0"/>
              <a:t>NOTE D’INTENTION</a:t>
            </a:r>
          </a:p>
        </p:txBody>
      </p:sp>
      <p:sp>
        <p:nvSpPr>
          <p:cNvPr id="3" name="object 3">
            <a:extLst>
              <a:ext uri="{FF2B5EF4-FFF2-40B4-BE49-F238E27FC236}">
                <a16:creationId xmlns:a16="http://schemas.microsoft.com/office/drawing/2014/main" id="{E6635E38-008A-F77E-1596-8E80DAE7278E}"/>
              </a:ext>
            </a:extLst>
          </p:cNvPr>
          <p:cNvSpPr txBox="1"/>
          <p:nvPr/>
        </p:nvSpPr>
        <p:spPr>
          <a:xfrm>
            <a:off x="5536481" y="812541"/>
            <a:ext cx="4647565" cy="5629746"/>
          </a:xfrm>
          <a:prstGeom prst="rect">
            <a:avLst/>
          </a:prstGeom>
        </p:spPr>
        <p:txBody>
          <a:bodyPr vert="horz" wrap="square" lIns="0" tIns="12700" rIns="0" bIns="0" rtlCol="0">
            <a:spAutoFit/>
          </a:bodyPr>
          <a:lstStyle/>
          <a:p>
            <a:pPr marL="12700">
              <a:lnSpc>
                <a:spcPct val="100000"/>
              </a:lnSpc>
              <a:spcBef>
                <a:spcPts val="5"/>
              </a:spcBef>
            </a:pPr>
            <a:r>
              <a:rPr lang="fr-FR" sz="1400" b="1" dirty="0">
                <a:solidFill>
                  <a:srgbClr val="C50A4C"/>
                </a:solidFill>
                <a:latin typeface="Century Gothic"/>
                <a:cs typeface="Century Gothic"/>
              </a:rPr>
              <a:t> </a:t>
            </a:r>
            <a:endParaRPr sz="1400" dirty="0">
              <a:latin typeface="Century Gothic"/>
              <a:cs typeface="Century Gothic"/>
            </a:endParaRPr>
          </a:p>
          <a:p>
            <a:pPr marL="12700" algn="just">
              <a:lnSpc>
                <a:spcPct val="100000"/>
              </a:lnSpc>
              <a:spcBef>
                <a:spcPts val="1255"/>
              </a:spcBef>
            </a:pPr>
            <a:r>
              <a:rPr lang="fr-FR" sz="1100" dirty="0">
                <a:solidFill>
                  <a:srgbClr val="2A3E67"/>
                </a:solidFill>
                <a:latin typeface="Century Gothic"/>
                <a:cs typeface="Century Gothic"/>
              </a:rPr>
              <a:t>B – MILIEU OCCUPE</a:t>
            </a:r>
            <a:endParaRPr lang="fr-FR" sz="1100" dirty="0">
              <a:latin typeface="Century Gothic"/>
              <a:cs typeface="Century Gothic"/>
            </a:endParaRPr>
          </a:p>
          <a:p>
            <a:pPr marL="12700" marR="5080" indent="-635" algn="just">
              <a:lnSpc>
                <a:spcPct val="100000"/>
              </a:lnSpc>
              <a:spcBef>
                <a:spcPts val="1320"/>
              </a:spcBef>
            </a:pPr>
            <a:r>
              <a:rPr lang="fr-FR" sz="1100" dirty="0">
                <a:highlight>
                  <a:srgbClr val="FFFF00"/>
                </a:highlight>
                <a:latin typeface="Century Gothic"/>
                <a:cs typeface="Century Gothic"/>
              </a:rPr>
              <a:t>A&amp;B</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Architectes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s’attachera</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définir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faire</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partager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philosophie </a:t>
            </a:r>
            <a:r>
              <a:rPr lang="fr-FR" sz="1100" dirty="0">
                <a:highlight>
                  <a:srgbClr val="FFFF00"/>
                </a:highlight>
                <a:latin typeface="Century Gothic"/>
                <a:cs typeface="Century Gothic"/>
              </a:rPr>
              <a:t>globale</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du</a:t>
            </a:r>
            <a:r>
              <a:rPr lang="fr-FR" sz="1100" spc="120" dirty="0">
                <a:highlight>
                  <a:srgbClr val="FFFF00"/>
                </a:highlight>
                <a:latin typeface="Century Gothic"/>
                <a:cs typeface="Century Gothic"/>
              </a:rPr>
              <a:t>  </a:t>
            </a:r>
            <a:r>
              <a:rPr lang="fr-FR" sz="1100" dirty="0">
                <a:highlight>
                  <a:srgbClr val="FFFF00"/>
                </a:highlight>
                <a:latin typeface="Century Gothic"/>
                <a:cs typeface="Century Gothic"/>
              </a:rPr>
              <a:t>projet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architectural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il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apparait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dès</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120" dirty="0">
                <a:highlight>
                  <a:srgbClr val="FFFF00"/>
                </a:highlight>
                <a:latin typeface="Century Gothic"/>
                <a:cs typeface="Century Gothic"/>
              </a:rPr>
              <a:t>  </a:t>
            </a:r>
            <a:r>
              <a:rPr lang="fr-FR" sz="1100" spc="-10" dirty="0">
                <a:highlight>
                  <a:srgbClr val="FFFF00"/>
                </a:highlight>
                <a:latin typeface="Century Gothic"/>
                <a:cs typeface="Century Gothic"/>
              </a:rPr>
              <a:t>présent </a:t>
            </a:r>
            <a:r>
              <a:rPr lang="fr-FR" sz="1100" dirty="0">
                <a:highlight>
                  <a:srgbClr val="FFFF00"/>
                </a:highlight>
                <a:latin typeface="Century Gothic"/>
                <a:cs typeface="Century Gothic"/>
              </a:rPr>
              <a:t>important</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d’inscrire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réhabilitation</a:t>
            </a:r>
            <a:r>
              <a:rPr lang="fr-FR" sz="1100" spc="165" dirty="0">
                <a:highlight>
                  <a:srgbClr val="FFFF00"/>
                </a:highlight>
                <a:latin typeface="Century Gothic"/>
                <a:cs typeface="Century Gothic"/>
              </a:rPr>
              <a:t> </a:t>
            </a:r>
            <a:r>
              <a:rPr lang="fr-FR" sz="1100" dirty="0">
                <a:highlight>
                  <a:srgbClr val="FFFF00"/>
                </a:highlight>
                <a:latin typeface="Century Gothic"/>
                <a:cs typeface="Century Gothic"/>
              </a:rPr>
              <a:t>de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résidence</a:t>
            </a:r>
            <a:r>
              <a:rPr lang="fr-FR" sz="1100" spc="-10" dirty="0">
                <a:highlight>
                  <a:srgbClr val="FFFF00"/>
                </a:highlight>
                <a:latin typeface="Century Gothic"/>
                <a:cs typeface="Century Gothic"/>
              </a:rPr>
              <a:t>, </a:t>
            </a:r>
            <a:r>
              <a:rPr lang="fr-FR" sz="1100" dirty="0">
                <a:highlight>
                  <a:srgbClr val="FFFF00"/>
                </a:highlight>
                <a:latin typeface="Century Gothic"/>
                <a:cs typeface="Century Gothic"/>
              </a:rPr>
              <a:t>dans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une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dynamique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élégante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d’envergure.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A</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savoir</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celle</a:t>
            </a:r>
            <a:r>
              <a:rPr lang="fr-FR" sz="1100" spc="160" dirty="0">
                <a:highlight>
                  <a:srgbClr val="FFFF00"/>
                </a:highlight>
                <a:latin typeface="Century Gothic"/>
                <a:cs typeface="Century Gothic"/>
              </a:rPr>
              <a:t> </a:t>
            </a:r>
            <a:r>
              <a:rPr lang="fr-FR" sz="1100" spc="-25" dirty="0">
                <a:highlight>
                  <a:srgbClr val="FFFF00"/>
                </a:highlight>
                <a:latin typeface="Century Gothic"/>
                <a:cs typeface="Century Gothic"/>
              </a:rPr>
              <a:t>des </a:t>
            </a:r>
            <a:r>
              <a:rPr lang="fr-FR" sz="1100" dirty="0">
                <a:highlight>
                  <a:srgbClr val="FFFF00"/>
                </a:highlight>
                <a:latin typeface="Century Gothic"/>
                <a:cs typeface="Century Gothic"/>
              </a:rPr>
              <a:t>caractéristiques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ambitions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d’un</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habitat,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le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souci</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du</a:t>
            </a:r>
            <a:r>
              <a:rPr lang="fr-FR" sz="1100" spc="155" dirty="0">
                <a:highlight>
                  <a:srgbClr val="FFFF00"/>
                </a:highlight>
                <a:latin typeface="Century Gothic"/>
                <a:cs typeface="Century Gothic"/>
              </a:rPr>
              <a:t> </a:t>
            </a:r>
            <a:r>
              <a:rPr lang="fr-FR" sz="1100" spc="-10" dirty="0">
                <a:highlight>
                  <a:srgbClr val="FFFF00"/>
                </a:highlight>
                <a:latin typeface="Century Gothic"/>
                <a:cs typeface="Century Gothic"/>
              </a:rPr>
              <a:t>progrès </a:t>
            </a:r>
            <a:r>
              <a:rPr lang="fr-FR" sz="1100" dirty="0">
                <a:highlight>
                  <a:srgbClr val="FFFF00"/>
                </a:highlight>
                <a:latin typeface="Century Gothic"/>
                <a:cs typeface="Century Gothic"/>
              </a:rPr>
              <a:t>social</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va</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de</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pair</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avec</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une</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rationalisation</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un</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caractère</a:t>
            </a:r>
            <a:r>
              <a:rPr lang="fr-FR" sz="1100" spc="125" dirty="0">
                <a:highlight>
                  <a:srgbClr val="FFFF00"/>
                </a:highlight>
                <a:latin typeface="Century Gothic"/>
                <a:cs typeface="Century Gothic"/>
              </a:rPr>
              <a:t> </a:t>
            </a:r>
            <a:r>
              <a:rPr lang="fr-FR" sz="1100" spc="-10" dirty="0">
                <a:highlight>
                  <a:srgbClr val="FFFF00"/>
                </a:highlight>
                <a:latin typeface="Century Gothic"/>
                <a:cs typeface="Century Gothic"/>
              </a:rPr>
              <a:t>évolutif </a:t>
            </a:r>
            <a:r>
              <a:rPr lang="fr-FR" sz="1100" dirty="0">
                <a:highlight>
                  <a:srgbClr val="FFFF00"/>
                </a:highlight>
                <a:latin typeface="Century Gothic"/>
                <a:cs typeface="Century Gothic"/>
              </a:rPr>
              <a:t>et</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modernité</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visait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efficacité</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maîtrise</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des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coûts</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au</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profit</a:t>
            </a:r>
            <a:r>
              <a:rPr lang="fr-FR" sz="1100" spc="25" dirty="0">
                <a:highlight>
                  <a:srgbClr val="FFFF00"/>
                </a:highlight>
                <a:latin typeface="Century Gothic"/>
                <a:cs typeface="Century Gothic"/>
              </a:rPr>
              <a:t> </a:t>
            </a:r>
            <a:r>
              <a:rPr lang="fr-FR" sz="1100" spc="-25" dirty="0">
                <a:highlight>
                  <a:srgbClr val="FFFF00"/>
                </a:highlight>
                <a:latin typeface="Century Gothic"/>
                <a:cs typeface="Century Gothic"/>
              </a:rPr>
              <a:t>du </a:t>
            </a:r>
            <a:r>
              <a:rPr lang="fr-FR" sz="1100" dirty="0">
                <a:highlight>
                  <a:srgbClr val="FFFF00"/>
                </a:highlight>
                <a:latin typeface="Century Gothic"/>
                <a:cs typeface="Century Gothic"/>
              </a:rPr>
              <a:t>confort</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pour</a:t>
            </a:r>
            <a:r>
              <a:rPr lang="fr-FR" sz="1100" spc="-15" dirty="0">
                <a:highlight>
                  <a:srgbClr val="FFFF00"/>
                </a:highlight>
                <a:latin typeface="Century Gothic"/>
                <a:cs typeface="Century Gothic"/>
              </a:rPr>
              <a:t> </a:t>
            </a:r>
            <a:r>
              <a:rPr lang="fr-FR" sz="1100" dirty="0">
                <a:highlight>
                  <a:srgbClr val="FFFF00"/>
                </a:highlight>
                <a:latin typeface="Century Gothic"/>
                <a:cs typeface="Century Gothic"/>
              </a:rPr>
              <a:t>le</a:t>
            </a:r>
            <a:r>
              <a:rPr lang="fr-FR" sz="1100" spc="-15" dirty="0">
                <a:highlight>
                  <a:srgbClr val="FFFF00"/>
                </a:highlight>
                <a:latin typeface="Century Gothic"/>
                <a:cs typeface="Century Gothic"/>
              </a:rPr>
              <a:t> </a:t>
            </a:r>
            <a:r>
              <a:rPr lang="fr-FR" sz="1100" dirty="0">
                <a:highlight>
                  <a:srgbClr val="FFFF00"/>
                </a:highlight>
                <a:latin typeface="Century Gothic"/>
                <a:cs typeface="Century Gothic"/>
              </a:rPr>
              <a:t>plus</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grand</a:t>
            </a:r>
            <a:r>
              <a:rPr lang="fr-FR" sz="1100" spc="-15" dirty="0">
                <a:highlight>
                  <a:srgbClr val="FFFF00"/>
                </a:highlight>
                <a:latin typeface="Century Gothic"/>
                <a:cs typeface="Century Gothic"/>
              </a:rPr>
              <a:t> </a:t>
            </a:r>
            <a:r>
              <a:rPr lang="fr-FR" sz="1100" spc="-10" dirty="0">
                <a:highlight>
                  <a:srgbClr val="FFFF00"/>
                </a:highlight>
                <a:latin typeface="Century Gothic"/>
                <a:cs typeface="Century Gothic"/>
              </a:rPr>
              <a:t>nombre.</a:t>
            </a:r>
          </a:p>
          <a:p>
            <a:pPr marL="12700" marR="5080" indent="-635" algn="just">
              <a:spcBef>
                <a:spcPts val="1320"/>
              </a:spcBef>
            </a:pPr>
            <a:r>
              <a:rPr lang="fr-FR" sz="1100" dirty="0">
                <a:highlight>
                  <a:srgbClr val="FFFF00"/>
                </a:highlight>
                <a:latin typeface="Century Gothic"/>
                <a:cs typeface="Century Gothic"/>
              </a:rPr>
              <a:t>A&amp;B</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Architectes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s’attachera</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définir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faire</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partager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philosophie </a:t>
            </a:r>
            <a:r>
              <a:rPr lang="fr-FR" sz="1100" dirty="0">
                <a:highlight>
                  <a:srgbClr val="FFFF00"/>
                </a:highlight>
                <a:latin typeface="Century Gothic"/>
                <a:cs typeface="Century Gothic"/>
              </a:rPr>
              <a:t>globale</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du</a:t>
            </a:r>
            <a:r>
              <a:rPr lang="fr-FR" sz="1100" spc="120" dirty="0">
                <a:highlight>
                  <a:srgbClr val="FFFF00"/>
                </a:highlight>
                <a:latin typeface="Century Gothic"/>
                <a:cs typeface="Century Gothic"/>
              </a:rPr>
              <a:t>  </a:t>
            </a:r>
            <a:r>
              <a:rPr lang="fr-FR" sz="1100" dirty="0">
                <a:highlight>
                  <a:srgbClr val="FFFF00"/>
                </a:highlight>
                <a:latin typeface="Century Gothic"/>
                <a:cs typeface="Century Gothic"/>
              </a:rPr>
              <a:t>projet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architectural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il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apparait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dès</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120" dirty="0">
                <a:highlight>
                  <a:srgbClr val="FFFF00"/>
                </a:highlight>
                <a:latin typeface="Century Gothic"/>
                <a:cs typeface="Century Gothic"/>
              </a:rPr>
              <a:t>  </a:t>
            </a:r>
            <a:r>
              <a:rPr lang="fr-FR" sz="1100" spc="-10" dirty="0">
                <a:highlight>
                  <a:srgbClr val="FFFF00"/>
                </a:highlight>
                <a:latin typeface="Century Gothic"/>
                <a:cs typeface="Century Gothic"/>
              </a:rPr>
              <a:t>présent </a:t>
            </a:r>
            <a:r>
              <a:rPr lang="fr-FR" sz="1100" dirty="0">
                <a:highlight>
                  <a:srgbClr val="FFFF00"/>
                </a:highlight>
                <a:latin typeface="Century Gothic"/>
                <a:cs typeface="Century Gothic"/>
              </a:rPr>
              <a:t>important</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d’inscrire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réhabilitation</a:t>
            </a:r>
            <a:r>
              <a:rPr lang="fr-FR" sz="1100" spc="165" dirty="0">
                <a:highlight>
                  <a:srgbClr val="FFFF00"/>
                </a:highlight>
                <a:latin typeface="Century Gothic"/>
                <a:cs typeface="Century Gothic"/>
              </a:rPr>
              <a:t> </a:t>
            </a:r>
            <a:r>
              <a:rPr lang="fr-FR" sz="1100" dirty="0">
                <a:highlight>
                  <a:srgbClr val="FFFF00"/>
                </a:highlight>
                <a:latin typeface="Century Gothic"/>
                <a:cs typeface="Century Gothic"/>
              </a:rPr>
              <a:t>de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résidence</a:t>
            </a:r>
            <a:r>
              <a:rPr lang="fr-FR" sz="1100" spc="-10" dirty="0">
                <a:highlight>
                  <a:srgbClr val="FFFF00"/>
                </a:highlight>
                <a:latin typeface="Century Gothic"/>
                <a:cs typeface="Century Gothic"/>
              </a:rPr>
              <a:t>, </a:t>
            </a:r>
            <a:r>
              <a:rPr lang="fr-FR" sz="1100" dirty="0">
                <a:highlight>
                  <a:srgbClr val="FFFF00"/>
                </a:highlight>
                <a:latin typeface="Century Gothic"/>
                <a:cs typeface="Century Gothic"/>
              </a:rPr>
              <a:t>dans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une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dynamique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élégante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d’envergure.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A</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savoir</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celle</a:t>
            </a:r>
            <a:r>
              <a:rPr lang="fr-FR" sz="1100" spc="160" dirty="0">
                <a:highlight>
                  <a:srgbClr val="FFFF00"/>
                </a:highlight>
                <a:latin typeface="Century Gothic"/>
                <a:cs typeface="Century Gothic"/>
              </a:rPr>
              <a:t> </a:t>
            </a:r>
            <a:r>
              <a:rPr lang="fr-FR" sz="1100" spc="-25" dirty="0">
                <a:highlight>
                  <a:srgbClr val="FFFF00"/>
                </a:highlight>
                <a:latin typeface="Century Gothic"/>
                <a:cs typeface="Century Gothic"/>
              </a:rPr>
              <a:t>des </a:t>
            </a:r>
            <a:r>
              <a:rPr lang="fr-FR" sz="1100" dirty="0">
                <a:highlight>
                  <a:srgbClr val="FFFF00"/>
                </a:highlight>
                <a:latin typeface="Century Gothic"/>
                <a:cs typeface="Century Gothic"/>
              </a:rPr>
              <a:t>caractéristiques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ambitions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d’un</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habitat,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le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souci</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du</a:t>
            </a:r>
            <a:r>
              <a:rPr lang="fr-FR" sz="1100" spc="155" dirty="0">
                <a:highlight>
                  <a:srgbClr val="FFFF00"/>
                </a:highlight>
                <a:latin typeface="Century Gothic"/>
                <a:cs typeface="Century Gothic"/>
              </a:rPr>
              <a:t> </a:t>
            </a:r>
            <a:r>
              <a:rPr lang="fr-FR" sz="1100" spc="-10" dirty="0">
                <a:highlight>
                  <a:srgbClr val="FFFF00"/>
                </a:highlight>
                <a:latin typeface="Century Gothic"/>
                <a:cs typeface="Century Gothic"/>
              </a:rPr>
              <a:t>progrès </a:t>
            </a:r>
            <a:r>
              <a:rPr lang="fr-FR" sz="1100" dirty="0">
                <a:highlight>
                  <a:srgbClr val="FFFF00"/>
                </a:highlight>
                <a:latin typeface="Century Gothic"/>
                <a:cs typeface="Century Gothic"/>
              </a:rPr>
              <a:t>social</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va</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de</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pair</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avec</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une</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rationalisation</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un</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caractère</a:t>
            </a:r>
            <a:r>
              <a:rPr lang="fr-FR" sz="1100" spc="125" dirty="0">
                <a:highlight>
                  <a:srgbClr val="FFFF00"/>
                </a:highlight>
                <a:latin typeface="Century Gothic"/>
                <a:cs typeface="Century Gothic"/>
              </a:rPr>
              <a:t> </a:t>
            </a:r>
            <a:r>
              <a:rPr lang="fr-FR" sz="1100" spc="-10" dirty="0">
                <a:highlight>
                  <a:srgbClr val="FFFF00"/>
                </a:highlight>
                <a:latin typeface="Century Gothic"/>
                <a:cs typeface="Century Gothic"/>
              </a:rPr>
              <a:t>évolutif </a:t>
            </a:r>
            <a:r>
              <a:rPr lang="fr-FR" sz="1100" dirty="0">
                <a:highlight>
                  <a:srgbClr val="FFFF00"/>
                </a:highlight>
                <a:latin typeface="Century Gothic"/>
                <a:cs typeface="Century Gothic"/>
              </a:rPr>
              <a:t>et</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modernité</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visait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efficacité</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maîtrise</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des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coûts</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au</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profit</a:t>
            </a:r>
            <a:r>
              <a:rPr lang="fr-FR" sz="1100" spc="25" dirty="0">
                <a:highlight>
                  <a:srgbClr val="FFFF00"/>
                </a:highlight>
                <a:latin typeface="Century Gothic"/>
                <a:cs typeface="Century Gothic"/>
              </a:rPr>
              <a:t> </a:t>
            </a:r>
            <a:r>
              <a:rPr lang="fr-FR" sz="1100" spc="-25" dirty="0">
                <a:highlight>
                  <a:srgbClr val="FFFF00"/>
                </a:highlight>
                <a:latin typeface="Century Gothic"/>
                <a:cs typeface="Century Gothic"/>
              </a:rPr>
              <a:t>du </a:t>
            </a:r>
            <a:r>
              <a:rPr lang="fr-FR" sz="1100" dirty="0">
                <a:highlight>
                  <a:srgbClr val="FFFF00"/>
                </a:highlight>
                <a:latin typeface="Century Gothic"/>
                <a:cs typeface="Century Gothic"/>
              </a:rPr>
              <a:t>confort</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pour</a:t>
            </a:r>
            <a:r>
              <a:rPr lang="fr-FR" sz="1100" spc="-15" dirty="0">
                <a:highlight>
                  <a:srgbClr val="FFFF00"/>
                </a:highlight>
                <a:latin typeface="Century Gothic"/>
                <a:cs typeface="Century Gothic"/>
              </a:rPr>
              <a:t> </a:t>
            </a:r>
            <a:r>
              <a:rPr lang="fr-FR" sz="1100" dirty="0">
                <a:highlight>
                  <a:srgbClr val="FFFF00"/>
                </a:highlight>
                <a:latin typeface="Century Gothic"/>
                <a:cs typeface="Century Gothic"/>
              </a:rPr>
              <a:t>le</a:t>
            </a:r>
            <a:r>
              <a:rPr lang="fr-FR" sz="1100" spc="-15" dirty="0">
                <a:highlight>
                  <a:srgbClr val="FFFF00"/>
                </a:highlight>
                <a:latin typeface="Century Gothic"/>
                <a:cs typeface="Century Gothic"/>
              </a:rPr>
              <a:t> </a:t>
            </a:r>
            <a:r>
              <a:rPr lang="fr-FR" sz="1100" dirty="0">
                <a:highlight>
                  <a:srgbClr val="FFFF00"/>
                </a:highlight>
                <a:latin typeface="Century Gothic"/>
                <a:cs typeface="Century Gothic"/>
              </a:rPr>
              <a:t>plus</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grand</a:t>
            </a:r>
            <a:r>
              <a:rPr lang="fr-FR" sz="1100" spc="-15" dirty="0">
                <a:highlight>
                  <a:srgbClr val="FFFF00"/>
                </a:highlight>
                <a:latin typeface="Century Gothic"/>
                <a:cs typeface="Century Gothic"/>
              </a:rPr>
              <a:t> </a:t>
            </a:r>
            <a:r>
              <a:rPr lang="fr-FR" sz="1100" spc="-10" dirty="0">
                <a:highlight>
                  <a:srgbClr val="FFFF00"/>
                </a:highlight>
                <a:latin typeface="Century Gothic"/>
                <a:cs typeface="Century Gothic"/>
              </a:rPr>
              <a:t>nombre.</a:t>
            </a:r>
            <a:endParaRPr lang="fr-FR" sz="1100" dirty="0">
              <a:highlight>
                <a:srgbClr val="FFFF00"/>
              </a:highlight>
              <a:latin typeface="Century Gothic"/>
              <a:cs typeface="Century Gothic"/>
            </a:endParaRPr>
          </a:p>
          <a:p>
            <a:pPr marL="12700" marR="5080" indent="-635" algn="just">
              <a:spcBef>
                <a:spcPts val="1320"/>
              </a:spcBef>
            </a:pPr>
            <a:r>
              <a:rPr lang="fr-FR" sz="1100" dirty="0">
                <a:highlight>
                  <a:srgbClr val="FFFF00"/>
                </a:highlight>
                <a:latin typeface="Century Gothic"/>
                <a:cs typeface="Century Gothic"/>
              </a:rPr>
              <a:t>A&amp;B</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Architectes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s’attachera</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définir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faire</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partager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philosophie </a:t>
            </a:r>
            <a:r>
              <a:rPr lang="fr-FR" sz="1100" dirty="0">
                <a:highlight>
                  <a:srgbClr val="FFFF00"/>
                </a:highlight>
                <a:latin typeface="Century Gothic"/>
                <a:cs typeface="Century Gothic"/>
              </a:rPr>
              <a:t>globale</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du</a:t>
            </a:r>
            <a:r>
              <a:rPr lang="fr-FR" sz="1100" spc="120" dirty="0">
                <a:highlight>
                  <a:srgbClr val="FFFF00"/>
                </a:highlight>
                <a:latin typeface="Century Gothic"/>
                <a:cs typeface="Century Gothic"/>
              </a:rPr>
              <a:t>  </a:t>
            </a:r>
            <a:r>
              <a:rPr lang="fr-FR" sz="1100" dirty="0">
                <a:highlight>
                  <a:srgbClr val="FFFF00"/>
                </a:highlight>
                <a:latin typeface="Century Gothic"/>
                <a:cs typeface="Century Gothic"/>
              </a:rPr>
              <a:t>projet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architectural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il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apparait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dès</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120" dirty="0">
                <a:highlight>
                  <a:srgbClr val="FFFF00"/>
                </a:highlight>
                <a:latin typeface="Century Gothic"/>
                <a:cs typeface="Century Gothic"/>
              </a:rPr>
              <a:t>  </a:t>
            </a:r>
            <a:r>
              <a:rPr lang="fr-FR" sz="1100" spc="-10" dirty="0">
                <a:highlight>
                  <a:srgbClr val="FFFF00"/>
                </a:highlight>
                <a:latin typeface="Century Gothic"/>
                <a:cs typeface="Century Gothic"/>
              </a:rPr>
              <a:t>présent </a:t>
            </a:r>
            <a:r>
              <a:rPr lang="fr-FR" sz="1100" dirty="0">
                <a:highlight>
                  <a:srgbClr val="FFFF00"/>
                </a:highlight>
                <a:latin typeface="Century Gothic"/>
                <a:cs typeface="Century Gothic"/>
              </a:rPr>
              <a:t>important</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d’inscrire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réhabilitation</a:t>
            </a:r>
            <a:r>
              <a:rPr lang="fr-FR" sz="1100" spc="165" dirty="0">
                <a:highlight>
                  <a:srgbClr val="FFFF00"/>
                </a:highlight>
                <a:latin typeface="Century Gothic"/>
                <a:cs typeface="Century Gothic"/>
              </a:rPr>
              <a:t> </a:t>
            </a:r>
            <a:r>
              <a:rPr lang="fr-FR" sz="1100" dirty="0">
                <a:highlight>
                  <a:srgbClr val="FFFF00"/>
                </a:highlight>
                <a:latin typeface="Century Gothic"/>
                <a:cs typeface="Century Gothic"/>
              </a:rPr>
              <a:t>de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résidence</a:t>
            </a:r>
            <a:r>
              <a:rPr lang="fr-FR" sz="1100" spc="-10" dirty="0">
                <a:highlight>
                  <a:srgbClr val="FFFF00"/>
                </a:highlight>
                <a:latin typeface="Century Gothic"/>
                <a:cs typeface="Century Gothic"/>
              </a:rPr>
              <a:t>, </a:t>
            </a:r>
            <a:r>
              <a:rPr lang="fr-FR" sz="1100" dirty="0">
                <a:highlight>
                  <a:srgbClr val="FFFF00"/>
                </a:highlight>
                <a:latin typeface="Century Gothic"/>
                <a:cs typeface="Century Gothic"/>
              </a:rPr>
              <a:t>dans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une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dynamique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élégante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d’envergure.</a:t>
            </a:r>
            <a:r>
              <a:rPr lang="fr-FR" sz="1100" spc="160" dirty="0">
                <a:highlight>
                  <a:srgbClr val="FFFF00"/>
                </a:highlight>
                <a:latin typeface="Century Gothic"/>
                <a:cs typeface="Century Gothic"/>
              </a:rPr>
              <a:t> </a:t>
            </a:r>
          </a:p>
          <a:p>
            <a:pPr marL="12700" marR="5080" indent="-635" algn="just">
              <a:spcBef>
                <a:spcPts val="1320"/>
              </a:spcBef>
            </a:pPr>
            <a:r>
              <a:rPr lang="fr-FR" sz="1100" dirty="0">
                <a:solidFill>
                  <a:srgbClr val="2A3E67"/>
                </a:solidFill>
                <a:latin typeface="Century Gothic"/>
                <a:cs typeface="Century Gothic"/>
              </a:rPr>
              <a:t>C – CALENDRIER PREVISIONNEL</a:t>
            </a:r>
            <a:endParaRPr lang="fr-FR" sz="1100" dirty="0">
              <a:latin typeface="Century Gothic"/>
              <a:cs typeface="Century Gothic"/>
            </a:endParaRPr>
          </a:p>
          <a:p>
            <a:pPr marL="12700" marR="5080" indent="-635" algn="just">
              <a:spcBef>
                <a:spcPts val="1320"/>
              </a:spcBef>
            </a:pPr>
            <a:r>
              <a:rPr lang="fr-FR" sz="1100" dirty="0">
                <a:highlight>
                  <a:srgbClr val="FFFF00"/>
                </a:highlight>
                <a:latin typeface="Century Gothic"/>
                <a:cs typeface="Century Gothic"/>
              </a:rPr>
              <a:t>A&amp;B</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Architectes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s’attachera</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définir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faire</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partager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philosophie </a:t>
            </a:r>
            <a:r>
              <a:rPr lang="fr-FR" sz="1100" dirty="0">
                <a:highlight>
                  <a:srgbClr val="FFFF00"/>
                </a:highlight>
                <a:latin typeface="Century Gothic"/>
                <a:cs typeface="Century Gothic"/>
              </a:rPr>
              <a:t>globale</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du</a:t>
            </a:r>
            <a:r>
              <a:rPr lang="fr-FR" sz="1100" spc="120" dirty="0">
                <a:highlight>
                  <a:srgbClr val="FFFF00"/>
                </a:highlight>
                <a:latin typeface="Century Gothic"/>
                <a:cs typeface="Century Gothic"/>
              </a:rPr>
              <a:t>  </a:t>
            </a:r>
            <a:r>
              <a:rPr lang="fr-FR" sz="1100" dirty="0">
                <a:highlight>
                  <a:srgbClr val="FFFF00"/>
                </a:highlight>
                <a:latin typeface="Century Gothic"/>
                <a:cs typeface="Century Gothic"/>
              </a:rPr>
              <a:t>projet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architectural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il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apparait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dès</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120" dirty="0">
                <a:highlight>
                  <a:srgbClr val="FFFF00"/>
                </a:highlight>
                <a:latin typeface="Century Gothic"/>
                <a:cs typeface="Century Gothic"/>
              </a:rPr>
              <a:t>  </a:t>
            </a:r>
            <a:r>
              <a:rPr lang="fr-FR" sz="1100" spc="-10" dirty="0">
                <a:highlight>
                  <a:srgbClr val="FFFF00"/>
                </a:highlight>
                <a:latin typeface="Century Gothic"/>
                <a:cs typeface="Century Gothic"/>
              </a:rPr>
              <a:t>présent </a:t>
            </a:r>
            <a:r>
              <a:rPr lang="fr-FR" sz="1100" dirty="0">
                <a:highlight>
                  <a:srgbClr val="FFFF00"/>
                </a:highlight>
                <a:latin typeface="Century Gothic"/>
                <a:cs typeface="Century Gothic"/>
              </a:rPr>
              <a:t>important. 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maîtrise</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des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coûts</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au</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profit</a:t>
            </a:r>
            <a:r>
              <a:rPr lang="fr-FR" sz="1100" spc="25" dirty="0">
                <a:highlight>
                  <a:srgbClr val="FFFF00"/>
                </a:highlight>
                <a:latin typeface="Century Gothic"/>
                <a:cs typeface="Century Gothic"/>
              </a:rPr>
              <a:t> </a:t>
            </a:r>
            <a:r>
              <a:rPr lang="fr-FR" sz="1100" spc="-25" dirty="0">
                <a:highlight>
                  <a:srgbClr val="FFFF00"/>
                </a:highlight>
                <a:latin typeface="Century Gothic"/>
                <a:cs typeface="Century Gothic"/>
              </a:rPr>
              <a:t>du </a:t>
            </a:r>
            <a:r>
              <a:rPr lang="fr-FR" sz="1100" dirty="0">
                <a:highlight>
                  <a:srgbClr val="FFFF00"/>
                </a:highlight>
                <a:latin typeface="Century Gothic"/>
                <a:cs typeface="Century Gothic"/>
              </a:rPr>
              <a:t>confort</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pour</a:t>
            </a:r>
            <a:r>
              <a:rPr lang="fr-FR" sz="1100" spc="-15" dirty="0">
                <a:highlight>
                  <a:srgbClr val="FFFF00"/>
                </a:highlight>
                <a:latin typeface="Century Gothic"/>
                <a:cs typeface="Century Gothic"/>
              </a:rPr>
              <a:t> </a:t>
            </a:r>
            <a:r>
              <a:rPr lang="fr-FR" sz="1100" dirty="0">
                <a:highlight>
                  <a:srgbClr val="FFFF00"/>
                </a:highlight>
                <a:latin typeface="Century Gothic"/>
                <a:cs typeface="Century Gothic"/>
              </a:rPr>
              <a:t>le</a:t>
            </a:r>
            <a:r>
              <a:rPr lang="fr-FR" sz="1100" spc="-15" dirty="0">
                <a:highlight>
                  <a:srgbClr val="FFFF00"/>
                </a:highlight>
                <a:latin typeface="Century Gothic"/>
                <a:cs typeface="Century Gothic"/>
              </a:rPr>
              <a:t> </a:t>
            </a:r>
            <a:r>
              <a:rPr lang="fr-FR" sz="1100" dirty="0">
                <a:highlight>
                  <a:srgbClr val="FFFF00"/>
                </a:highlight>
                <a:latin typeface="Century Gothic"/>
                <a:cs typeface="Century Gothic"/>
              </a:rPr>
              <a:t>plus</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grand</a:t>
            </a:r>
            <a:r>
              <a:rPr lang="fr-FR" sz="1100" spc="-15" dirty="0">
                <a:highlight>
                  <a:srgbClr val="FFFF00"/>
                </a:highlight>
                <a:latin typeface="Century Gothic"/>
                <a:cs typeface="Century Gothic"/>
              </a:rPr>
              <a:t> </a:t>
            </a:r>
            <a:r>
              <a:rPr lang="fr-FR" sz="1100" spc="-10" dirty="0">
                <a:highlight>
                  <a:srgbClr val="FFFF00"/>
                </a:highlight>
                <a:latin typeface="Century Gothic"/>
                <a:cs typeface="Century Gothic"/>
              </a:rPr>
              <a:t>nombre.</a:t>
            </a:r>
          </a:p>
        </p:txBody>
      </p:sp>
      <p:grpSp>
        <p:nvGrpSpPr>
          <p:cNvPr id="8" name="object 15">
            <a:extLst>
              <a:ext uri="{FF2B5EF4-FFF2-40B4-BE49-F238E27FC236}">
                <a16:creationId xmlns:a16="http://schemas.microsoft.com/office/drawing/2014/main" id="{E83E02C5-0DA2-E49F-46C4-0BFADD4A4651}"/>
              </a:ext>
            </a:extLst>
          </p:cNvPr>
          <p:cNvGrpSpPr/>
          <p:nvPr/>
        </p:nvGrpSpPr>
        <p:grpSpPr>
          <a:xfrm>
            <a:off x="5333300" y="826277"/>
            <a:ext cx="25400" cy="5882640"/>
            <a:chOff x="5333300" y="826277"/>
            <a:chExt cx="25400" cy="5882640"/>
          </a:xfrm>
        </p:grpSpPr>
        <p:sp>
          <p:nvSpPr>
            <p:cNvPr id="9" name="object 16">
              <a:extLst>
                <a:ext uri="{FF2B5EF4-FFF2-40B4-BE49-F238E27FC236}">
                  <a16:creationId xmlns:a16="http://schemas.microsoft.com/office/drawing/2014/main" id="{22D788EE-FA3B-362D-87C5-BBE3FC61826D}"/>
                </a:ext>
              </a:extLst>
            </p:cNvPr>
            <p:cNvSpPr/>
            <p:nvPr/>
          </p:nvSpPr>
          <p:spPr>
            <a:xfrm>
              <a:off x="5346000" y="826277"/>
              <a:ext cx="0" cy="5831840"/>
            </a:xfrm>
            <a:custGeom>
              <a:avLst/>
              <a:gdLst/>
              <a:ahLst/>
              <a:cxnLst/>
              <a:rect l="l" t="t" r="r" b="b"/>
              <a:pathLst>
                <a:path h="5831840">
                  <a:moveTo>
                    <a:pt x="0" y="0"/>
                  </a:moveTo>
                  <a:lnTo>
                    <a:pt x="0" y="5831624"/>
                  </a:lnTo>
                </a:path>
              </a:pathLst>
            </a:custGeom>
            <a:ln w="25400">
              <a:solidFill>
                <a:srgbClr val="2A3E67"/>
              </a:solidFill>
              <a:prstDash val="dot"/>
            </a:ln>
          </p:spPr>
          <p:txBody>
            <a:bodyPr wrap="square" lIns="0" tIns="0" rIns="0" bIns="0" rtlCol="0"/>
            <a:lstStyle/>
            <a:p>
              <a:endParaRPr/>
            </a:p>
          </p:txBody>
        </p:sp>
        <p:sp>
          <p:nvSpPr>
            <p:cNvPr id="10" name="object 17">
              <a:extLst>
                <a:ext uri="{FF2B5EF4-FFF2-40B4-BE49-F238E27FC236}">
                  <a16:creationId xmlns:a16="http://schemas.microsoft.com/office/drawing/2014/main" id="{0655A524-9AC2-655A-5888-A03B1B33F309}"/>
                </a:ext>
              </a:extLst>
            </p:cNvPr>
            <p:cNvSpPr/>
            <p:nvPr/>
          </p:nvSpPr>
          <p:spPr>
            <a:xfrm>
              <a:off x="5333300" y="6683307"/>
              <a:ext cx="25400" cy="25400"/>
            </a:xfrm>
            <a:custGeom>
              <a:avLst/>
              <a:gdLst/>
              <a:ahLst/>
              <a:cxnLst/>
              <a:rect l="l" t="t" r="r" b="b"/>
              <a:pathLst>
                <a:path w="25400" h="25400">
                  <a:moveTo>
                    <a:pt x="0" y="12700"/>
                  </a:moveTo>
                  <a:lnTo>
                    <a:pt x="3719" y="3719"/>
                  </a:lnTo>
                  <a:lnTo>
                    <a:pt x="12700" y="0"/>
                  </a:lnTo>
                  <a:lnTo>
                    <a:pt x="21680" y="3719"/>
                  </a:lnTo>
                  <a:lnTo>
                    <a:pt x="25400" y="12700"/>
                  </a:lnTo>
                  <a:lnTo>
                    <a:pt x="21680" y="21680"/>
                  </a:lnTo>
                  <a:lnTo>
                    <a:pt x="12700" y="25400"/>
                  </a:lnTo>
                  <a:lnTo>
                    <a:pt x="3719" y="21680"/>
                  </a:lnTo>
                  <a:lnTo>
                    <a:pt x="0" y="12700"/>
                  </a:lnTo>
                  <a:close/>
                </a:path>
              </a:pathLst>
            </a:custGeom>
            <a:solidFill>
              <a:srgbClr val="2A3E67"/>
            </a:solidFill>
          </p:spPr>
          <p:txBody>
            <a:bodyPr wrap="square" lIns="0" tIns="0" rIns="0" bIns="0" rtlCol="0"/>
            <a:lstStyle/>
            <a:p>
              <a:endParaRPr/>
            </a:p>
          </p:txBody>
        </p:sp>
      </p:grpSp>
      <p:sp>
        <p:nvSpPr>
          <p:cNvPr id="11" name="object 3">
            <a:extLst>
              <a:ext uri="{FF2B5EF4-FFF2-40B4-BE49-F238E27FC236}">
                <a16:creationId xmlns:a16="http://schemas.microsoft.com/office/drawing/2014/main" id="{43E7FD35-8668-55EB-0405-795751263332}"/>
              </a:ext>
            </a:extLst>
          </p:cNvPr>
          <p:cNvSpPr txBox="1"/>
          <p:nvPr/>
        </p:nvSpPr>
        <p:spPr>
          <a:xfrm>
            <a:off x="491299" y="812541"/>
            <a:ext cx="4647565" cy="5801588"/>
          </a:xfrm>
          <a:prstGeom prst="rect">
            <a:avLst/>
          </a:prstGeom>
        </p:spPr>
        <p:txBody>
          <a:bodyPr vert="horz" wrap="square" lIns="0" tIns="12700" rIns="0" bIns="0" rtlCol="0">
            <a:spAutoFit/>
          </a:bodyPr>
          <a:lstStyle/>
          <a:p>
            <a:pPr marL="12700">
              <a:lnSpc>
                <a:spcPct val="100000"/>
              </a:lnSpc>
              <a:spcBef>
                <a:spcPts val="5"/>
              </a:spcBef>
            </a:pPr>
            <a:r>
              <a:rPr lang="fr-FR" sz="1400" b="1" dirty="0">
                <a:solidFill>
                  <a:srgbClr val="C50A4C"/>
                </a:solidFill>
                <a:latin typeface="Century Gothic"/>
                <a:cs typeface="Century Gothic"/>
              </a:rPr>
              <a:t>3</a:t>
            </a:r>
            <a:r>
              <a:rPr sz="1400" b="1" dirty="0">
                <a:solidFill>
                  <a:srgbClr val="C50A4C"/>
                </a:solidFill>
                <a:latin typeface="Century Gothic"/>
                <a:cs typeface="Century Gothic"/>
              </a:rPr>
              <a:t>.</a:t>
            </a:r>
            <a:r>
              <a:rPr sz="1400" b="1" spc="-10" dirty="0">
                <a:solidFill>
                  <a:srgbClr val="C50A4C"/>
                </a:solidFill>
                <a:latin typeface="Century Gothic"/>
                <a:cs typeface="Century Gothic"/>
              </a:rPr>
              <a:t> </a:t>
            </a:r>
            <a:r>
              <a:rPr lang="fr-FR" sz="1400" b="1" dirty="0">
                <a:solidFill>
                  <a:srgbClr val="C50A4C"/>
                </a:solidFill>
                <a:latin typeface="Century Gothic"/>
                <a:cs typeface="Century Gothic"/>
              </a:rPr>
              <a:t>LES ENJEUX DE L’OPERATION</a:t>
            </a:r>
            <a:endParaRPr sz="1400" dirty="0">
              <a:latin typeface="Century Gothic"/>
              <a:cs typeface="Century Gothic"/>
            </a:endParaRPr>
          </a:p>
          <a:p>
            <a:pPr marL="12700" algn="just">
              <a:lnSpc>
                <a:spcPct val="100000"/>
              </a:lnSpc>
              <a:spcBef>
                <a:spcPts val="1255"/>
              </a:spcBef>
            </a:pPr>
            <a:r>
              <a:rPr lang="fr-FR" sz="1100" dirty="0">
                <a:solidFill>
                  <a:srgbClr val="2A3E67"/>
                </a:solidFill>
                <a:latin typeface="Century Gothic"/>
                <a:cs typeface="Century Gothic"/>
              </a:rPr>
              <a:t>A – LE PROGRAMME TRAVAUX</a:t>
            </a:r>
            <a:endParaRPr lang="fr-FR" sz="1100" dirty="0">
              <a:latin typeface="Century Gothic"/>
              <a:cs typeface="Century Gothic"/>
            </a:endParaRPr>
          </a:p>
          <a:p>
            <a:pPr marL="12700" marR="5080" indent="-635" algn="just">
              <a:lnSpc>
                <a:spcPct val="100000"/>
              </a:lnSpc>
              <a:spcBef>
                <a:spcPts val="1320"/>
              </a:spcBef>
            </a:pPr>
            <a:r>
              <a:rPr lang="fr-FR" sz="1100" dirty="0">
                <a:highlight>
                  <a:srgbClr val="FFFF00"/>
                </a:highlight>
                <a:latin typeface="Century Gothic"/>
                <a:cs typeface="Century Gothic"/>
              </a:rPr>
              <a:t>A&amp;B</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Architectes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s’attachera</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définir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faire</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partager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philosophie </a:t>
            </a:r>
            <a:r>
              <a:rPr lang="fr-FR" sz="1100" dirty="0">
                <a:highlight>
                  <a:srgbClr val="FFFF00"/>
                </a:highlight>
                <a:latin typeface="Century Gothic"/>
                <a:cs typeface="Century Gothic"/>
              </a:rPr>
              <a:t>globale</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du</a:t>
            </a:r>
            <a:r>
              <a:rPr lang="fr-FR" sz="1100" spc="120" dirty="0">
                <a:highlight>
                  <a:srgbClr val="FFFF00"/>
                </a:highlight>
                <a:latin typeface="Century Gothic"/>
                <a:cs typeface="Century Gothic"/>
              </a:rPr>
              <a:t>  </a:t>
            </a:r>
            <a:r>
              <a:rPr lang="fr-FR" sz="1100" dirty="0">
                <a:highlight>
                  <a:srgbClr val="FFFF00"/>
                </a:highlight>
                <a:latin typeface="Century Gothic"/>
                <a:cs typeface="Century Gothic"/>
              </a:rPr>
              <a:t>projet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architectural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il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apparait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dès</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120" dirty="0">
                <a:highlight>
                  <a:srgbClr val="FFFF00"/>
                </a:highlight>
                <a:latin typeface="Century Gothic"/>
                <a:cs typeface="Century Gothic"/>
              </a:rPr>
              <a:t>  </a:t>
            </a:r>
            <a:r>
              <a:rPr lang="fr-FR" sz="1100" spc="-10" dirty="0">
                <a:highlight>
                  <a:srgbClr val="FFFF00"/>
                </a:highlight>
                <a:latin typeface="Century Gothic"/>
                <a:cs typeface="Century Gothic"/>
              </a:rPr>
              <a:t>présent </a:t>
            </a:r>
            <a:r>
              <a:rPr lang="fr-FR" sz="1100" dirty="0">
                <a:highlight>
                  <a:srgbClr val="FFFF00"/>
                </a:highlight>
                <a:latin typeface="Century Gothic"/>
                <a:cs typeface="Century Gothic"/>
              </a:rPr>
              <a:t>important</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d’inscrire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réhabilitation</a:t>
            </a:r>
            <a:r>
              <a:rPr lang="fr-FR" sz="1100" spc="165" dirty="0">
                <a:highlight>
                  <a:srgbClr val="FFFF00"/>
                </a:highlight>
                <a:latin typeface="Century Gothic"/>
                <a:cs typeface="Century Gothic"/>
              </a:rPr>
              <a:t> </a:t>
            </a:r>
            <a:r>
              <a:rPr lang="fr-FR" sz="1100" dirty="0">
                <a:highlight>
                  <a:srgbClr val="FFFF00"/>
                </a:highlight>
                <a:latin typeface="Century Gothic"/>
                <a:cs typeface="Century Gothic"/>
              </a:rPr>
              <a:t>de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résidence</a:t>
            </a:r>
            <a:r>
              <a:rPr lang="fr-FR" sz="1100" spc="-10" dirty="0">
                <a:highlight>
                  <a:srgbClr val="FFFF00"/>
                </a:highlight>
                <a:latin typeface="Century Gothic"/>
                <a:cs typeface="Century Gothic"/>
              </a:rPr>
              <a:t>, </a:t>
            </a:r>
            <a:r>
              <a:rPr lang="fr-FR" sz="1100" dirty="0">
                <a:highlight>
                  <a:srgbClr val="FFFF00"/>
                </a:highlight>
                <a:latin typeface="Century Gothic"/>
                <a:cs typeface="Century Gothic"/>
              </a:rPr>
              <a:t>dans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une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dynamique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élégante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d’envergure.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A</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savoir</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celle</a:t>
            </a:r>
            <a:r>
              <a:rPr lang="fr-FR" sz="1100" spc="160" dirty="0">
                <a:highlight>
                  <a:srgbClr val="FFFF00"/>
                </a:highlight>
                <a:latin typeface="Century Gothic"/>
                <a:cs typeface="Century Gothic"/>
              </a:rPr>
              <a:t> </a:t>
            </a:r>
            <a:r>
              <a:rPr lang="fr-FR" sz="1100" spc="-25" dirty="0">
                <a:highlight>
                  <a:srgbClr val="FFFF00"/>
                </a:highlight>
                <a:latin typeface="Century Gothic"/>
                <a:cs typeface="Century Gothic"/>
              </a:rPr>
              <a:t>des </a:t>
            </a:r>
            <a:r>
              <a:rPr lang="fr-FR" sz="1100" dirty="0">
                <a:highlight>
                  <a:srgbClr val="FFFF00"/>
                </a:highlight>
                <a:latin typeface="Century Gothic"/>
                <a:cs typeface="Century Gothic"/>
              </a:rPr>
              <a:t>caractéristiques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ambitions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d’un</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habitat,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le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souci</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du</a:t>
            </a:r>
            <a:r>
              <a:rPr lang="fr-FR" sz="1100" spc="155" dirty="0">
                <a:highlight>
                  <a:srgbClr val="FFFF00"/>
                </a:highlight>
                <a:latin typeface="Century Gothic"/>
                <a:cs typeface="Century Gothic"/>
              </a:rPr>
              <a:t> </a:t>
            </a:r>
            <a:r>
              <a:rPr lang="fr-FR" sz="1100" spc="-10" dirty="0">
                <a:highlight>
                  <a:srgbClr val="FFFF00"/>
                </a:highlight>
                <a:latin typeface="Century Gothic"/>
                <a:cs typeface="Century Gothic"/>
              </a:rPr>
              <a:t>progrès </a:t>
            </a:r>
            <a:r>
              <a:rPr lang="fr-FR" sz="1100" dirty="0">
                <a:highlight>
                  <a:srgbClr val="FFFF00"/>
                </a:highlight>
                <a:latin typeface="Century Gothic"/>
                <a:cs typeface="Century Gothic"/>
              </a:rPr>
              <a:t>social</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va</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de</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pair</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avec</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une</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rationalisation</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un</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caractère</a:t>
            </a:r>
            <a:r>
              <a:rPr lang="fr-FR" sz="1100" spc="125" dirty="0">
                <a:highlight>
                  <a:srgbClr val="FFFF00"/>
                </a:highlight>
                <a:latin typeface="Century Gothic"/>
                <a:cs typeface="Century Gothic"/>
              </a:rPr>
              <a:t> </a:t>
            </a:r>
            <a:r>
              <a:rPr lang="fr-FR" sz="1100" spc="-10" dirty="0">
                <a:highlight>
                  <a:srgbClr val="FFFF00"/>
                </a:highlight>
                <a:latin typeface="Century Gothic"/>
                <a:cs typeface="Century Gothic"/>
              </a:rPr>
              <a:t>évolutif </a:t>
            </a:r>
            <a:r>
              <a:rPr lang="fr-FR" sz="1100" dirty="0">
                <a:highlight>
                  <a:srgbClr val="FFFF00"/>
                </a:highlight>
                <a:latin typeface="Century Gothic"/>
                <a:cs typeface="Century Gothic"/>
              </a:rPr>
              <a:t>et</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modernité</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visait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efficacité</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maîtrise</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des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coûts</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au</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profit</a:t>
            </a:r>
            <a:r>
              <a:rPr lang="fr-FR" sz="1100" spc="25" dirty="0">
                <a:highlight>
                  <a:srgbClr val="FFFF00"/>
                </a:highlight>
                <a:latin typeface="Century Gothic"/>
                <a:cs typeface="Century Gothic"/>
              </a:rPr>
              <a:t> </a:t>
            </a:r>
            <a:r>
              <a:rPr lang="fr-FR" sz="1100" spc="-25" dirty="0">
                <a:highlight>
                  <a:srgbClr val="FFFF00"/>
                </a:highlight>
                <a:latin typeface="Century Gothic"/>
                <a:cs typeface="Century Gothic"/>
              </a:rPr>
              <a:t>du </a:t>
            </a:r>
            <a:r>
              <a:rPr lang="fr-FR" sz="1100" dirty="0">
                <a:highlight>
                  <a:srgbClr val="FFFF00"/>
                </a:highlight>
                <a:latin typeface="Century Gothic"/>
                <a:cs typeface="Century Gothic"/>
              </a:rPr>
              <a:t>confort</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pour</a:t>
            </a:r>
            <a:r>
              <a:rPr lang="fr-FR" sz="1100" spc="-15" dirty="0">
                <a:highlight>
                  <a:srgbClr val="FFFF00"/>
                </a:highlight>
                <a:latin typeface="Century Gothic"/>
                <a:cs typeface="Century Gothic"/>
              </a:rPr>
              <a:t> </a:t>
            </a:r>
            <a:r>
              <a:rPr lang="fr-FR" sz="1100" dirty="0">
                <a:highlight>
                  <a:srgbClr val="FFFF00"/>
                </a:highlight>
                <a:latin typeface="Century Gothic"/>
                <a:cs typeface="Century Gothic"/>
              </a:rPr>
              <a:t>le</a:t>
            </a:r>
            <a:r>
              <a:rPr lang="fr-FR" sz="1100" spc="-15" dirty="0">
                <a:highlight>
                  <a:srgbClr val="FFFF00"/>
                </a:highlight>
                <a:latin typeface="Century Gothic"/>
                <a:cs typeface="Century Gothic"/>
              </a:rPr>
              <a:t> </a:t>
            </a:r>
            <a:r>
              <a:rPr lang="fr-FR" sz="1100" dirty="0">
                <a:highlight>
                  <a:srgbClr val="FFFF00"/>
                </a:highlight>
                <a:latin typeface="Century Gothic"/>
                <a:cs typeface="Century Gothic"/>
              </a:rPr>
              <a:t>plus</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grand</a:t>
            </a:r>
            <a:r>
              <a:rPr lang="fr-FR" sz="1100" spc="-15" dirty="0">
                <a:highlight>
                  <a:srgbClr val="FFFF00"/>
                </a:highlight>
                <a:latin typeface="Century Gothic"/>
                <a:cs typeface="Century Gothic"/>
              </a:rPr>
              <a:t> </a:t>
            </a:r>
            <a:r>
              <a:rPr lang="fr-FR" sz="1100" spc="-10" dirty="0">
                <a:highlight>
                  <a:srgbClr val="FFFF00"/>
                </a:highlight>
                <a:latin typeface="Century Gothic"/>
                <a:cs typeface="Century Gothic"/>
              </a:rPr>
              <a:t>nombre.</a:t>
            </a:r>
          </a:p>
          <a:p>
            <a:pPr marL="12700" marR="5080" indent="-635" algn="just">
              <a:spcBef>
                <a:spcPts val="1320"/>
              </a:spcBef>
            </a:pPr>
            <a:r>
              <a:rPr lang="fr-FR" sz="1100" dirty="0">
                <a:highlight>
                  <a:srgbClr val="FFFF00"/>
                </a:highlight>
                <a:latin typeface="Century Gothic"/>
                <a:cs typeface="Century Gothic"/>
              </a:rPr>
              <a:t>A&amp;B</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Architectes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s’attachera</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définir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faire</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partager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philosophie </a:t>
            </a:r>
            <a:r>
              <a:rPr lang="fr-FR" sz="1100" dirty="0">
                <a:highlight>
                  <a:srgbClr val="FFFF00"/>
                </a:highlight>
                <a:latin typeface="Century Gothic"/>
                <a:cs typeface="Century Gothic"/>
              </a:rPr>
              <a:t>globale</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du</a:t>
            </a:r>
            <a:r>
              <a:rPr lang="fr-FR" sz="1100" spc="120" dirty="0">
                <a:highlight>
                  <a:srgbClr val="FFFF00"/>
                </a:highlight>
                <a:latin typeface="Century Gothic"/>
                <a:cs typeface="Century Gothic"/>
              </a:rPr>
              <a:t>  </a:t>
            </a:r>
            <a:r>
              <a:rPr lang="fr-FR" sz="1100" dirty="0">
                <a:highlight>
                  <a:srgbClr val="FFFF00"/>
                </a:highlight>
                <a:latin typeface="Century Gothic"/>
                <a:cs typeface="Century Gothic"/>
              </a:rPr>
              <a:t>projet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architectural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il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apparait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dès</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120" dirty="0">
                <a:highlight>
                  <a:srgbClr val="FFFF00"/>
                </a:highlight>
                <a:latin typeface="Century Gothic"/>
                <a:cs typeface="Century Gothic"/>
              </a:rPr>
              <a:t>  </a:t>
            </a:r>
            <a:r>
              <a:rPr lang="fr-FR" sz="1100" spc="-10" dirty="0">
                <a:highlight>
                  <a:srgbClr val="FFFF00"/>
                </a:highlight>
                <a:latin typeface="Century Gothic"/>
                <a:cs typeface="Century Gothic"/>
              </a:rPr>
              <a:t>présent </a:t>
            </a:r>
            <a:r>
              <a:rPr lang="fr-FR" sz="1100" dirty="0">
                <a:highlight>
                  <a:srgbClr val="FFFF00"/>
                </a:highlight>
                <a:latin typeface="Century Gothic"/>
                <a:cs typeface="Century Gothic"/>
              </a:rPr>
              <a:t>important</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d’inscrire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réhabilitation</a:t>
            </a:r>
            <a:r>
              <a:rPr lang="fr-FR" sz="1100" spc="165" dirty="0">
                <a:highlight>
                  <a:srgbClr val="FFFF00"/>
                </a:highlight>
                <a:latin typeface="Century Gothic"/>
                <a:cs typeface="Century Gothic"/>
              </a:rPr>
              <a:t> </a:t>
            </a:r>
            <a:r>
              <a:rPr lang="fr-FR" sz="1100" dirty="0">
                <a:highlight>
                  <a:srgbClr val="FFFF00"/>
                </a:highlight>
                <a:latin typeface="Century Gothic"/>
                <a:cs typeface="Century Gothic"/>
              </a:rPr>
              <a:t>de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résidence</a:t>
            </a:r>
            <a:r>
              <a:rPr lang="fr-FR" sz="1100" spc="-10" dirty="0">
                <a:highlight>
                  <a:srgbClr val="FFFF00"/>
                </a:highlight>
                <a:latin typeface="Century Gothic"/>
                <a:cs typeface="Century Gothic"/>
              </a:rPr>
              <a:t>, </a:t>
            </a:r>
            <a:r>
              <a:rPr lang="fr-FR" sz="1100" dirty="0">
                <a:highlight>
                  <a:srgbClr val="FFFF00"/>
                </a:highlight>
                <a:latin typeface="Century Gothic"/>
                <a:cs typeface="Century Gothic"/>
              </a:rPr>
              <a:t>dans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une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dynamique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élégante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d’envergure.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A</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savoir</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celle</a:t>
            </a:r>
            <a:r>
              <a:rPr lang="fr-FR" sz="1100" spc="160" dirty="0">
                <a:highlight>
                  <a:srgbClr val="FFFF00"/>
                </a:highlight>
                <a:latin typeface="Century Gothic"/>
                <a:cs typeface="Century Gothic"/>
              </a:rPr>
              <a:t> </a:t>
            </a:r>
            <a:r>
              <a:rPr lang="fr-FR" sz="1100" spc="-25" dirty="0">
                <a:highlight>
                  <a:srgbClr val="FFFF00"/>
                </a:highlight>
                <a:latin typeface="Century Gothic"/>
                <a:cs typeface="Century Gothic"/>
              </a:rPr>
              <a:t>des </a:t>
            </a:r>
            <a:r>
              <a:rPr lang="fr-FR" sz="1100" dirty="0">
                <a:highlight>
                  <a:srgbClr val="FFFF00"/>
                </a:highlight>
                <a:latin typeface="Century Gothic"/>
                <a:cs typeface="Century Gothic"/>
              </a:rPr>
              <a:t>caractéristiques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ambitions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d’un</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habitat,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le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souci</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du</a:t>
            </a:r>
            <a:r>
              <a:rPr lang="fr-FR" sz="1100" spc="155" dirty="0">
                <a:highlight>
                  <a:srgbClr val="FFFF00"/>
                </a:highlight>
                <a:latin typeface="Century Gothic"/>
                <a:cs typeface="Century Gothic"/>
              </a:rPr>
              <a:t> </a:t>
            </a:r>
            <a:r>
              <a:rPr lang="fr-FR" sz="1100" spc="-10" dirty="0">
                <a:highlight>
                  <a:srgbClr val="FFFF00"/>
                </a:highlight>
                <a:latin typeface="Century Gothic"/>
                <a:cs typeface="Century Gothic"/>
              </a:rPr>
              <a:t>progrès </a:t>
            </a:r>
            <a:r>
              <a:rPr lang="fr-FR" sz="1100" dirty="0">
                <a:highlight>
                  <a:srgbClr val="FFFF00"/>
                </a:highlight>
                <a:latin typeface="Century Gothic"/>
                <a:cs typeface="Century Gothic"/>
              </a:rPr>
              <a:t>social</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va</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de</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pair</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avec</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une</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rationalisation</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un</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caractère</a:t>
            </a:r>
            <a:r>
              <a:rPr lang="fr-FR" sz="1100" spc="125" dirty="0">
                <a:highlight>
                  <a:srgbClr val="FFFF00"/>
                </a:highlight>
                <a:latin typeface="Century Gothic"/>
                <a:cs typeface="Century Gothic"/>
              </a:rPr>
              <a:t> </a:t>
            </a:r>
            <a:r>
              <a:rPr lang="fr-FR" sz="1100" spc="-10" dirty="0">
                <a:highlight>
                  <a:srgbClr val="FFFF00"/>
                </a:highlight>
                <a:latin typeface="Century Gothic"/>
                <a:cs typeface="Century Gothic"/>
              </a:rPr>
              <a:t>évolutif </a:t>
            </a:r>
            <a:r>
              <a:rPr lang="fr-FR" sz="1100" dirty="0">
                <a:highlight>
                  <a:srgbClr val="FFFF00"/>
                </a:highlight>
                <a:latin typeface="Century Gothic"/>
                <a:cs typeface="Century Gothic"/>
              </a:rPr>
              <a:t>et</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modernité</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visait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efficacité</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maîtrise</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des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coûts</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au</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profit</a:t>
            </a:r>
            <a:r>
              <a:rPr lang="fr-FR" sz="1100" spc="25" dirty="0">
                <a:highlight>
                  <a:srgbClr val="FFFF00"/>
                </a:highlight>
                <a:latin typeface="Century Gothic"/>
                <a:cs typeface="Century Gothic"/>
              </a:rPr>
              <a:t> </a:t>
            </a:r>
            <a:r>
              <a:rPr lang="fr-FR" sz="1100" spc="-25" dirty="0">
                <a:highlight>
                  <a:srgbClr val="FFFF00"/>
                </a:highlight>
                <a:latin typeface="Century Gothic"/>
                <a:cs typeface="Century Gothic"/>
              </a:rPr>
              <a:t>du </a:t>
            </a:r>
            <a:r>
              <a:rPr lang="fr-FR" sz="1100" dirty="0">
                <a:highlight>
                  <a:srgbClr val="FFFF00"/>
                </a:highlight>
                <a:latin typeface="Century Gothic"/>
                <a:cs typeface="Century Gothic"/>
              </a:rPr>
              <a:t>confort</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pour</a:t>
            </a:r>
            <a:r>
              <a:rPr lang="fr-FR" sz="1100" spc="-15" dirty="0">
                <a:highlight>
                  <a:srgbClr val="FFFF00"/>
                </a:highlight>
                <a:latin typeface="Century Gothic"/>
                <a:cs typeface="Century Gothic"/>
              </a:rPr>
              <a:t> </a:t>
            </a:r>
            <a:r>
              <a:rPr lang="fr-FR" sz="1100" dirty="0">
                <a:highlight>
                  <a:srgbClr val="FFFF00"/>
                </a:highlight>
                <a:latin typeface="Century Gothic"/>
                <a:cs typeface="Century Gothic"/>
              </a:rPr>
              <a:t>le</a:t>
            </a:r>
            <a:r>
              <a:rPr lang="fr-FR" sz="1100" spc="-15" dirty="0">
                <a:highlight>
                  <a:srgbClr val="FFFF00"/>
                </a:highlight>
                <a:latin typeface="Century Gothic"/>
                <a:cs typeface="Century Gothic"/>
              </a:rPr>
              <a:t> </a:t>
            </a:r>
            <a:r>
              <a:rPr lang="fr-FR" sz="1100" dirty="0">
                <a:highlight>
                  <a:srgbClr val="FFFF00"/>
                </a:highlight>
                <a:latin typeface="Century Gothic"/>
                <a:cs typeface="Century Gothic"/>
              </a:rPr>
              <a:t>plus</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grand</a:t>
            </a:r>
            <a:r>
              <a:rPr lang="fr-FR" sz="1100" spc="-15" dirty="0">
                <a:highlight>
                  <a:srgbClr val="FFFF00"/>
                </a:highlight>
                <a:latin typeface="Century Gothic"/>
                <a:cs typeface="Century Gothic"/>
              </a:rPr>
              <a:t> </a:t>
            </a:r>
            <a:r>
              <a:rPr lang="fr-FR" sz="1100" spc="-10" dirty="0">
                <a:highlight>
                  <a:srgbClr val="FFFF00"/>
                </a:highlight>
                <a:latin typeface="Century Gothic"/>
                <a:cs typeface="Century Gothic"/>
              </a:rPr>
              <a:t>nombre.</a:t>
            </a:r>
            <a:endParaRPr lang="fr-FR" sz="1100" dirty="0">
              <a:highlight>
                <a:srgbClr val="FFFF00"/>
              </a:highlight>
              <a:latin typeface="Century Gothic"/>
              <a:cs typeface="Century Gothic"/>
            </a:endParaRPr>
          </a:p>
          <a:p>
            <a:pPr marL="12700" marR="5080" indent="-635" algn="just">
              <a:spcBef>
                <a:spcPts val="1320"/>
              </a:spcBef>
            </a:pPr>
            <a:r>
              <a:rPr lang="fr-FR" sz="1100" dirty="0">
                <a:highlight>
                  <a:srgbClr val="FFFF00"/>
                </a:highlight>
                <a:latin typeface="Century Gothic"/>
                <a:cs typeface="Century Gothic"/>
              </a:rPr>
              <a:t>A&amp;B</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Architectes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s’attachera</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définir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faire</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partager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philosophie </a:t>
            </a:r>
            <a:r>
              <a:rPr lang="fr-FR" sz="1100" dirty="0">
                <a:highlight>
                  <a:srgbClr val="FFFF00"/>
                </a:highlight>
                <a:latin typeface="Century Gothic"/>
                <a:cs typeface="Century Gothic"/>
              </a:rPr>
              <a:t>globale</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du</a:t>
            </a:r>
            <a:r>
              <a:rPr lang="fr-FR" sz="1100" spc="120" dirty="0">
                <a:highlight>
                  <a:srgbClr val="FFFF00"/>
                </a:highlight>
                <a:latin typeface="Century Gothic"/>
                <a:cs typeface="Century Gothic"/>
              </a:rPr>
              <a:t>  </a:t>
            </a:r>
            <a:r>
              <a:rPr lang="fr-FR" sz="1100" dirty="0">
                <a:highlight>
                  <a:srgbClr val="FFFF00"/>
                </a:highlight>
                <a:latin typeface="Century Gothic"/>
                <a:cs typeface="Century Gothic"/>
              </a:rPr>
              <a:t>projet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architectural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il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apparait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dès</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120" dirty="0">
                <a:highlight>
                  <a:srgbClr val="FFFF00"/>
                </a:highlight>
                <a:latin typeface="Century Gothic"/>
                <a:cs typeface="Century Gothic"/>
              </a:rPr>
              <a:t>  </a:t>
            </a:r>
            <a:r>
              <a:rPr lang="fr-FR" sz="1100" spc="-10" dirty="0">
                <a:highlight>
                  <a:srgbClr val="FFFF00"/>
                </a:highlight>
                <a:latin typeface="Century Gothic"/>
                <a:cs typeface="Century Gothic"/>
              </a:rPr>
              <a:t>présent </a:t>
            </a:r>
            <a:r>
              <a:rPr lang="fr-FR" sz="1100" dirty="0">
                <a:highlight>
                  <a:srgbClr val="FFFF00"/>
                </a:highlight>
                <a:latin typeface="Century Gothic"/>
                <a:cs typeface="Century Gothic"/>
              </a:rPr>
              <a:t>important</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d’inscrire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réhabilitation</a:t>
            </a:r>
            <a:r>
              <a:rPr lang="fr-FR" sz="1100" spc="165" dirty="0">
                <a:highlight>
                  <a:srgbClr val="FFFF00"/>
                </a:highlight>
                <a:latin typeface="Century Gothic"/>
                <a:cs typeface="Century Gothic"/>
              </a:rPr>
              <a:t> </a:t>
            </a:r>
            <a:r>
              <a:rPr lang="fr-FR" sz="1100" dirty="0">
                <a:highlight>
                  <a:srgbClr val="FFFF00"/>
                </a:highlight>
                <a:latin typeface="Century Gothic"/>
                <a:cs typeface="Century Gothic"/>
              </a:rPr>
              <a:t>de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résidence</a:t>
            </a:r>
            <a:r>
              <a:rPr lang="fr-FR" sz="1100" spc="-10" dirty="0">
                <a:highlight>
                  <a:srgbClr val="FFFF00"/>
                </a:highlight>
                <a:latin typeface="Century Gothic"/>
                <a:cs typeface="Century Gothic"/>
              </a:rPr>
              <a:t>, </a:t>
            </a:r>
            <a:r>
              <a:rPr lang="fr-FR" sz="1100" dirty="0">
                <a:highlight>
                  <a:srgbClr val="FFFF00"/>
                </a:highlight>
                <a:latin typeface="Century Gothic"/>
                <a:cs typeface="Century Gothic"/>
              </a:rPr>
              <a:t>dans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une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dynamique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élégante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d’envergure.</a:t>
            </a:r>
            <a:r>
              <a:rPr lang="fr-FR" sz="1100" spc="160" dirty="0">
                <a:highlight>
                  <a:srgbClr val="FFFF00"/>
                </a:highlight>
                <a:latin typeface="Century Gothic"/>
                <a:cs typeface="Century Gothic"/>
              </a:rPr>
              <a:t> </a:t>
            </a:r>
            <a:r>
              <a:rPr lang="fr-FR" sz="1100" dirty="0">
                <a:highlight>
                  <a:srgbClr val="FFFF00"/>
                </a:highlight>
                <a:latin typeface="Century Gothic"/>
                <a:cs typeface="Century Gothic"/>
              </a:rPr>
              <a:t>A</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savoir</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celle</a:t>
            </a:r>
            <a:r>
              <a:rPr lang="fr-FR" sz="1100" spc="160" dirty="0">
                <a:highlight>
                  <a:srgbClr val="FFFF00"/>
                </a:highlight>
                <a:latin typeface="Century Gothic"/>
                <a:cs typeface="Century Gothic"/>
              </a:rPr>
              <a:t> </a:t>
            </a:r>
            <a:r>
              <a:rPr lang="fr-FR" sz="1100" spc="-25" dirty="0">
                <a:highlight>
                  <a:srgbClr val="FFFF00"/>
                </a:highlight>
                <a:latin typeface="Century Gothic"/>
                <a:cs typeface="Century Gothic"/>
              </a:rPr>
              <a:t>des </a:t>
            </a:r>
            <a:r>
              <a:rPr lang="fr-FR" sz="1100" dirty="0">
                <a:highlight>
                  <a:srgbClr val="FFFF00"/>
                </a:highlight>
                <a:latin typeface="Century Gothic"/>
                <a:cs typeface="Century Gothic"/>
              </a:rPr>
              <a:t>caractéristiques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ambitions</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d’un</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habitat,</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le</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souci</a:t>
            </a:r>
            <a:r>
              <a:rPr lang="fr-FR" sz="1100" spc="155" dirty="0">
                <a:highlight>
                  <a:srgbClr val="FFFF00"/>
                </a:highlight>
                <a:latin typeface="Century Gothic"/>
                <a:cs typeface="Century Gothic"/>
              </a:rPr>
              <a:t> </a:t>
            </a:r>
            <a:r>
              <a:rPr lang="fr-FR" sz="1100" dirty="0">
                <a:highlight>
                  <a:srgbClr val="FFFF00"/>
                </a:highlight>
                <a:latin typeface="Century Gothic"/>
                <a:cs typeface="Century Gothic"/>
              </a:rPr>
              <a:t>du</a:t>
            </a:r>
            <a:r>
              <a:rPr lang="fr-FR" sz="1100" spc="155" dirty="0">
                <a:highlight>
                  <a:srgbClr val="FFFF00"/>
                </a:highlight>
                <a:latin typeface="Century Gothic"/>
                <a:cs typeface="Century Gothic"/>
              </a:rPr>
              <a:t> </a:t>
            </a:r>
            <a:r>
              <a:rPr lang="fr-FR" sz="1100" spc="-10" dirty="0">
                <a:highlight>
                  <a:srgbClr val="FFFF00"/>
                </a:highlight>
                <a:latin typeface="Century Gothic"/>
                <a:cs typeface="Century Gothic"/>
              </a:rPr>
              <a:t>progrès </a:t>
            </a:r>
            <a:r>
              <a:rPr lang="fr-FR" sz="1100" dirty="0">
                <a:highlight>
                  <a:srgbClr val="FFFF00"/>
                </a:highlight>
                <a:latin typeface="Century Gothic"/>
                <a:cs typeface="Century Gothic"/>
              </a:rPr>
              <a:t>social</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va</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de</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pair</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avec</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une</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rationalisation</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un</a:t>
            </a:r>
            <a:r>
              <a:rPr lang="fr-FR" sz="1100" spc="130" dirty="0">
                <a:highlight>
                  <a:srgbClr val="FFFF00"/>
                </a:highlight>
                <a:latin typeface="Century Gothic"/>
                <a:cs typeface="Century Gothic"/>
              </a:rPr>
              <a:t> </a:t>
            </a:r>
            <a:r>
              <a:rPr lang="fr-FR" sz="1100" dirty="0">
                <a:highlight>
                  <a:srgbClr val="FFFF00"/>
                </a:highlight>
                <a:latin typeface="Century Gothic"/>
                <a:cs typeface="Century Gothic"/>
              </a:rPr>
              <a:t>caractère</a:t>
            </a:r>
            <a:r>
              <a:rPr lang="fr-FR" sz="1100" spc="125" dirty="0">
                <a:highlight>
                  <a:srgbClr val="FFFF00"/>
                </a:highlight>
                <a:latin typeface="Century Gothic"/>
                <a:cs typeface="Century Gothic"/>
              </a:rPr>
              <a:t> </a:t>
            </a:r>
            <a:r>
              <a:rPr lang="fr-FR" sz="1100" spc="-10" dirty="0">
                <a:highlight>
                  <a:srgbClr val="FFFF00"/>
                </a:highlight>
                <a:latin typeface="Century Gothic"/>
                <a:cs typeface="Century Gothic"/>
              </a:rPr>
              <a:t>évolutif </a:t>
            </a:r>
            <a:r>
              <a:rPr lang="fr-FR" sz="1100" dirty="0">
                <a:highlight>
                  <a:srgbClr val="FFFF00"/>
                </a:highlight>
                <a:latin typeface="Century Gothic"/>
                <a:cs typeface="Century Gothic"/>
              </a:rPr>
              <a:t>et</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modernité</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visait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efficacité</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maîtrise</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des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coûts</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au</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profit</a:t>
            </a:r>
            <a:r>
              <a:rPr lang="fr-FR" sz="1100" spc="25" dirty="0">
                <a:highlight>
                  <a:srgbClr val="FFFF00"/>
                </a:highlight>
                <a:latin typeface="Century Gothic"/>
                <a:cs typeface="Century Gothic"/>
              </a:rPr>
              <a:t> </a:t>
            </a:r>
            <a:r>
              <a:rPr lang="fr-FR" sz="1100" spc="-25" dirty="0">
                <a:highlight>
                  <a:srgbClr val="FFFF00"/>
                </a:highlight>
                <a:latin typeface="Century Gothic"/>
                <a:cs typeface="Century Gothic"/>
              </a:rPr>
              <a:t>du </a:t>
            </a:r>
            <a:r>
              <a:rPr lang="fr-FR" sz="1100" dirty="0">
                <a:highlight>
                  <a:srgbClr val="FFFF00"/>
                </a:highlight>
                <a:latin typeface="Century Gothic"/>
                <a:cs typeface="Century Gothic"/>
              </a:rPr>
              <a:t>confort</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pour</a:t>
            </a:r>
            <a:r>
              <a:rPr lang="fr-FR" sz="1100" spc="-15" dirty="0">
                <a:highlight>
                  <a:srgbClr val="FFFF00"/>
                </a:highlight>
                <a:latin typeface="Century Gothic"/>
                <a:cs typeface="Century Gothic"/>
              </a:rPr>
              <a:t> </a:t>
            </a:r>
            <a:r>
              <a:rPr lang="fr-FR" sz="1100" dirty="0">
                <a:highlight>
                  <a:srgbClr val="FFFF00"/>
                </a:highlight>
                <a:latin typeface="Century Gothic"/>
                <a:cs typeface="Century Gothic"/>
              </a:rPr>
              <a:t>le</a:t>
            </a:r>
            <a:r>
              <a:rPr lang="fr-FR" sz="1100" spc="-15" dirty="0">
                <a:highlight>
                  <a:srgbClr val="FFFF00"/>
                </a:highlight>
                <a:latin typeface="Century Gothic"/>
                <a:cs typeface="Century Gothic"/>
              </a:rPr>
              <a:t> </a:t>
            </a:r>
            <a:r>
              <a:rPr lang="fr-FR" sz="1100" dirty="0">
                <a:highlight>
                  <a:srgbClr val="FFFF00"/>
                </a:highlight>
                <a:latin typeface="Century Gothic"/>
                <a:cs typeface="Century Gothic"/>
              </a:rPr>
              <a:t>plus</a:t>
            </a:r>
            <a:r>
              <a:rPr lang="fr-FR" sz="1100" spc="-20" dirty="0">
                <a:highlight>
                  <a:srgbClr val="FFFF00"/>
                </a:highlight>
                <a:latin typeface="Century Gothic"/>
                <a:cs typeface="Century Gothic"/>
              </a:rPr>
              <a:t> </a:t>
            </a:r>
            <a:r>
              <a:rPr lang="fr-FR" sz="1100" dirty="0">
                <a:highlight>
                  <a:srgbClr val="FFFF00"/>
                </a:highlight>
                <a:latin typeface="Century Gothic"/>
                <a:cs typeface="Century Gothic"/>
              </a:rPr>
              <a:t>grand</a:t>
            </a:r>
            <a:r>
              <a:rPr lang="fr-FR" sz="1100" spc="-15" dirty="0">
                <a:highlight>
                  <a:srgbClr val="FFFF00"/>
                </a:highlight>
                <a:latin typeface="Century Gothic"/>
                <a:cs typeface="Century Gothic"/>
              </a:rPr>
              <a:t> </a:t>
            </a:r>
            <a:r>
              <a:rPr lang="fr-FR" sz="1100" spc="-10" dirty="0">
                <a:highlight>
                  <a:srgbClr val="FFFF00"/>
                </a:highlight>
                <a:latin typeface="Century Gothic"/>
                <a:cs typeface="Century Gothic"/>
              </a:rPr>
              <a:t>nombre.</a:t>
            </a:r>
          </a:p>
          <a:p>
            <a:pPr marL="12700" marR="5080" indent="-635" algn="just">
              <a:spcBef>
                <a:spcPts val="1320"/>
              </a:spcBef>
            </a:pPr>
            <a:r>
              <a:rPr lang="fr-FR" sz="1100" dirty="0">
                <a:highlight>
                  <a:srgbClr val="FFFF00"/>
                </a:highlight>
                <a:latin typeface="Century Gothic"/>
                <a:cs typeface="Century Gothic"/>
              </a:rPr>
              <a:t>A&amp;B</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Architectes</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s’attachera</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définir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et</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faire</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partager</a:t>
            </a:r>
            <a:r>
              <a:rPr lang="fr-FR" sz="1100" spc="-25" dirty="0">
                <a:highlight>
                  <a:srgbClr val="FFFF00"/>
                </a:highlight>
                <a:latin typeface="Century Gothic"/>
                <a:cs typeface="Century Gothic"/>
              </a:rPr>
              <a:t> </a:t>
            </a:r>
            <a:r>
              <a:rPr lang="fr-FR" sz="1100" dirty="0">
                <a:highlight>
                  <a:srgbClr val="FFFF00"/>
                </a:highlight>
                <a:latin typeface="Century Gothic"/>
                <a:cs typeface="Century Gothic"/>
              </a:rPr>
              <a:t>la</a:t>
            </a:r>
            <a:r>
              <a:rPr lang="fr-FR" sz="1100" spc="-25" dirty="0">
                <a:highlight>
                  <a:srgbClr val="FFFF00"/>
                </a:highlight>
                <a:latin typeface="Century Gothic"/>
                <a:cs typeface="Century Gothic"/>
              </a:rPr>
              <a:t> </a:t>
            </a:r>
            <a:r>
              <a:rPr lang="fr-FR" sz="1100" spc="-10" dirty="0">
                <a:highlight>
                  <a:srgbClr val="FFFF00"/>
                </a:highlight>
                <a:latin typeface="Century Gothic"/>
                <a:cs typeface="Century Gothic"/>
              </a:rPr>
              <a:t>philosophie </a:t>
            </a:r>
            <a:r>
              <a:rPr lang="fr-FR" sz="1100" dirty="0">
                <a:highlight>
                  <a:srgbClr val="FFFF00"/>
                </a:highlight>
                <a:latin typeface="Century Gothic"/>
                <a:cs typeface="Century Gothic"/>
              </a:rPr>
              <a:t>globale</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du</a:t>
            </a:r>
            <a:r>
              <a:rPr lang="fr-FR" sz="1100" spc="120" dirty="0">
                <a:highlight>
                  <a:srgbClr val="FFFF00"/>
                </a:highlight>
                <a:latin typeface="Century Gothic"/>
                <a:cs typeface="Century Gothic"/>
              </a:rPr>
              <a:t>  </a:t>
            </a:r>
            <a:r>
              <a:rPr lang="fr-FR" sz="1100" dirty="0">
                <a:highlight>
                  <a:srgbClr val="FFFF00"/>
                </a:highlight>
                <a:latin typeface="Century Gothic"/>
                <a:cs typeface="Century Gothic"/>
              </a:rPr>
              <a:t>projet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architectural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où</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il</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apparait</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dès</a:t>
            </a:r>
            <a:r>
              <a:rPr lang="fr-FR" sz="1100" spc="114" dirty="0">
                <a:highlight>
                  <a:srgbClr val="FFFF00"/>
                </a:highlight>
                <a:latin typeface="Century Gothic"/>
                <a:cs typeface="Century Gothic"/>
              </a:rPr>
              <a:t>  </a:t>
            </a:r>
            <a:r>
              <a:rPr lang="fr-FR" sz="1100" dirty="0">
                <a:highlight>
                  <a:srgbClr val="FFFF00"/>
                </a:highlight>
                <a:latin typeface="Century Gothic"/>
                <a:cs typeface="Century Gothic"/>
              </a:rPr>
              <a:t>à</a:t>
            </a:r>
            <a:r>
              <a:rPr lang="fr-FR" sz="1100" spc="120" dirty="0">
                <a:highlight>
                  <a:srgbClr val="FFFF00"/>
                </a:highlight>
                <a:latin typeface="Century Gothic"/>
                <a:cs typeface="Century Gothic"/>
              </a:rPr>
              <a:t>  </a:t>
            </a:r>
            <a:r>
              <a:rPr lang="fr-FR" sz="1100" spc="-10" dirty="0">
                <a:highlight>
                  <a:srgbClr val="FFFF00"/>
                </a:highlight>
                <a:latin typeface="Century Gothic"/>
                <a:cs typeface="Century Gothic"/>
              </a:rPr>
              <a:t>présent </a:t>
            </a:r>
            <a:r>
              <a:rPr lang="fr-FR" sz="1100" dirty="0">
                <a:highlight>
                  <a:srgbClr val="FFFF00"/>
                </a:highlight>
                <a:latin typeface="Century Gothic"/>
                <a:cs typeface="Century Gothic"/>
              </a:rPr>
              <a:t>important.</a:t>
            </a:r>
          </a:p>
        </p:txBody>
      </p:sp>
    </p:spTree>
    <p:extLst>
      <p:ext uri="{BB962C8B-B14F-4D97-AF65-F5344CB8AC3E}">
        <p14:creationId xmlns:p14="http://schemas.microsoft.com/office/powerpoint/2010/main" val="217599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DD388-762B-B8A2-F2E5-BA6596B147A9}"/>
            </a:ext>
          </a:extLst>
        </p:cNvPr>
        <p:cNvGrpSpPr/>
        <p:nvPr/>
      </p:nvGrpSpPr>
      <p:grpSpPr>
        <a:xfrm>
          <a:off x="0" y="0"/>
          <a:ext cx="0" cy="0"/>
          <a:chOff x="0" y="0"/>
          <a:chExt cx="0" cy="0"/>
        </a:xfrm>
      </p:grpSpPr>
      <p:sp>
        <p:nvSpPr>
          <p:cNvPr id="4" name="object 14">
            <a:extLst>
              <a:ext uri="{FF2B5EF4-FFF2-40B4-BE49-F238E27FC236}">
                <a16:creationId xmlns:a16="http://schemas.microsoft.com/office/drawing/2014/main" id="{B64C1F7F-B821-B758-51CF-3D7E971263DD}"/>
              </a:ext>
            </a:extLst>
          </p:cNvPr>
          <p:cNvSpPr/>
          <p:nvPr/>
        </p:nvSpPr>
        <p:spPr>
          <a:xfrm>
            <a:off x="10172248" y="7227706"/>
            <a:ext cx="132080" cy="132080"/>
          </a:xfrm>
          <a:custGeom>
            <a:avLst/>
            <a:gdLst/>
            <a:ahLst/>
            <a:cxnLst/>
            <a:rect l="l" t="t" r="r" b="b"/>
            <a:pathLst>
              <a:path w="132079" h="132079">
                <a:moveTo>
                  <a:pt x="131546" y="0"/>
                </a:moveTo>
                <a:lnTo>
                  <a:pt x="0" y="131546"/>
                </a:lnTo>
              </a:path>
            </a:pathLst>
          </a:custGeom>
          <a:ln w="6350">
            <a:solidFill>
              <a:srgbClr val="000000"/>
            </a:solidFill>
          </a:ln>
        </p:spPr>
        <p:txBody>
          <a:bodyPr wrap="square" lIns="0" tIns="0" rIns="0" bIns="0" rtlCol="0"/>
          <a:lstStyle/>
          <a:p>
            <a:endParaRPr/>
          </a:p>
        </p:txBody>
      </p:sp>
      <p:sp>
        <p:nvSpPr>
          <p:cNvPr id="5" name="object 33">
            <a:extLst>
              <a:ext uri="{FF2B5EF4-FFF2-40B4-BE49-F238E27FC236}">
                <a16:creationId xmlns:a16="http://schemas.microsoft.com/office/drawing/2014/main" id="{71362F08-FD83-51A8-99ED-6E66C10E351F}"/>
              </a:ext>
            </a:extLst>
          </p:cNvPr>
          <p:cNvSpPr txBox="1">
            <a:spLocks noGrp="1"/>
          </p:cNvSpPr>
          <p:nvPr>
            <p:ph type="dt" sz="half" idx="6"/>
          </p:nvPr>
        </p:nvSpPr>
        <p:spPr>
          <a:xfrm>
            <a:off x="5585969" y="7083574"/>
            <a:ext cx="4218431" cy="336631"/>
          </a:xfrm>
          <a:prstGeom prst="rect">
            <a:avLst/>
          </a:prstGeom>
        </p:spPr>
        <p:txBody>
          <a:bodyPr vert="horz" wrap="square" lIns="0" tIns="13335" rIns="0" bIns="0" rtlCol="0">
            <a:spAutoFit/>
          </a:bodyPr>
          <a:lstStyle/>
          <a:p>
            <a:pPr marL="12700">
              <a:lnSpc>
                <a:spcPct val="100000"/>
              </a:lnSpc>
              <a:spcBef>
                <a:spcPts val="105"/>
              </a:spcBef>
            </a:pPr>
            <a:r>
              <a:rPr lang="fr-FR" spc="-10" dirty="0"/>
              <a:t>Notice d’intention</a:t>
            </a:r>
            <a:endParaRPr spc="-10" dirty="0"/>
          </a:p>
          <a:p>
            <a:pPr marL="12700">
              <a:lnSpc>
                <a:spcPct val="100000"/>
              </a:lnSpc>
            </a:pPr>
            <a:r>
              <a:rPr b="0" dirty="0">
                <a:latin typeface="Century Gothic"/>
                <a:cs typeface="Century Gothic"/>
              </a:rPr>
              <a:t>Mission</a:t>
            </a:r>
            <a:r>
              <a:rPr b="0" spc="-5" dirty="0">
                <a:latin typeface="Century Gothic"/>
                <a:cs typeface="Century Gothic"/>
              </a:rPr>
              <a:t> </a:t>
            </a:r>
            <a:r>
              <a:rPr b="0" dirty="0">
                <a:latin typeface="Century Gothic"/>
                <a:cs typeface="Century Gothic"/>
              </a:rPr>
              <a:t>de maîtrise d’œuvre pour la rehabilitation </a:t>
            </a:r>
            <a:r>
              <a:rPr lang="fr-FR" b="0" dirty="0">
                <a:latin typeface="Century Gothic"/>
                <a:cs typeface="Century Gothic"/>
              </a:rPr>
              <a:t>et surélévation de la Résidence « Paris </a:t>
            </a:r>
            <a:r>
              <a:rPr lang="fr-FR" b="0" dirty="0" err="1">
                <a:latin typeface="Century Gothic"/>
                <a:cs typeface="Century Gothic"/>
              </a:rPr>
              <a:t>Boucry</a:t>
            </a:r>
            <a:r>
              <a:rPr lang="fr-FR" b="0" dirty="0">
                <a:latin typeface="Century Gothic"/>
                <a:cs typeface="Century Gothic"/>
              </a:rPr>
              <a:t> »</a:t>
            </a:r>
          </a:p>
          <a:p>
            <a:pPr marL="12700">
              <a:lnSpc>
                <a:spcPct val="100000"/>
              </a:lnSpc>
            </a:pPr>
            <a:r>
              <a:rPr lang="fr-FR" b="0" spc="-20" dirty="0">
                <a:latin typeface="Century Gothic"/>
                <a:cs typeface="Century Gothic"/>
              </a:rPr>
              <a:t>29 rue de </a:t>
            </a:r>
            <a:r>
              <a:rPr lang="fr-FR" b="0" spc="-20" dirty="0" err="1">
                <a:latin typeface="Century Gothic"/>
                <a:cs typeface="Century Gothic"/>
              </a:rPr>
              <a:t>Boucry</a:t>
            </a:r>
            <a:r>
              <a:rPr lang="fr-FR" b="0" spc="-20" dirty="0">
                <a:latin typeface="Century Gothic"/>
                <a:cs typeface="Century Gothic"/>
              </a:rPr>
              <a:t> 75018 PARIS</a:t>
            </a:r>
            <a:endParaRPr b="0" spc="-20" dirty="0">
              <a:latin typeface="Century Gothic"/>
              <a:cs typeface="Century Gothic"/>
            </a:endParaRPr>
          </a:p>
        </p:txBody>
      </p:sp>
      <p:sp>
        <p:nvSpPr>
          <p:cNvPr id="6" name="object 34">
            <a:extLst>
              <a:ext uri="{FF2B5EF4-FFF2-40B4-BE49-F238E27FC236}">
                <a16:creationId xmlns:a16="http://schemas.microsoft.com/office/drawing/2014/main" id="{7CF492AC-1DF3-8949-9733-FD789B194483}"/>
              </a:ext>
            </a:extLst>
          </p:cNvPr>
          <p:cNvSpPr txBox="1">
            <a:spLocks noGrp="1"/>
          </p:cNvSpPr>
          <p:nvPr>
            <p:ph type="sldNum" sz="quarter" idx="7"/>
          </p:nvPr>
        </p:nvSpPr>
        <p:spPr>
          <a:xfrm>
            <a:off x="10055521" y="7164998"/>
            <a:ext cx="201929" cy="150495"/>
          </a:xfrm>
          <a:prstGeom prst="rect">
            <a:avLst/>
          </a:prstGeom>
        </p:spPr>
        <p:txBody>
          <a:bodyPr vert="horz" wrap="square" lIns="0" tIns="13335" rIns="0" bIns="0" rtlCol="0">
            <a:spAutoFit/>
          </a:bodyPr>
          <a:lstStyle/>
          <a:p>
            <a:pPr marL="38100">
              <a:lnSpc>
                <a:spcPct val="100000"/>
              </a:lnSpc>
              <a:spcBef>
                <a:spcPts val="105"/>
              </a:spcBef>
            </a:pPr>
            <a:fld id="{81D60167-4931-47E6-BA6A-407CBD079E47}" type="slidenum">
              <a:rPr spc="-25" dirty="0"/>
              <a:t>6</a:t>
            </a:fld>
            <a:endParaRPr spc="-25" dirty="0"/>
          </a:p>
        </p:txBody>
      </p:sp>
      <p:sp>
        <p:nvSpPr>
          <p:cNvPr id="7" name="object 35">
            <a:extLst>
              <a:ext uri="{FF2B5EF4-FFF2-40B4-BE49-F238E27FC236}">
                <a16:creationId xmlns:a16="http://schemas.microsoft.com/office/drawing/2014/main" id="{3329C85E-1D7D-17D1-A17D-3768D6562509}"/>
              </a:ext>
            </a:extLst>
          </p:cNvPr>
          <p:cNvSpPr txBox="1">
            <a:spLocks noGrp="1"/>
          </p:cNvSpPr>
          <p:nvPr>
            <p:ph type="ftr" sz="quarter" idx="5"/>
          </p:nvPr>
        </p:nvSpPr>
        <p:spPr>
          <a:xfrm>
            <a:off x="10246427" y="7268322"/>
            <a:ext cx="109854" cy="119379"/>
          </a:xfrm>
          <a:prstGeom prst="rect">
            <a:avLst/>
          </a:prstGeom>
        </p:spPr>
        <p:txBody>
          <a:bodyPr vert="horz" wrap="square" lIns="0" tIns="12700" rIns="0" bIns="0" rtlCol="0">
            <a:spAutoFit/>
          </a:bodyPr>
          <a:lstStyle/>
          <a:p>
            <a:pPr marL="12700">
              <a:lnSpc>
                <a:spcPct val="100000"/>
              </a:lnSpc>
              <a:spcBef>
                <a:spcPts val="100"/>
              </a:spcBef>
            </a:pPr>
            <a:r>
              <a:rPr spc="-25" dirty="0"/>
              <a:t>25</a:t>
            </a:r>
          </a:p>
        </p:txBody>
      </p:sp>
      <p:sp>
        <p:nvSpPr>
          <p:cNvPr id="2" name="object 70">
            <a:extLst>
              <a:ext uri="{FF2B5EF4-FFF2-40B4-BE49-F238E27FC236}">
                <a16:creationId xmlns:a16="http://schemas.microsoft.com/office/drawing/2014/main" id="{2EA4DD0D-457F-468C-E767-85CEA6A6EC23}"/>
              </a:ext>
            </a:extLst>
          </p:cNvPr>
          <p:cNvSpPr txBox="1">
            <a:spLocks/>
          </p:cNvSpPr>
          <p:nvPr/>
        </p:nvSpPr>
        <p:spPr>
          <a:xfrm>
            <a:off x="0" y="273659"/>
            <a:ext cx="7677150" cy="310983"/>
          </a:xfrm>
          <a:prstGeom prst="rect">
            <a:avLst/>
          </a:prstGeom>
          <a:solidFill>
            <a:srgbClr val="C50A4C"/>
          </a:solidFill>
        </p:spPr>
        <p:txBody>
          <a:bodyPr vert="horz" wrap="square" lIns="0" tIns="33655" rIns="0" bIns="0" rtlCol="0">
            <a:spAutoFit/>
          </a:bodyPr>
          <a:lstStyle>
            <a:lvl1pPr>
              <a:defRPr sz="1800" b="1" i="0">
                <a:solidFill>
                  <a:schemeClr val="bg1"/>
                </a:solidFill>
                <a:latin typeface="Century Gothic"/>
                <a:ea typeface="+mj-ea"/>
                <a:cs typeface="Century Gothic"/>
              </a:defRPr>
            </a:lvl1pPr>
          </a:lstStyle>
          <a:p>
            <a:pPr marL="503555">
              <a:spcBef>
                <a:spcPts val="265"/>
              </a:spcBef>
            </a:pPr>
            <a:r>
              <a:rPr lang="fr-FR" spc="-10" dirty="0"/>
              <a:t>NOTE D’INTENTION</a:t>
            </a:r>
          </a:p>
        </p:txBody>
      </p:sp>
      <p:sp>
        <p:nvSpPr>
          <p:cNvPr id="3" name="object 3">
            <a:extLst>
              <a:ext uri="{FF2B5EF4-FFF2-40B4-BE49-F238E27FC236}">
                <a16:creationId xmlns:a16="http://schemas.microsoft.com/office/drawing/2014/main" id="{63A2794C-13D8-586E-C1FF-94E6887E8487}"/>
              </a:ext>
            </a:extLst>
          </p:cNvPr>
          <p:cNvSpPr txBox="1"/>
          <p:nvPr/>
        </p:nvSpPr>
        <p:spPr>
          <a:xfrm>
            <a:off x="5536481" y="812541"/>
            <a:ext cx="4647565" cy="5968301"/>
          </a:xfrm>
          <a:prstGeom prst="rect">
            <a:avLst/>
          </a:prstGeom>
        </p:spPr>
        <p:txBody>
          <a:bodyPr vert="horz" wrap="square" lIns="0" tIns="12700" rIns="0" bIns="0" rtlCol="0">
            <a:spAutoFit/>
          </a:bodyPr>
          <a:lstStyle/>
          <a:p>
            <a:pPr marL="12700">
              <a:lnSpc>
                <a:spcPct val="100000"/>
              </a:lnSpc>
              <a:spcBef>
                <a:spcPts val="5"/>
              </a:spcBef>
            </a:pPr>
            <a:r>
              <a:rPr lang="fr-FR" sz="1400" b="1" dirty="0">
                <a:solidFill>
                  <a:srgbClr val="C50A4C"/>
                </a:solidFill>
                <a:latin typeface="Century Gothic"/>
                <a:cs typeface="Century Gothic"/>
              </a:rPr>
              <a:t> </a:t>
            </a:r>
            <a:endParaRPr sz="1400" dirty="0">
              <a:latin typeface="Century Gothic"/>
              <a:cs typeface="Century Gothic"/>
            </a:endParaRPr>
          </a:p>
          <a:p>
            <a:pPr marL="12700" algn="just">
              <a:lnSpc>
                <a:spcPct val="100000"/>
              </a:lnSpc>
              <a:spcBef>
                <a:spcPts val="1255"/>
              </a:spcBef>
            </a:pPr>
            <a:r>
              <a:rPr lang="fr-FR" sz="1100" dirty="0">
                <a:solidFill>
                  <a:srgbClr val="2A3E67"/>
                </a:solidFill>
                <a:latin typeface="Century Gothic"/>
                <a:cs typeface="Century Gothic"/>
              </a:rPr>
              <a:t>A – PERFORMANCES ET OBJECTIFS ENVIRONNEMENTAUX</a:t>
            </a:r>
            <a:endParaRPr lang="fr-FR" sz="1100" dirty="0">
              <a:latin typeface="Century Gothic"/>
              <a:cs typeface="Century Gothic"/>
            </a:endParaRPr>
          </a:p>
          <a:p>
            <a:pPr marL="12700" marR="5080" indent="-635" algn="just">
              <a:lnSpc>
                <a:spcPct val="100000"/>
              </a:lnSpc>
              <a:spcBef>
                <a:spcPts val="1320"/>
              </a:spcBef>
            </a:pPr>
            <a:r>
              <a:rPr lang="fr-FR" sz="1100" dirty="0">
                <a:highlight>
                  <a:srgbClr val="00FFFF"/>
                </a:highlight>
                <a:latin typeface="Century Gothic"/>
                <a:cs typeface="Century Gothic"/>
              </a:rPr>
              <a:t>A&amp;B</a:t>
            </a:r>
            <a:r>
              <a:rPr lang="fr-FR" sz="1100" spc="-25" dirty="0">
                <a:highlight>
                  <a:srgbClr val="00FFFF"/>
                </a:highlight>
                <a:latin typeface="Century Gothic"/>
                <a:cs typeface="Century Gothic"/>
              </a:rPr>
              <a:t> </a:t>
            </a:r>
            <a:r>
              <a:rPr lang="fr-FR" sz="1100" spc="-10" dirty="0">
                <a:highlight>
                  <a:srgbClr val="00FFFF"/>
                </a:highlight>
                <a:latin typeface="Century Gothic"/>
                <a:cs typeface="Century Gothic"/>
              </a:rPr>
              <a:t>Architectes</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s’attachera</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à</a:t>
            </a:r>
            <a:r>
              <a:rPr lang="fr-FR" sz="1100" spc="-25" dirty="0">
                <a:highlight>
                  <a:srgbClr val="00FFFF"/>
                </a:highlight>
                <a:latin typeface="Century Gothic"/>
                <a:cs typeface="Century Gothic"/>
              </a:rPr>
              <a:t> </a:t>
            </a:r>
            <a:r>
              <a:rPr lang="fr-FR" sz="1100" spc="-10" dirty="0">
                <a:highlight>
                  <a:srgbClr val="00FFFF"/>
                </a:highlight>
                <a:latin typeface="Century Gothic"/>
                <a:cs typeface="Century Gothic"/>
              </a:rPr>
              <a:t>définir</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et</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faire</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partager</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la</a:t>
            </a:r>
            <a:r>
              <a:rPr lang="fr-FR" sz="1100" spc="-25" dirty="0">
                <a:highlight>
                  <a:srgbClr val="00FFFF"/>
                </a:highlight>
                <a:latin typeface="Century Gothic"/>
                <a:cs typeface="Century Gothic"/>
              </a:rPr>
              <a:t> </a:t>
            </a:r>
            <a:r>
              <a:rPr lang="fr-FR" sz="1100" spc="-10" dirty="0">
                <a:highlight>
                  <a:srgbClr val="00FFFF"/>
                </a:highlight>
                <a:latin typeface="Century Gothic"/>
                <a:cs typeface="Century Gothic"/>
              </a:rPr>
              <a:t>philosophie </a:t>
            </a:r>
            <a:r>
              <a:rPr lang="fr-FR" sz="1100" dirty="0">
                <a:highlight>
                  <a:srgbClr val="00FFFF"/>
                </a:highlight>
                <a:latin typeface="Century Gothic"/>
                <a:cs typeface="Century Gothic"/>
              </a:rPr>
              <a:t>globale</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du</a:t>
            </a:r>
            <a:r>
              <a:rPr lang="fr-FR" sz="1100" spc="120" dirty="0">
                <a:highlight>
                  <a:srgbClr val="00FFFF"/>
                </a:highlight>
                <a:latin typeface="Century Gothic"/>
                <a:cs typeface="Century Gothic"/>
              </a:rPr>
              <a:t>  </a:t>
            </a:r>
            <a:r>
              <a:rPr lang="fr-FR" sz="1100" dirty="0">
                <a:highlight>
                  <a:srgbClr val="00FFFF"/>
                </a:highlight>
                <a:latin typeface="Century Gothic"/>
                <a:cs typeface="Century Gothic"/>
              </a:rPr>
              <a:t>projet</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architectural</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où</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il</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apparait</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dès</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à</a:t>
            </a:r>
            <a:r>
              <a:rPr lang="fr-FR" sz="1100" spc="120" dirty="0">
                <a:highlight>
                  <a:srgbClr val="00FFFF"/>
                </a:highlight>
                <a:latin typeface="Century Gothic"/>
                <a:cs typeface="Century Gothic"/>
              </a:rPr>
              <a:t>  </a:t>
            </a:r>
            <a:r>
              <a:rPr lang="fr-FR" sz="1100" spc="-10" dirty="0">
                <a:highlight>
                  <a:srgbClr val="00FFFF"/>
                </a:highlight>
                <a:latin typeface="Century Gothic"/>
                <a:cs typeface="Century Gothic"/>
              </a:rPr>
              <a:t>présent </a:t>
            </a:r>
            <a:r>
              <a:rPr lang="fr-FR" sz="1100" dirty="0">
                <a:highlight>
                  <a:srgbClr val="00FFFF"/>
                </a:highlight>
                <a:latin typeface="Century Gothic"/>
                <a:cs typeface="Century Gothic"/>
              </a:rPr>
              <a:t>important</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d’inscrire</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la</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réhabilitation</a:t>
            </a:r>
            <a:r>
              <a:rPr lang="fr-FR" sz="1100" spc="165" dirty="0">
                <a:highlight>
                  <a:srgbClr val="00FFFF"/>
                </a:highlight>
                <a:latin typeface="Century Gothic"/>
                <a:cs typeface="Century Gothic"/>
              </a:rPr>
              <a:t> </a:t>
            </a:r>
            <a:r>
              <a:rPr lang="fr-FR" sz="1100" dirty="0">
                <a:highlight>
                  <a:srgbClr val="00FFFF"/>
                </a:highlight>
                <a:latin typeface="Century Gothic"/>
                <a:cs typeface="Century Gothic"/>
              </a:rPr>
              <a:t>de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la</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résidence</a:t>
            </a:r>
            <a:r>
              <a:rPr lang="fr-FR" sz="1100" spc="-10" dirty="0">
                <a:highlight>
                  <a:srgbClr val="00FFFF"/>
                </a:highlight>
                <a:latin typeface="Century Gothic"/>
                <a:cs typeface="Century Gothic"/>
              </a:rPr>
              <a:t>, </a:t>
            </a:r>
            <a:r>
              <a:rPr lang="fr-FR" sz="1100" dirty="0">
                <a:highlight>
                  <a:srgbClr val="00FFFF"/>
                </a:highlight>
                <a:latin typeface="Century Gothic"/>
                <a:cs typeface="Century Gothic"/>
              </a:rPr>
              <a:t>dans</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une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dynamique</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élégante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et</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d’envergure.</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A</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savoir</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celle</a:t>
            </a:r>
            <a:r>
              <a:rPr lang="fr-FR" sz="1100" spc="160" dirty="0">
                <a:highlight>
                  <a:srgbClr val="00FFFF"/>
                </a:highlight>
                <a:latin typeface="Century Gothic"/>
                <a:cs typeface="Century Gothic"/>
              </a:rPr>
              <a:t> </a:t>
            </a:r>
            <a:r>
              <a:rPr lang="fr-FR" sz="1100" spc="-25" dirty="0">
                <a:highlight>
                  <a:srgbClr val="00FFFF"/>
                </a:highlight>
                <a:latin typeface="Century Gothic"/>
                <a:cs typeface="Century Gothic"/>
              </a:rPr>
              <a:t>des </a:t>
            </a:r>
            <a:r>
              <a:rPr lang="fr-FR" sz="1100" dirty="0">
                <a:highlight>
                  <a:srgbClr val="00FFFF"/>
                </a:highlight>
                <a:latin typeface="Century Gothic"/>
                <a:cs typeface="Century Gothic"/>
              </a:rPr>
              <a:t>caractéristiques</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et</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ambitions</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d’un</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habitat,</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où</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le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souci</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du</a:t>
            </a:r>
            <a:r>
              <a:rPr lang="fr-FR" sz="1100" spc="155" dirty="0">
                <a:highlight>
                  <a:srgbClr val="00FFFF"/>
                </a:highlight>
                <a:latin typeface="Century Gothic"/>
                <a:cs typeface="Century Gothic"/>
              </a:rPr>
              <a:t> </a:t>
            </a:r>
            <a:r>
              <a:rPr lang="fr-FR" sz="1100" spc="-10" dirty="0">
                <a:highlight>
                  <a:srgbClr val="00FFFF"/>
                </a:highlight>
                <a:latin typeface="Century Gothic"/>
                <a:cs typeface="Century Gothic"/>
              </a:rPr>
              <a:t>progrès </a:t>
            </a:r>
            <a:r>
              <a:rPr lang="fr-FR" sz="1100" dirty="0">
                <a:highlight>
                  <a:srgbClr val="00FFFF"/>
                </a:highlight>
                <a:latin typeface="Century Gothic"/>
                <a:cs typeface="Century Gothic"/>
              </a:rPr>
              <a:t>social</a:t>
            </a:r>
            <a:r>
              <a:rPr lang="fr-FR" sz="1100" spc="130" dirty="0">
                <a:highlight>
                  <a:srgbClr val="00FFFF"/>
                </a:highlight>
                <a:latin typeface="Century Gothic"/>
                <a:cs typeface="Century Gothic"/>
              </a:rPr>
              <a:t> </a:t>
            </a:r>
            <a:r>
              <a:rPr lang="fr-FR" sz="1100" dirty="0">
                <a:highlight>
                  <a:srgbClr val="00FFFF"/>
                </a:highlight>
                <a:latin typeface="Century Gothic"/>
                <a:cs typeface="Century Gothic"/>
              </a:rPr>
              <a:t>va</a:t>
            </a:r>
            <a:r>
              <a:rPr lang="fr-FR" sz="1100" spc="130" dirty="0">
                <a:highlight>
                  <a:srgbClr val="00FFFF"/>
                </a:highlight>
                <a:latin typeface="Century Gothic"/>
                <a:cs typeface="Century Gothic"/>
              </a:rPr>
              <a:t> </a:t>
            </a:r>
            <a:r>
              <a:rPr lang="fr-FR" sz="1100" dirty="0">
                <a:highlight>
                  <a:srgbClr val="00FFFF"/>
                </a:highlight>
                <a:latin typeface="Century Gothic"/>
                <a:cs typeface="Century Gothic"/>
              </a:rPr>
              <a:t>de</a:t>
            </a:r>
            <a:r>
              <a:rPr lang="fr-FR" sz="1100" spc="130" dirty="0">
                <a:highlight>
                  <a:srgbClr val="00FFFF"/>
                </a:highlight>
                <a:latin typeface="Century Gothic"/>
                <a:cs typeface="Century Gothic"/>
              </a:rPr>
              <a:t> </a:t>
            </a:r>
            <a:r>
              <a:rPr lang="fr-FR" sz="1100" dirty="0">
                <a:highlight>
                  <a:srgbClr val="00FFFF"/>
                </a:highlight>
                <a:latin typeface="Century Gothic"/>
                <a:cs typeface="Century Gothic"/>
              </a:rPr>
              <a:t>pair</a:t>
            </a:r>
            <a:r>
              <a:rPr lang="fr-FR" sz="1100" spc="130" dirty="0">
                <a:highlight>
                  <a:srgbClr val="00FFFF"/>
                </a:highlight>
                <a:latin typeface="Century Gothic"/>
                <a:cs typeface="Century Gothic"/>
              </a:rPr>
              <a:t> </a:t>
            </a:r>
            <a:r>
              <a:rPr lang="fr-FR" sz="1100" dirty="0">
                <a:highlight>
                  <a:srgbClr val="00FFFF"/>
                </a:highlight>
                <a:latin typeface="Century Gothic"/>
                <a:cs typeface="Century Gothic"/>
              </a:rPr>
              <a:t>avec</a:t>
            </a:r>
            <a:r>
              <a:rPr lang="fr-FR" sz="1100" spc="130" dirty="0">
                <a:highlight>
                  <a:srgbClr val="00FFFF"/>
                </a:highlight>
                <a:latin typeface="Century Gothic"/>
                <a:cs typeface="Century Gothic"/>
              </a:rPr>
              <a:t> </a:t>
            </a:r>
            <a:r>
              <a:rPr lang="fr-FR" sz="1100" dirty="0">
                <a:highlight>
                  <a:srgbClr val="00FFFF"/>
                </a:highlight>
                <a:latin typeface="Century Gothic"/>
                <a:cs typeface="Century Gothic"/>
              </a:rPr>
              <a:t>une</a:t>
            </a:r>
            <a:r>
              <a:rPr lang="fr-FR" sz="1100" spc="130" dirty="0">
                <a:highlight>
                  <a:srgbClr val="00FFFF"/>
                </a:highlight>
                <a:latin typeface="Century Gothic"/>
                <a:cs typeface="Century Gothic"/>
              </a:rPr>
              <a:t> </a:t>
            </a:r>
            <a:r>
              <a:rPr lang="fr-FR" sz="1100" dirty="0">
                <a:highlight>
                  <a:srgbClr val="00FFFF"/>
                </a:highlight>
                <a:latin typeface="Century Gothic"/>
                <a:cs typeface="Century Gothic"/>
              </a:rPr>
              <a:t>rationalisation</a:t>
            </a:r>
            <a:r>
              <a:rPr lang="fr-FR" sz="1100" spc="130" dirty="0">
                <a:highlight>
                  <a:srgbClr val="00FFFF"/>
                </a:highlight>
                <a:latin typeface="Century Gothic"/>
                <a:cs typeface="Century Gothic"/>
              </a:rPr>
              <a:t> </a:t>
            </a:r>
            <a:r>
              <a:rPr lang="fr-FR" sz="1100" dirty="0">
                <a:highlight>
                  <a:srgbClr val="00FFFF"/>
                </a:highlight>
                <a:latin typeface="Century Gothic"/>
                <a:cs typeface="Century Gothic"/>
              </a:rPr>
              <a:t>et</a:t>
            </a:r>
            <a:r>
              <a:rPr lang="fr-FR" sz="1100" spc="130" dirty="0">
                <a:highlight>
                  <a:srgbClr val="00FFFF"/>
                </a:highlight>
                <a:latin typeface="Century Gothic"/>
                <a:cs typeface="Century Gothic"/>
              </a:rPr>
              <a:t> </a:t>
            </a:r>
            <a:r>
              <a:rPr lang="fr-FR" sz="1100" dirty="0">
                <a:highlight>
                  <a:srgbClr val="00FFFF"/>
                </a:highlight>
                <a:latin typeface="Century Gothic"/>
                <a:cs typeface="Century Gothic"/>
              </a:rPr>
              <a:t>un</a:t>
            </a:r>
            <a:r>
              <a:rPr lang="fr-FR" sz="1100" spc="130" dirty="0">
                <a:highlight>
                  <a:srgbClr val="00FFFF"/>
                </a:highlight>
                <a:latin typeface="Century Gothic"/>
                <a:cs typeface="Century Gothic"/>
              </a:rPr>
              <a:t> </a:t>
            </a:r>
            <a:r>
              <a:rPr lang="fr-FR" sz="1100" dirty="0">
                <a:highlight>
                  <a:srgbClr val="00FFFF"/>
                </a:highlight>
                <a:latin typeface="Century Gothic"/>
                <a:cs typeface="Century Gothic"/>
              </a:rPr>
              <a:t>caractère</a:t>
            </a:r>
            <a:r>
              <a:rPr lang="fr-FR" sz="1100" spc="125" dirty="0">
                <a:highlight>
                  <a:srgbClr val="00FFFF"/>
                </a:highlight>
                <a:latin typeface="Century Gothic"/>
                <a:cs typeface="Century Gothic"/>
              </a:rPr>
              <a:t> </a:t>
            </a:r>
            <a:r>
              <a:rPr lang="fr-FR" sz="1100" spc="-10" dirty="0">
                <a:highlight>
                  <a:srgbClr val="00FFFF"/>
                </a:highlight>
                <a:latin typeface="Century Gothic"/>
                <a:cs typeface="Century Gothic"/>
              </a:rPr>
              <a:t>évolutif </a:t>
            </a:r>
            <a:r>
              <a:rPr lang="fr-FR" sz="1100" dirty="0">
                <a:highlight>
                  <a:srgbClr val="00FFFF"/>
                </a:highlight>
                <a:latin typeface="Century Gothic"/>
                <a:cs typeface="Century Gothic"/>
              </a:rPr>
              <a:t>et</a:t>
            </a:r>
            <a:r>
              <a:rPr lang="fr-FR" sz="1100" spc="20" dirty="0">
                <a:highlight>
                  <a:srgbClr val="00FFFF"/>
                </a:highlight>
                <a:latin typeface="Century Gothic"/>
                <a:cs typeface="Century Gothic"/>
              </a:rPr>
              <a:t> </a:t>
            </a:r>
            <a:r>
              <a:rPr lang="fr-FR" sz="1100" dirty="0">
                <a:highlight>
                  <a:srgbClr val="00FFFF"/>
                </a:highlight>
                <a:latin typeface="Century Gothic"/>
                <a:cs typeface="Century Gothic"/>
              </a:rPr>
              <a:t>où</a:t>
            </a:r>
            <a:r>
              <a:rPr lang="fr-FR" sz="1100" spc="20" dirty="0">
                <a:highlight>
                  <a:srgbClr val="00FFFF"/>
                </a:highlight>
                <a:latin typeface="Century Gothic"/>
                <a:cs typeface="Century Gothic"/>
              </a:rPr>
              <a:t> </a:t>
            </a:r>
            <a:r>
              <a:rPr lang="fr-FR" sz="1100" dirty="0">
                <a:highlight>
                  <a:srgbClr val="00FFFF"/>
                </a:highlight>
                <a:latin typeface="Century Gothic"/>
                <a:cs typeface="Century Gothic"/>
              </a:rPr>
              <a:t>la</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modernité</a:t>
            </a:r>
            <a:r>
              <a:rPr lang="fr-FR" sz="1100" spc="20" dirty="0">
                <a:highlight>
                  <a:srgbClr val="00FFFF"/>
                </a:highlight>
                <a:latin typeface="Century Gothic"/>
                <a:cs typeface="Century Gothic"/>
              </a:rPr>
              <a:t> </a:t>
            </a:r>
            <a:r>
              <a:rPr lang="fr-FR" sz="1100" dirty="0">
                <a:highlight>
                  <a:srgbClr val="00FFFF"/>
                </a:highlight>
                <a:latin typeface="Century Gothic"/>
                <a:cs typeface="Century Gothic"/>
              </a:rPr>
              <a:t>visait</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efficacité</a:t>
            </a:r>
            <a:r>
              <a:rPr lang="fr-FR" sz="1100" spc="20" dirty="0">
                <a:highlight>
                  <a:srgbClr val="00FFFF"/>
                </a:highlight>
                <a:latin typeface="Century Gothic"/>
                <a:cs typeface="Century Gothic"/>
              </a:rPr>
              <a:t> </a:t>
            </a:r>
            <a:r>
              <a:rPr lang="fr-FR" sz="1100" dirty="0">
                <a:highlight>
                  <a:srgbClr val="00FFFF"/>
                </a:highlight>
                <a:latin typeface="Century Gothic"/>
                <a:cs typeface="Century Gothic"/>
              </a:rPr>
              <a:t>et</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maîtrise</a:t>
            </a:r>
            <a:r>
              <a:rPr lang="fr-FR" sz="1100" spc="20" dirty="0">
                <a:highlight>
                  <a:srgbClr val="00FFFF"/>
                </a:highlight>
                <a:latin typeface="Century Gothic"/>
                <a:cs typeface="Century Gothic"/>
              </a:rPr>
              <a:t> </a:t>
            </a:r>
            <a:r>
              <a:rPr lang="fr-FR" sz="1100" dirty="0">
                <a:highlight>
                  <a:srgbClr val="00FFFF"/>
                </a:highlight>
                <a:latin typeface="Century Gothic"/>
                <a:cs typeface="Century Gothic"/>
              </a:rPr>
              <a:t>des</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coûts</a:t>
            </a:r>
            <a:r>
              <a:rPr lang="fr-FR" sz="1100" spc="20" dirty="0">
                <a:highlight>
                  <a:srgbClr val="00FFFF"/>
                </a:highlight>
                <a:latin typeface="Century Gothic"/>
                <a:cs typeface="Century Gothic"/>
              </a:rPr>
              <a:t> </a:t>
            </a:r>
            <a:r>
              <a:rPr lang="fr-FR" sz="1100" dirty="0">
                <a:highlight>
                  <a:srgbClr val="00FFFF"/>
                </a:highlight>
                <a:latin typeface="Century Gothic"/>
                <a:cs typeface="Century Gothic"/>
              </a:rPr>
              <a:t>au</a:t>
            </a:r>
            <a:r>
              <a:rPr lang="fr-FR" sz="1100" spc="20" dirty="0">
                <a:highlight>
                  <a:srgbClr val="00FFFF"/>
                </a:highlight>
                <a:latin typeface="Century Gothic"/>
                <a:cs typeface="Century Gothic"/>
              </a:rPr>
              <a:t> </a:t>
            </a:r>
            <a:r>
              <a:rPr lang="fr-FR" sz="1100" dirty="0">
                <a:highlight>
                  <a:srgbClr val="00FFFF"/>
                </a:highlight>
                <a:latin typeface="Century Gothic"/>
                <a:cs typeface="Century Gothic"/>
              </a:rPr>
              <a:t>profit</a:t>
            </a:r>
            <a:r>
              <a:rPr lang="fr-FR" sz="1100" spc="25" dirty="0">
                <a:highlight>
                  <a:srgbClr val="00FFFF"/>
                </a:highlight>
                <a:latin typeface="Century Gothic"/>
                <a:cs typeface="Century Gothic"/>
              </a:rPr>
              <a:t> </a:t>
            </a:r>
            <a:r>
              <a:rPr lang="fr-FR" sz="1100" spc="-25" dirty="0">
                <a:highlight>
                  <a:srgbClr val="00FFFF"/>
                </a:highlight>
                <a:latin typeface="Century Gothic"/>
                <a:cs typeface="Century Gothic"/>
              </a:rPr>
              <a:t>du </a:t>
            </a:r>
            <a:r>
              <a:rPr lang="fr-FR" sz="1100" dirty="0">
                <a:highlight>
                  <a:srgbClr val="00FFFF"/>
                </a:highlight>
                <a:latin typeface="Century Gothic"/>
                <a:cs typeface="Century Gothic"/>
              </a:rPr>
              <a:t>confort</a:t>
            </a:r>
            <a:r>
              <a:rPr lang="fr-FR" sz="1100" spc="-20" dirty="0">
                <a:highlight>
                  <a:srgbClr val="00FFFF"/>
                </a:highlight>
                <a:latin typeface="Century Gothic"/>
                <a:cs typeface="Century Gothic"/>
              </a:rPr>
              <a:t> </a:t>
            </a:r>
            <a:r>
              <a:rPr lang="fr-FR" sz="1100" dirty="0">
                <a:highlight>
                  <a:srgbClr val="00FFFF"/>
                </a:highlight>
                <a:latin typeface="Century Gothic"/>
                <a:cs typeface="Century Gothic"/>
              </a:rPr>
              <a:t>pour</a:t>
            </a:r>
            <a:r>
              <a:rPr lang="fr-FR" sz="1100" spc="-15" dirty="0">
                <a:highlight>
                  <a:srgbClr val="00FFFF"/>
                </a:highlight>
                <a:latin typeface="Century Gothic"/>
                <a:cs typeface="Century Gothic"/>
              </a:rPr>
              <a:t> </a:t>
            </a:r>
            <a:r>
              <a:rPr lang="fr-FR" sz="1100" dirty="0">
                <a:highlight>
                  <a:srgbClr val="00FFFF"/>
                </a:highlight>
                <a:latin typeface="Century Gothic"/>
                <a:cs typeface="Century Gothic"/>
              </a:rPr>
              <a:t>le</a:t>
            </a:r>
            <a:r>
              <a:rPr lang="fr-FR" sz="1100" spc="-15" dirty="0">
                <a:highlight>
                  <a:srgbClr val="00FFFF"/>
                </a:highlight>
                <a:latin typeface="Century Gothic"/>
                <a:cs typeface="Century Gothic"/>
              </a:rPr>
              <a:t> </a:t>
            </a:r>
            <a:r>
              <a:rPr lang="fr-FR" sz="1100" dirty="0">
                <a:highlight>
                  <a:srgbClr val="00FFFF"/>
                </a:highlight>
                <a:latin typeface="Century Gothic"/>
                <a:cs typeface="Century Gothic"/>
              </a:rPr>
              <a:t>plus</a:t>
            </a:r>
            <a:r>
              <a:rPr lang="fr-FR" sz="1100" spc="-20" dirty="0">
                <a:highlight>
                  <a:srgbClr val="00FFFF"/>
                </a:highlight>
                <a:latin typeface="Century Gothic"/>
                <a:cs typeface="Century Gothic"/>
              </a:rPr>
              <a:t> </a:t>
            </a:r>
            <a:r>
              <a:rPr lang="fr-FR" sz="1100" dirty="0">
                <a:highlight>
                  <a:srgbClr val="00FFFF"/>
                </a:highlight>
                <a:latin typeface="Century Gothic"/>
                <a:cs typeface="Century Gothic"/>
              </a:rPr>
              <a:t>grand</a:t>
            </a:r>
            <a:r>
              <a:rPr lang="fr-FR" sz="1100" spc="-15" dirty="0">
                <a:highlight>
                  <a:srgbClr val="00FFFF"/>
                </a:highlight>
                <a:latin typeface="Century Gothic"/>
                <a:cs typeface="Century Gothic"/>
              </a:rPr>
              <a:t> </a:t>
            </a:r>
            <a:r>
              <a:rPr lang="fr-FR" sz="1100" spc="-10" dirty="0">
                <a:highlight>
                  <a:srgbClr val="00FFFF"/>
                </a:highlight>
                <a:latin typeface="Century Gothic"/>
                <a:cs typeface="Century Gothic"/>
              </a:rPr>
              <a:t>nombre.</a:t>
            </a:r>
          </a:p>
          <a:p>
            <a:pPr marL="12700" marR="5080" indent="-635" algn="just">
              <a:lnSpc>
                <a:spcPct val="100000"/>
              </a:lnSpc>
              <a:spcBef>
                <a:spcPts val="1320"/>
              </a:spcBef>
            </a:pPr>
            <a:r>
              <a:rPr lang="fr-FR" sz="1100" dirty="0">
                <a:highlight>
                  <a:srgbClr val="00FFFF"/>
                </a:highlight>
                <a:latin typeface="Century Gothic"/>
                <a:cs typeface="Century Gothic"/>
              </a:rPr>
              <a:t>A&amp;B</a:t>
            </a:r>
            <a:r>
              <a:rPr lang="fr-FR" sz="1100" spc="-25" dirty="0">
                <a:highlight>
                  <a:srgbClr val="00FFFF"/>
                </a:highlight>
                <a:latin typeface="Century Gothic"/>
                <a:cs typeface="Century Gothic"/>
              </a:rPr>
              <a:t> </a:t>
            </a:r>
            <a:r>
              <a:rPr lang="fr-FR" sz="1100" spc="-10" dirty="0">
                <a:highlight>
                  <a:srgbClr val="00FFFF"/>
                </a:highlight>
                <a:latin typeface="Century Gothic"/>
                <a:cs typeface="Century Gothic"/>
              </a:rPr>
              <a:t>Architectes</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s’attachera</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à</a:t>
            </a:r>
            <a:r>
              <a:rPr lang="fr-FR" sz="1100" spc="-25" dirty="0">
                <a:highlight>
                  <a:srgbClr val="00FFFF"/>
                </a:highlight>
                <a:latin typeface="Century Gothic"/>
                <a:cs typeface="Century Gothic"/>
              </a:rPr>
              <a:t> </a:t>
            </a:r>
            <a:r>
              <a:rPr lang="fr-FR" sz="1100" spc="-10" dirty="0">
                <a:highlight>
                  <a:srgbClr val="00FFFF"/>
                </a:highlight>
                <a:latin typeface="Century Gothic"/>
                <a:cs typeface="Century Gothic"/>
              </a:rPr>
              <a:t>définir</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et</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faire</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partager</a:t>
            </a:r>
            <a:r>
              <a:rPr lang="fr-FR" sz="1100" spc="-25" dirty="0">
                <a:highlight>
                  <a:srgbClr val="00FFFF"/>
                </a:highlight>
                <a:latin typeface="Century Gothic"/>
                <a:cs typeface="Century Gothic"/>
              </a:rPr>
              <a:t> </a:t>
            </a:r>
            <a:r>
              <a:rPr lang="fr-FR" sz="1100" dirty="0">
                <a:highlight>
                  <a:srgbClr val="00FFFF"/>
                </a:highlight>
                <a:latin typeface="Century Gothic"/>
                <a:cs typeface="Century Gothic"/>
              </a:rPr>
              <a:t>la</a:t>
            </a:r>
            <a:r>
              <a:rPr lang="fr-FR" sz="1100" spc="-25" dirty="0">
                <a:highlight>
                  <a:srgbClr val="00FFFF"/>
                </a:highlight>
                <a:latin typeface="Century Gothic"/>
                <a:cs typeface="Century Gothic"/>
              </a:rPr>
              <a:t> </a:t>
            </a:r>
            <a:r>
              <a:rPr lang="fr-FR" sz="1100" spc="-10" dirty="0">
                <a:highlight>
                  <a:srgbClr val="00FFFF"/>
                </a:highlight>
                <a:latin typeface="Century Gothic"/>
                <a:cs typeface="Century Gothic"/>
              </a:rPr>
              <a:t>philosophie </a:t>
            </a:r>
            <a:r>
              <a:rPr lang="fr-FR" sz="1100" dirty="0">
                <a:highlight>
                  <a:srgbClr val="00FFFF"/>
                </a:highlight>
                <a:latin typeface="Century Gothic"/>
                <a:cs typeface="Century Gothic"/>
              </a:rPr>
              <a:t>globale</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du</a:t>
            </a:r>
            <a:r>
              <a:rPr lang="fr-FR" sz="1100" spc="120" dirty="0">
                <a:highlight>
                  <a:srgbClr val="00FFFF"/>
                </a:highlight>
                <a:latin typeface="Century Gothic"/>
                <a:cs typeface="Century Gothic"/>
              </a:rPr>
              <a:t>  </a:t>
            </a:r>
            <a:r>
              <a:rPr lang="fr-FR" sz="1100" dirty="0">
                <a:highlight>
                  <a:srgbClr val="00FFFF"/>
                </a:highlight>
                <a:latin typeface="Century Gothic"/>
                <a:cs typeface="Century Gothic"/>
              </a:rPr>
              <a:t>projet</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architectural</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où</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il</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apparait</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dès</a:t>
            </a:r>
            <a:r>
              <a:rPr lang="fr-FR" sz="1100" spc="114" dirty="0">
                <a:highlight>
                  <a:srgbClr val="00FFFF"/>
                </a:highlight>
                <a:latin typeface="Century Gothic"/>
                <a:cs typeface="Century Gothic"/>
              </a:rPr>
              <a:t>  </a:t>
            </a:r>
            <a:r>
              <a:rPr lang="fr-FR" sz="1100" dirty="0">
                <a:highlight>
                  <a:srgbClr val="00FFFF"/>
                </a:highlight>
                <a:latin typeface="Century Gothic"/>
                <a:cs typeface="Century Gothic"/>
              </a:rPr>
              <a:t>à</a:t>
            </a:r>
            <a:r>
              <a:rPr lang="fr-FR" sz="1100" spc="120" dirty="0">
                <a:highlight>
                  <a:srgbClr val="00FFFF"/>
                </a:highlight>
                <a:latin typeface="Century Gothic"/>
                <a:cs typeface="Century Gothic"/>
              </a:rPr>
              <a:t>  </a:t>
            </a:r>
            <a:r>
              <a:rPr lang="fr-FR" sz="1100" spc="-10" dirty="0">
                <a:highlight>
                  <a:srgbClr val="00FFFF"/>
                </a:highlight>
                <a:latin typeface="Century Gothic"/>
                <a:cs typeface="Century Gothic"/>
              </a:rPr>
              <a:t>présent </a:t>
            </a:r>
            <a:r>
              <a:rPr lang="fr-FR" sz="1100" dirty="0">
                <a:highlight>
                  <a:srgbClr val="00FFFF"/>
                </a:highlight>
                <a:latin typeface="Century Gothic"/>
                <a:cs typeface="Century Gothic"/>
              </a:rPr>
              <a:t>important</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d’inscrire</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la</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réhabilitation</a:t>
            </a:r>
            <a:r>
              <a:rPr lang="fr-FR" sz="1100" spc="165" dirty="0">
                <a:highlight>
                  <a:srgbClr val="00FFFF"/>
                </a:highlight>
                <a:latin typeface="Century Gothic"/>
                <a:cs typeface="Century Gothic"/>
              </a:rPr>
              <a:t> </a:t>
            </a:r>
            <a:r>
              <a:rPr lang="fr-FR" sz="1100" dirty="0">
                <a:highlight>
                  <a:srgbClr val="00FFFF"/>
                </a:highlight>
                <a:latin typeface="Century Gothic"/>
                <a:cs typeface="Century Gothic"/>
              </a:rPr>
              <a:t>de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la</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résidence</a:t>
            </a:r>
            <a:r>
              <a:rPr lang="fr-FR" sz="1100" spc="-10" dirty="0">
                <a:highlight>
                  <a:srgbClr val="00FFFF"/>
                </a:highlight>
                <a:latin typeface="Century Gothic"/>
                <a:cs typeface="Century Gothic"/>
              </a:rPr>
              <a:t>, </a:t>
            </a:r>
            <a:r>
              <a:rPr lang="fr-FR" sz="1100" dirty="0">
                <a:highlight>
                  <a:srgbClr val="00FFFF"/>
                </a:highlight>
                <a:latin typeface="Century Gothic"/>
                <a:cs typeface="Century Gothic"/>
              </a:rPr>
              <a:t>dans</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une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dynamique</a:t>
            </a:r>
            <a:r>
              <a:rPr lang="fr-FR" sz="1100" spc="160" dirty="0">
                <a:highlight>
                  <a:srgbClr val="00FFFF"/>
                </a:highlight>
                <a:latin typeface="Century Gothic"/>
                <a:cs typeface="Century Gothic"/>
              </a:rPr>
              <a:t> </a:t>
            </a:r>
            <a:r>
              <a:rPr lang="fr-FR" sz="1100" dirty="0">
                <a:highlight>
                  <a:srgbClr val="00FFFF"/>
                </a:highlight>
                <a:latin typeface="Century Gothic"/>
                <a:cs typeface="Century Gothic"/>
              </a:rPr>
              <a:t>élégante</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et</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d’envergure. A</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savoir</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celle</a:t>
            </a:r>
            <a:r>
              <a:rPr lang="fr-FR" sz="1100" spc="160" dirty="0">
                <a:highlight>
                  <a:srgbClr val="00FFFF"/>
                </a:highlight>
                <a:latin typeface="Century Gothic"/>
                <a:cs typeface="Century Gothic"/>
              </a:rPr>
              <a:t> </a:t>
            </a:r>
            <a:r>
              <a:rPr lang="fr-FR" sz="1100" spc="-25" dirty="0">
                <a:highlight>
                  <a:srgbClr val="00FFFF"/>
                </a:highlight>
                <a:latin typeface="Century Gothic"/>
                <a:cs typeface="Century Gothic"/>
              </a:rPr>
              <a:t>des </a:t>
            </a:r>
            <a:r>
              <a:rPr lang="fr-FR" sz="1100" dirty="0">
                <a:highlight>
                  <a:srgbClr val="00FFFF"/>
                </a:highlight>
                <a:latin typeface="Century Gothic"/>
                <a:cs typeface="Century Gothic"/>
              </a:rPr>
              <a:t>caractéristiques</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et</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ambitions</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d’un</a:t>
            </a:r>
            <a:r>
              <a:rPr lang="fr-FR" sz="1100" spc="155" dirty="0">
                <a:highlight>
                  <a:srgbClr val="00FFFF"/>
                </a:highlight>
                <a:latin typeface="Century Gothic"/>
                <a:cs typeface="Century Gothic"/>
              </a:rPr>
              <a:t> </a:t>
            </a:r>
            <a:r>
              <a:rPr lang="fr-FR" sz="1100" dirty="0">
                <a:highlight>
                  <a:srgbClr val="00FFFF"/>
                </a:highlight>
                <a:latin typeface="Century Gothic"/>
                <a:cs typeface="Century Gothic"/>
              </a:rPr>
              <a:t>habitat.</a:t>
            </a:r>
          </a:p>
          <a:p>
            <a:pPr marL="12700" algn="just">
              <a:lnSpc>
                <a:spcPct val="100000"/>
              </a:lnSpc>
              <a:spcBef>
                <a:spcPts val="1255"/>
              </a:spcBef>
            </a:pPr>
            <a:r>
              <a:rPr lang="fr-FR" sz="1100" dirty="0">
                <a:solidFill>
                  <a:srgbClr val="2A3E67"/>
                </a:solidFill>
                <a:latin typeface="Century Gothic"/>
                <a:cs typeface="Century Gothic"/>
              </a:rPr>
              <a:t>A – PERFORMANCES ACOUSTIQUES</a:t>
            </a:r>
            <a:endParaRPr lang="fr-FR" sz="1100" dirty="0">
              <a:latin typeface="Century Gothic"/>
              <a:cs typeface="Century Gothic"/>
            </a:endParaRPr>
          </a:p>
          <a:p>
            <a:pPr marL="12700" marR="5080" indent="-635" algn="just">
              <a:lnSpc>
                <a:spcPct val="100000"/>
              </a:lnSpc>
              <a:spcBef>
                <a:spcPts val="1320"/>
              </a:spcBef>
            </a:pPr>
            <a:r>
              <a:rPr lang="fr-FR" sz="1100" dirty="0">
                <a:highlight>
                  <a:srgbClr val="00FF00"/>
                </a:highlight>
                <a:latin typeface="Century Gothic"/>
                <a:cs typeface="Century Gothic"/>
              </a:rPr>
              <a:t>A&amp;B</a:t>
            </a:r>
            <a:r>
              <a:rPr lang="fr-FR" sz="1100" spc="-25" dirty="0">
                <a:highlight>
                  <a:srgbClr val="00FF00"/>
                </a:highlight>
                <a:latin typeface="Century Gothic"/>
                <a:cs typeface="Century Gothic"/>
              </a:rPr>
              <a:t> </a:t>
            </a:r>
            <a:r>
              <a:rPr lang="fr-FR" sz="1100" spc="-10" dirty="0">
                <a:highlight>
                  <a:srgbClr val="00FF00"/>
                </a:highlight>
                <a:latin typeface="Century Gothic"/>
                <a:cs typeface="Century Gothic"/>
              </a:rPr>
              <a:t>Architectes</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s’attachera</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à</a:t>
            </a:r>
            <a:r>
              <a:rPr lang="fr-FR" sz="1100" spc="-25" dirty="0">
                <a:highlight>
                  <a:srgbClr val="00FF00"/>
                </a:highlight>
                <a:latin typeface="Century Gothic"/>
                <a:cs typeface="Century Gothic"/>
              </a:rPr>
              <a:t> </a:t>
            </a:r>
            <a:r>
              <a:rPr lang="fr-FR" sz="1100" spc="-10" dirty="0">
                <a:highlight>
                  <a:srgbClr val="00FF00"/>
                </a:highlight>
                <a:latin typeface="Century Gothic"/>
                <a:cs typeface="Century Gothic"/>
              </a:rPr>
              <a:t>définir</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et</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faire</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partager</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la</a:t>
            </a:r>
            <a:r>
              <a:rPr lang="fr-FR" sz="1100" spc="-25" dirty="0">
                <a:highlight>
                  <a:srgbClr val="00FF00"/>
                </a:highlight>
                <a:latin typeface="Century Gothic"/>
                <a:cs typeface="Century Gothic"/>
              </a:rPr>
              <a:t> </a:t>
            </a:r>
            <a:r>
              <a:rPr lang="fr-FR" sz="1100" spc="-10" dirty="0">
                <a:highlight>
                  <a:srgbClr val="00FF00"/>
                </a:highlight>
                <a:latin typeface="Century Gothic"/>
                <a:cs typeface="Century Gothic"/>
              </a:rPr>
              <a:t>philosophie </a:t>
            </a:r>
            <a:r>
              <a:rPr lang="fr-FR" sz="1100" dirty="0">
                <a:highlight>
                  <a:srgbClr val="00FF00"/>
                </a:highlight>
                <a:latin typeface="Century Gothic"/>
                <a:cs typeface="Century Gothic"/>
              </a:rPr>
              <a:t>globale</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du</a:t>
            </a:r>
            <a:r>
              <a:rPr lang="fr-FR" sz="1100" spc="120" dirty="0">
                <a:highlight>
                  <a:srgbClr val="00FF00"/>
                </a:highlight>
                <a:latin typeface="Century Gothic"/>
                <a:cs typeface="Century Gothic"/>
              </a:rPr>
              <a:t>  </a:t>
            </a:r>
            <a:r>
              <a:rPr lang="fr-FR" sz="1100" dirty="0">
                <a:highlight>
                  <a:srgbClr val="00FF00"/>
                </a:highlight>
                <a:latin typeface="Century Gothic"/>
                <a:cs typeface="Century Gothic"/>
              </a:rPr>
              <a:t>projet</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architectural</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où</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il</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apparait</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dès</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à</a:t>
            </a:r>
            <a:r>
              <a:rPr lang="fr-FR" sz="1100" spc="120" dirty="0">
                <a:highlight>
                  <a:srgbClr val="00FF00"/>
                </a:highlight>
                <a:latin typeface="Century Gothic"/>
                <a:cs typeface="Century Gothic"/>
              </a:rPr>
              <a:t>  </a:t>
            </a:r>
            <a:r>
              <a:rPr lang="fr-FR" sz="1100" spc="-10" dirty="0">
                <a:highlight>
                  <a:srgbClr val="00FF00"/>
                </a:highlight>
                <a:latin typeface="Century Gothic"/>
                <a:cs typeface="Century Gothic"/>
              </a:rPr>
              <a:t>présent </a:t>
            </a:r>
            <a:r>
              <a:rPr lang="fr-FR" sz="1100" dirty="0">
                <a:highlight>
                  <a:srgbClr val="00FF00"/>
                </a:highlight>
                <a:latin typeface="Century Gothic"/>
                <a:cs typeface="Century Gothic"/>
              </a:rPr>
              <a:t>important</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d’inscrire</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la</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réhabilitation</a:t>
            </a:r>
            <a:r>
              <a:rPr lang="fr-FR" sz="1100" spc="165" dirty="0">
                <a:highlight>
                  <a:srgbClr val="00FF00"/>
                </a:highlight>
                <a:latin typeface="Century Gothic"/>
                <a:cs typeface="Century Gothic"/>
              </a:rPr>
              <a:t> </a:t>
            </a:r>
            <a:r>
              <a:rPr lang="fr-FR" sz="1100" dirty="0">
                <a:highlight>
                  <a:srgbClr val="00FF00"/>
                </a:highlight>
                <a:latin typeface="Century Gothic"/>
                <a:cs typeface="Century Gothic"/>
              </a:rPr>
              <a:t>de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la</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résidence</a:t>
            </a:r>
            <a:r>
              <a:rPr lang="fr-FR" sz="1100" spc="-10" dirty="0">
                <a:highlight>
                  <a:srgbClr val="00FF00"/>
                </a:highlight>
                <a:latin typeface="Century Gothic"/>
                <a:cs typeface="Century Gothic"/>
              </a:rPr>
              <a:t>, </a:t>
            </a:r>
            <a:r>
              <a:rPr lang="fr-FR" sz="1100" dirty="0">
                <a:highlight>
                  <a:srgbClr val="00FF00"/>
                </a:highlight>
                <a:latin typeface="Century Gothic"/>
                <a:cs typeface="Century Gothic"/>
              </a:rPr>
              <a:t>dans</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une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dynamique</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élégante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et</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d’envergure.</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A</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savoir</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celle</a:t>
            </a:r>
            <a:r>
              <a:rPr lang="fr-FR" sz="1100" spc="160" dirty="0">
                <a:highlight>
                  <a:srgbClr val="00FF00"/>
                </a:highlight>
                <a:latin typeface="Century Gothic"/>
                <a:cs typeface="Century Gothic"/>
              </a:rPr>
              <a:t> </a:t>
            </a:r>
            <a:r>
              <a:rPr lang="fr-FR" sz="1100" spc="-25" dirty="0">
                <a:highlight>
                  <a:srgbClr val="00FF00"/>
                </a:highlight>
                <a:latin typeface="Century Gothic"/>
                <a:cs typeface="Century Gothic"/>
              </a:rPr>
              <a:t>des </a:t>
            </a:r>
            <a:r>
              <a:rPr lang="fr-FR" sz="1100" dirty="0">
                <a:highlight>
                  <a:srgbClr val="00FF00"/>
                </a:highlight>
                <a:latin typeface="Century Gothic"/>
                <a:cs typeface="Century Gothic"/>
              </a:rPr>
              <a:t>caractéristiques</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et</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ambitions</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d’un</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habitat,</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où</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le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souci</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du</a:t>
            </a:r>
            <a:r>
              <a:rPr lang="fr-FR" sz="1100" spc="155" dirty="0">
                <a:highlight>
                  <a:srgbClr val="00FF00"/>
                </a:highlight>
                <a:latin typeface="Century Gothic"/>
                <a:cs typeface="Century Gothic"/>
              </a:rPr>
              <a:t> </a:t>
            </a:r>
            <a:r>
              <a:rPr lang="fr-FR" sz="1100" spc="-10" dirty="0">
                <a:highlight>
                  <a:srgbClr val="00FF00"/>
                </a:highlight>
                <a:latin typeface="Century Gothic"/>
                <a:cs typeface="Century Gothic"/>
              </a:rPr>
              <a:t>progrès </a:t>
            </a:r>
            <a:r>
              <a:rPr lang="fr-FR" sz="1100" dirty="0">
                <a:highlight>
                  <a:srgbClr val="00FF00"/>
                </a:highlight>
                <a:latin typeface="Century Gothic"/>
                <a:cs typeface="Century Gothic"/>
              </a:rPr>
              <a:t>social</a:t>
            </a:r>
            <a:r>
              <a:rPr lang="fr-FR" sz="1100" spc="130" dirty="0">
                <a:highlight>
                  <a:srgbClr val="00FF00"/>
                </a:highlight>
                <a:latin typeface="Century Gothic"/>
                <a:cs typeface="Century Gothic"/>
              </a:rPr>
              <a:t> </a:t>
            </a:r>
            <a:r>
              <a:rPr lang="fr-FR" sz="1100" dirty="0">
                <a:highlight>
                  <a:srgbClr val="00FF00"/>
                </a:highlight>
                <a:latin typeface="Century Gothic"/>
                <a:cs typeface="Century Gothic"/>
              </a:rPr>
              <a:t>va</a:t>
            </a:r>
            <a:r>
              <a:rPr lang="fr-FR" sz="1100" spc="130" dirty="0">
                <a:highlight>
                  <a:srgbClr val="00FF00"/>
                </a:highlight>
                <a:latin typeface="Century Gothic"/>
                <a:cs typeface="Century Gothic"/>
              </a:rPr>
              <a:t> </a:t>
            </a:r>
            <a:r>
              <a:rPr lang="fr-FR" sz="1100" dirty="0">
                <a:highlight>
                  <a:srgbClr val="00FF00"/>
                </a:highlight>
                <a:latin typeface="Century Gothic"/>
                <a:cs typeface="Century Gothic"/>
              </a:rPr>
              <a:t>de</a:t>
            </a:r>
            <a:r>
              <a:rPr lang="fr-FR" sz="1100" spc="130" dirty="0">
                <a:highlight>
                  <a:srgbClr val="00FF00"/>
                </a:highlight>
                <a:latin typeface="Century Gothic"/>
                <a:cs typeface="Century Gothic"/>
              </a:rPr>
              <a:t> </a:t>
            </a:r>
            <a:r>
              <a:rPr lang="fr-FR" sz="1100" dirty="0">
                <a:highlight>
                  <a:srgbClr val="00FF00"/>
                </a:highlight>
                <a:latin typeface="Century Gothic"/>
                <a:cs typeface="Century Gothic"/>
              </a:rPr>
              <a:t>pair</a:t>
            </a:r>
            <a:r>
              <a:rPr lang="fr-FR" sz="1100" spc="130" dirty="0">
                <a:highlight>
                  <a:srgbClr val="00FF00"/>
                </a:highlight>
                <a:latin typeface="Century Gothic"/>
                <a:cs typeface="Century Gothic"/>
              </a:rPr>
              <a:t> </a:t>
            </a:r>
            <a:r>
              <a:rPr lang="fr-FR" sz="1100" dirty="0">
                <a:highlight>
                  <a:srgbClr val="00FF00"/>
                </a:highlight>
                <a:latin typeface="Century Gothic"/>
                <a:cs typeface="Century Gothic"/>
              </a:rPr>
              <a:t>avec</a:t>
            </a:r>
            <a:r>
              <a:rPr lang="fr-FR" sz="1100" spc="130" dirty="0">
                <a:highlight>
                  <a:srgbClr val="00FF00"/>
                </a:highlight>
                <a:latin typeface="Century Gothic"/>
                <a:cs typeface="Century Gothic"/>
              </a:rPr>
              <a:t> </a:t>
            </a:r>
            <a:r>
              <a:rPr lang="fr-FR" sz="1100" dirty="0">
                <a:highlight>
                  <a:srgbClr val="00FF00"/>
                </a:highlight>
                <a:latin typeface="Century Gothic"/>
                <a:cs typeface="Century Gothic"/>
              </a:rPr>
              <a:t>une</a:t>
            </a:r>
            <a:r>
              <a:rPr lang="fr-FR" sz="1100" spc="130" dirty="0">
                <a:highlight>
                  <a:srgbClr val="00FF00"/>
                </a:highlight>
                <a:latin typeface="Century Gothic"/>
                <a:cs typeface="Century Gothic"/>
              </a:rPr>
              <a:t> </a:t>
            </a:r>
            <a:r>
              <a:rPr lang="fr-FR" sz="1100" dirty="0">
                <a:highlight>
                  <a:srgbClr val="00FF00"/>
                </a:highlight>
                <a:latin typeface="Century Gothic"/>
                <a:cs typeface="Century Gothic"/>
              </a:rPr>
              <a:t>rationalisation</a:t>
            </a:r>
            <a:r>
              <a:rPr lang="fr-FR" sz="1100" spc="130" dirty="0">
                <a:highlight>
                  <a:srgbClr val="00FF00"/>
                </a:highlight>
                <a:latin typeface="Century Gothic"/>
                <a:cs typeface="Century Gothic"/>
              </a:rPr>
              <a:t> </a:t>
            </a:r>
            <a:r>
              <a:rPr lang="fr-FR" sz="1100" dirty="0">
                <a:highlight>
                  <a:srgbClr val="00FF00"/>
                </a:highlight>
                <a:latin typeface="Century Gothic"/>
                <a:cs typeface="Century Gothic"/>
              </a:rPr>
              <a:t>et</a:t>
            </a:r>
            <a:r>
              <a:rPr lang="fr-FR" sz="1100" spc="130" dirty="0">
                <a:highlight>
                  <a:srgbClr val="00FF00"/>
                </a:highlight>
                <a:latin typeface="Century Gothic"/>
                <a:cs typeface="Century Gothic"/>
              </a:rPr>
              <a:t> </a:t>
            </a:r>
            <a:r>
              <a:rPr lang="fr-FR" sz="1100" dirty="0">
                <a:highlight>
                  <a:srgbClr val="00FF00"/>
                </a:highlight>
                <a:latin typeface="Century Gothic"/>
                <a:cs typeface="Century Gothic"/>
              </a:rPr>
              <a:t>un</a:t>
            </a:r>
            <a:r>
              <a:rPr lang="fr-FR" sz="1100" spc="130" dirty="0">
                <a:highlight>
                  <a:srgbClr val="00FF00"/>
                </a:highlight>
                <a:latin typeface="Century Gothic"/>
                <a:cs typeface="Century Gothic"/>
              </a:rPr>
              <a:t> </a:t>
            </a:r>
            <a:r>
              <a:rPr lang="fr-FR" sz="1100" dirty="0">
                <a:highlight>
                  <a:srgbClr val="00FF00"/>
                </a:highlight>
                <a:latin typeface="Century Gothic"/>
                <a:cs typeface="Century Gothic"/>
              </a:rPr>
              <a:t>caractère</a:t>
            </a:r>
            <a:r>
              <a:rPr lang="fr-FR" sz="1100" spc="125" dirty="0">
                <a:highlight>
                  <a:srgbClr val="00FF00"/>
                </a:highlight>
                <a:latin typeface="Century Gothic"/>
                <a:cs typeface="Century Gothic"/>
              </a:rPr>
              <a:t> </a:t>
            </a:r>
            <a:r>
              <a:rPr lang="fr-FR" sz="1100" spc="-10" dirty="0">
                <a:highlight>
                  <a:srgbClr val="00FF00"/>
                </a:highlight>
                <a:latin typeface="Century Gothic"/>
                <a:cs typeface="Century Gothic"/>
              </a:rPr>
              <a:t>évolutif </a:t>
            </a:r>
            <a:r>
              <a:rPr lang="fr-FR" sz="1100" dirty="0">
                <a:highlight>
                  <a:srgbClr val="00FF00"/>
                </a:highlight>
                <a:latin typeface="Century Gothic"/>
                <a:cs typeface="Century Gothic"/>
              </a:rPr>
              <a:t>et</a:t>
            </a:r>
            <a:r>
              <a:rPr lang="fr-FR" sz="1100" spc="20" dirty="0">
                <a:highlight>
                  <a:srgbClr val="00FF00"/>
                </a:highlight>
                <a:latin typeface="Century Gothic"/>
                <a:cs typeface="Century Gothic"/>
              </a:rPr>
              <a:t> </a:t>
            </a:r>
            <a:r>
              <a:rPr lang="fr-FR" sz="1100" dirty="0">
                <a:highlight>
                  <a:srgbClr val="00FF00"/>
                </a:highlight>
                <a:latin typeface="Century Gothic"/>
                <a:cs typeface="Century Gothic"/>
              </a:rPr>
              <a:t>où</a:t>
            </a:r>
            <a:r>
              <a:rPr lang="fr-FR" sz="1100" spc="20" dirty="0">
                <a:highlight>
                  <a:srgbClr val="00FF00"/>
                </a:highlight>
                <a:latin typeface="Century Gothic"/>
                <a:cs typeface="Century Gothic"/>
              </a:rPr>
              <a:t> </a:t>
            </a:r>
            <a:r>
              <a:rPr lang="fr-FR" sz="1100" dirty="0">
                <a:highlight>
                  <a:srgbClr val="00FF00"/>
                </a:highlight>
                <a:latin typeface="Century Gothic"/>
                <a:cs typeface="Century Gothic"/>
              </a:rPr>
              <a:t>la</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modernité</a:t>
            </a:r>
            <a:r>
              <a:rPr lang="fr-FR" sz="1100" spc="20" dirty="0">
                <a:highlight>
                  <a:srgbClr val="00FF00"/>
                </a:highlight>
                <a:latin typeface="Century Gothic"/>
                <a:cs typeface="Century Gothic"/>
              </a:rPr>
              <a:t> </a:t>
            </a:r>
            <a:r>
              <a:rPr lang="fr-FR" sz="1100" dirty="0">
                <a:highlight>
                  <a:srgbClr val="00FF00"/>
                </a:highlight>
                <a:latin typeface="Century Gothic"/>
                <a:cs typeface="Century Gothic"/>
              </a:rPr>
              <a:t>visait</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efficacité</a:t>
            </a:r>
            <a:r>
              <a:rPr lang="fr-FR" sz="1100" spc="20" dirty="0">
                <a:highlight>
                  <a:srgbClr val="00FF00"/>
                </a:highlight>
                <a:latin typeface="Century Gothic"/>
                <a:cs typeface="Century Gothic"/>
              </a:rPr>
              <a:t> </a:t>
            </a:r>
            <a:r>
              <a:rPr lang="fr-FR" sz="1100" dirty="0">
                <a:highlight>
                  <a:srgbClr val="00FF00"/>
                </a:highlight>
                <a:latin typeface="Century Gothic"/>
                <a:cs typeface="Century Gothic"/>
              </a:rPr>
              <a:t>et</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maîtrise</a:t>
            </a:r>
            <a:r>
              <a:rPr lang="fr-FR" sz="1100" spc="20" dirty="0">
                <a:highlight>
                  <a:srgbClr val="00FF00"/>
                </a:highlight>
                <a:latin typeface="Century Gothic"/>
                <a:cs typeface="Century Gothic"/>
              </a:rPr>
              <a:t> </a:t>
            </a:r>
            <a:r>
              <a:rPr lang="fr-FR" sz="1100" dirty="0">
                <a:highlight>
                  <a:srgbClr val="00FF00"/>
                </a:highlight>
                <a:latin typeface="Century Gothic"/>
                <a:cs typeface="Century Gothic"/>
              </a:rPr>
              <a:t>des</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coûts</a:t>
            </a:r>
            <a:r>
              <a:rPr lang="fr-FR" sz="1100" spc="20" dirty="0">
                <a:highlight>
                  <a:srgbClr val="00FF00"/>
                </a:highlight>
                <a:latin typeface="Century Gothic"/>
                <a:cs typeface="Century Gothic"/>
              </a:rPr>
              <a:t> </a:t>
            </a:r>
            <a:r>
              <a:rPr lang="fr-FR" sz="1100" dirty="0">
                <a:highlight>
                  <a:srgbClr val="00FF00"/>
                </a:highlight>
                <a:latin typeface="Century Gothic"/>
                <a:cs typeface="Century Gothic"/>
              </a:rPr>
              <a:t>au</a:t>
            </a:r>
            <a:r>
              <a:rPr lang="fr-FR" sz="1100" spc="20" dirty="0">
                <a:highlight>
                  <a:srgbClr val="00FF00"/>
                </a:highlight>
                <a:latin typeface="Century Gothic"/>
                <a:cs typeface="Century Gothic"/>
              </a:rPr>
              <a:t> </a:t>
            </a:r>
            <a:r>
              <a:rPr lang="fr-FR" sz="1100" dirty="0">
                <a:highlight>
                  <a:srgbClr val="00FF00"/>
                </a:highlight>
                <a:latin typeface="Century Gothic"/>
                <a:cs typeface="Century Gothic"/>
              </a:rPr>
              <a:t>profit</a:t>
            </a:r>
            <a:r>
              <a:rPr lang="fr-FR" sz="1100" spc="25" dirty="0">
                <a:highlight>
                  <a:srgbClr val="00FF00"/>
                </a:highlight>
                <a:latin typeface="Century Gothic"/>
                <a:cs typeface="Century Gothic"/>
              </a:rPr>
              <a:t> </a:t>
            </a:r>
            <a:r>
              <a:rPr lang="fr-FR" sz="1100" spc="-25" dirty="0">
                <a:highlight>
                  <a:srgbClr val="00FF00"/>
                </a:highlight>
                <a:latin typeface="Century Gothic"/>
                <a:cs typeface="Century Gothic"/>
              </a:rPr>
              <a:t>du </a:t>
            </a:r>
            <a:r>
              <a:rPr lang="fr-FR" sz="1100" dirty="0">
                <a:highlight>
                  <a:srgbClr val="00FF00"/>
                </a:highlight>
                <a:latin typeface="Century Gothic"/>
                <a:cs typeface="Century Gothic"/>
              </a:rPr>
              <a:t>confort</a:t>
            </a:r>
            <a:r>
              <a:rPr lang="fr-FR" sz="1100" spc="-20" dirty="0">
                <a:highlight>
                  <a:srgbClr val="00FF00"/>
                </a:highlight>
                <a:latin typeface="Century Gothic"/>
                <a:cs typeface="Century Gothic"/>
              </a:rPr>
              <a:t> </a:t>
            </a:r>
            <a:r>
              <a:rPr lang="fr-FR" sz="1100" dirty="0">
                <a:highlight>
                  <a:srgbClr val="00FF00"/>
                </a:highlight>
                <a:latin typeface="Century Gothic"/>
                <a:cs typeface="Century Gothic"/>
              </a:rPr>
              <a:t>pour</a:t>
            </a:r>
            <a:r>
              <a:rPr lang="fr-FR" sz="1100" spc="-15" dirty="0">
                <a:highlight>
                  <a:srgbClr val="00FF00"/>
                </a:highlight>
                <a:latin typeface="Century Gothic"/>
                <a:cs typeface="Century Gothic"/>
              </a:rPr>
              <a:t> </a:t>
            </a:r>
            <a:r>
              <a:rPr lang="fr-FR" sz="1100" dirty="0">
                <a:highlight>
                  <a:srgbClr val="00FF00"/>
                </a:highlight>
                <a:latin typeface="Century Gothic"/>
                <a:cs typeface="Century Gothic"/>
              </a:rPr>
              <a:t>le</a:t>
            </a:r>
            <a:r>
              <a:rPr lang="fr-FR" sz="1100" spc="-15" dirty="0">
                <a:highlight>
                  <a:srgbClr val="00FF00"/>
                </a:highlight>
                <a:latin typeface="Century Gothic"/>
                <a:cs typeface="Century Gothic"/>
              </a:rPr>
              <a:t> </a:t>
            </a:r>
            <a:r>
              <a:rPr lang="fr-FR" sz="1100" dirty="0">
                <a:highlight>
                  <a:srgbClr val="00FF00"/>
                </a:highlight>
                <a:latin typeface="Century Gothic"/>
                <a:cs typeface="Century Gothic"/>
              </a:rPr>
              <a:t>plus</a:t>
            </a:r>
            <a:r>
              <a:rPr lang="fr-FR" sz="1100" spc="-20" dirty="0">
                <a:highlight>
                  <a:srgbClr val="00FF00"/>
                </a:highlight>
                <a:latin typeface="Century Gothic"/>
                <a:cs typeface="Century Gothic"/>
              </a:rPr>
              <a:t> </a:t>
            </a:r>
            <a:r>
              <a:rPr lang="fr-FR" sz="1100" dirty="0">
                <a:highlight>
                  <a:srgbClr val="00FF00"/>
                </a:highlight>
                <a:latin typeface="Century Gothic"/>
                <a:cs typeface="Century Gothic"/>
              </a:rPr>
              <a:t>grand</a:t>
            </a:r>
            <a:r>
              <a:rPr lang="fr-FR" sz="1100" spc="-15" dirty="0">
                <a:highlight>
                  <a:srgbClr val="00FF00"/>
                </a:highlight>
                <a:latin typeface="Century Gothic"/>
                <a:cs typeface="Century Gothic"/>
              </a:rPr>
              <a:t> </a:t>
            </a:r>
            <a:r>
              <a:rPr lang="fr-FR" sz="1100" spc="-10" dirty="0">
                <a:highlight>
                  <a:srgbClr val="00FF00"/>
                </a:highlight>
                <a:latin typeface="Century Gothic"/>
                <a:cs typeface="Century Gothic"/>
              </a:rPr>
              <a:t>nombre.</a:t>
            </a:r>
          </a:p>
          <a:p>
            <a:pPr marL="12700" marR="5080" indent="-635" algn="just">
              <a:lnSpc>
                <a:spcPct val="100000"/>
              </a:lnSpc>
              <a:spcBef>
                <a:spcPts val="1320"/>
              </a:spcBef>
            </a:pPr>
            <a:r>
              <a:rPr lang="fr-FR" sz="1100" dirty="0">
                <a:highlight>
                  <a:srgbClr val="00FF00"/>
                </a:highlight>
                <a:latin typeface="Century Gothic"/>
                <a:cs typeface="Century Gothic"/>
              </a:rPr>
              <a:t>A&amp;B</a:t>
            </a:r>
            <a:r>
              <a:rPr lang="fr-FR" sz="1100" spc="-25" dirty="0">
                <a:highlight>
                  <a:srgbClr val="00FF00"/>
                </a:highlight>
                <a:latin typeface="Century Gothic"/>
                <a:cs typeface="Century Gothic"/>
              </a:rPr>
              <a:t> </a:t>
            </a:r>
            <a:r>
              <a:rPr lang="fr-FR" sz="1100" spc="-10" dirty="0">
                <a:highlight>
                  <a:srgbClr val="00FF00"/>
                </a:highlight>
                <a:latin typeface="Century Gothic"/>
                <a:cs typeface="Century Gothic"/>
              </a:rPr>
              <a:t>Architectes</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s’attachera</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à</a:t>
            </a:r>
            <a:r>
              <a:rPr lang="fr-FR" sz="1100" spc="-25" dirty="0">
                <a:highlight>
                  <a:srgbClr val="00FF00"/>
                </a:highlight>
                <a:latin typeface="Century Gothic"/>
                <a:cs typeface="Century Gothic"/>
              </a:rPr>
              <a:t> </a:t>
            </a:r>
            <a:r>
              <a:rPr lang="fr-FR" sz="1100" spc="-10" dirty="0">
                <a:highlight>
                  <a:srgbClr val="00FF00"/>
                </a:highlight>
                <a:latin typeface="Century Gothic"/>
                <a:cs typeface="Century Gothic"/>
              </a:rPr>
              <a:t>définir</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et</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faire</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partager</a:t>
            </a:r>
            <a:r>
              <a:rPr lang="fr-FR" sz="1100" spc="-25" dirty="0">
                <a:highlight>
                  <a:srgbClr val="00FF00"/>
                </a:highlight>
                <a:latin typeface="Century Gothic"/>
                <a:cs typeface="Century Gothic"/>
              </a:rPr>
              <a:t> </a:t>
            </a:r>
            <a:r>
              <a:rPr lang="fr-FR" sz="1100" dirty="0">
                <a:highlight>
                  <a:srgbClr val="00FF00"/>
                </a:highlight>
                <a:latin typeface="Century Gothic"/>
                <a:cs typeface="Century Gothic"/>
              </a:rPr>
              <a:t>la</a:t>
            </a:r>
            <a:r>
              <a:rPr lang="fr-FR" sz="1100" spc="-25" dirty="0">
                <a:highlight>
                  <a:srgbClr val="00FF00"/>
                </a:highlight>
                <a:latin typeface="Century Gothic"/>
                <a:cs typeface="Century Gothic"/>
              </a:rPr>
              <a:t> </a:t>
            </a:r>
            <a:r>
              <a:rPr lang="fr-FR" sz="1100" spc="-10" dirty="0">
                <a:highlight>
                  <a:srgbClr val="00FF00"/>
                </a:highlight>
                <a:latin typeface="Century Gothic"/>
                <a:cs typeface="Century Gothic"/>
              </a:rPr>
              <a:t>philosophie </a:t>
            </a:r>
            <a:r>
              <a:rPr lang="fr-FR" sz="1100" dirty="0">
                <a:highlight>
                  <a:srgbClr val="00FF00"/>
                </a:highlight>
                <a:latin typeface="Century Gothic"/>
                <a:cs typeface="Century Gothic"/>
              </a:rPr>
              <a:t>globale</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du</a:t>
            </a:r>
            <a:r>
              <a:rPr lang="fr-FR" sz="1100" spc="120" dirty="0">
                <a:highlight>
                  <a:srgbClr val="00FF00"/>
                </a:highlight>
                <a:latin typeface="Century Gothic"/>
                <a:cs typeface="Century Gothic"/>
              </a:rPr>
              <a:t>  </a:t>
            </a:r>
            <a:r>
              <a:rPr lang="fr-FR" sz="1100" dirty="0">
                <a:highlight>
                  <a:srgbClr val="00FF00"/>
                </a:highlight>
                <a:latin typeface="Century Gothic"/>
                <a:cs typeface="Century Gothic"/>
              </a:rPr>
              <a:t>projet</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architectural</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où</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il</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apparait</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dès</a:t>
            </a:r>
            <a:r>
              <a:rPr lang="fr-FR" sz="1100" spc="114" dirty="0">
                <a:highlight>
                  <a:srgbClr val="00FF00"/>
                </a:highlight>
                <a:latin typeface="Century Gothic"/>
                <a:cs typeface="Century Gothic"/>
              </a:rPr>
              <a:t>  </a:t>
            </a:r>
            <a:r>
              <a:rPr lang="fr-FR" sz="1100" dirty="0">
                <a:highlight>
                  <a:srgbClr val="00FF00"/>
                </a:highlight>
                <a:latin typeface="Century Gothic"/>
                <a:cs typeface="Century Gothic"/>
              </a:rPr>
              <a:t>à</a:t>
            </a:r>
            <a:r>
              <a:rPr lang="fr-FR" sz="1100" spc="120" dirty="0">
                <a:highlight>
                  <a:srgbClr val="00FF00"/>
                </a:highlight>
                <a:latin typeface="Century Gothic"/>
                <a:cs typeface="Century Gothic"/>
              </a:rPr>
              <a:t>  </a:t>
            </a:r>
            <a:r>
              <a:rPr lang="fr-FR" sz="1100" spc="-10" dirty="0">
                <a:highlight>
                  <a:srgbClr val="00FF00"/>
                </a:highlight>
                <a:latin typeface="Century Gothic"/>
                <a:cs typeface="Century Gothic"/>
              </a:rPr>
              <a:t>présent </a:t>
            </a:r>
            <a:r>
              <a:rPr lang="fr-FR" sz="1100" dirty="0">
                <a:highlight>
                  <a:srgbClr val="00FF00"/>
                </a:highlight>
                <a:latin typeface="Century Gothic"/>
                <a:cs typeface="Century Gothic"/>
              </a:rPr>
              <a:t>important</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d’inscrire</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la</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réhabilitation</a:t>
            </a:r>
            <a:r>
              <a:rPr lang="fr-FR" sz="1100" spc="165" dirty="0">
                <a:highlight>
                  <a:srgbClr val="00FF00"/>
                </a:highlight>
                <a:latin typeface="Century Gothic"/>
                <a:cs typeface="Century Gothic"/>
              </a:rPr>
              <a:t> </a:t>
            </a:r>
            <a:r>
              <a:rPr lang="fr-FR" sz="1100" dirty="0">
                <a:highlight>
                  <a:srgbClr val="00FF00"/>
                </a:highlight>
                <a:latin typeface="Century Gothic"/>
                <a:cs typeface="Century Gothic"/>
              </a:rPr>
              <a:t>de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la</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résidence</a:t>
            </a:r>
            <a:r>
              <a:rPr lang="fr-FR" sz="1100" spc="-10" dirty="0">
                <a:highlight>
                  <a:srgbClr val="00FF00"/>
                </a:highlight>
                <a:latin typeface="Century Gothic"/>
                <a:cs typeface="Century Gothic"/>
              </a:rPr>
              <a:t>, </a:t>
            </a:r>
            <a:r>
              <a:rPr lang="fr-FR" sz="1100" dirty="0">
                <a:highlight>
                  <a:srgbClr val="00FF00"/>
                </a:highlight>
                <a:latin typeface="Century Gothic"/>
                <a:cs typeface="Century Gothic"/>
              </a:rPr>
              <a:t>dans</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une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dynamique</a:t>
            </a:r>
            <a:r>
              <a:rPr lang="fr-FR" sz="1100" spc="160" dirty="0">
                <a:highlight>
                  <a:srgbClr val="00FF00"/>
                </a:highlight>
                <a:latin typeface="Century Gothic"/>
                <a:cs typeface="Century Gothic"/>
              </a:rPr>
              <a:t> </a:t>
            </a:r>
            <a:r>
              <a:rPr lang="fr-FR" sz="1100" dirty="0">
                <a:highlight>
                  <a:srgbClr val="00FF00"/>
                </a:highlight>
                <a:latin typeface="Century Gothic"/>
                <a:cs typeface="Century Gothic"/>
              </a:rPr>
              <a:t>élégante</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et</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d’envergure. A</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savoir</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celle</a:t>
            </a:r>
            <a:r>
              <a:rPr lang="fr-FR" sz="1100" spc="160" dirty="0">
                <a:highlight>
                  <a:srgbClr val="00FF00"/>
                </a:highlight>
                <a:latin typeface="Century Gothic"/>
                <a:cs typeface="Century Gothic"/>
              </a:rPr>
              <a:t> </a:t>
            </a:r>
            <a:r>
              <a:rPr lang="fr-FR" sz="1100" spc="-25" dirty="0">
                <a:highlight>
                  <a:srgbClr val="00FF00"/>
                </a:highlight>
                <a:latin typeface="Century Gothic"/>
                <a:cs typeface="Century Gothic"/>
              </a:rPr>
              <a:t>des </a:t>
            </a:r>
            <a:r>
              <a:rPr lang="fr-FR" sz="1100" dirty="0">
                <a:highlight>
                  <a:srgbClr val="00FF00"/>
                </a:highlight>
                <a:latin typeface="Century Gothic"/>
                <a:cs typeface="Century Gothic"/>
              </a:rPr>
              <a:t>caractéristiques</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et</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ambitions</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d’un</a:t>
            </a:r>
            <a:r>
              <a:rPr lang="fr-FR" sz="1100" spc="155" dirty="0">
                <a:highlight>
                  <a:srgbClr val="00FF00"/>
                </a:highlight>
                <a:latin typeface="Century Gothic"/>
                <a:cs typeface="Century Gothic"/>
              </a:rPr>
              <a:t> </a:t>
            </a:r>
            <a:r>
              <a:rPr lang="fr-FR" sz="1100" dirty="0">
                <a:highlight>
                  <a:srgbClr val="00FF00"/>
                </a:highlight>
                <a:latin typeface="Century Gothic"/>
                <a:cs typeface="Century Gothic"/>
              </a:rPr>
              <a:t>habitat.</a:t>
            </a:r>
            <a:endParaRPr sz="1100" dirty="0">
              <a:latin typeface="Century Gothic"/>
              <a:cs typeface="Century Gothic"/>
            </a:endParaRPr>
          </a:p>
        </p:txBody>
      </p:sp>
      <p:grpSp>
        <p:nvGrpSpPr>
          <p:cNvPr id="8" name="object 15">
            <a:extLst>
              <a:ext uri="{FF2B5EF4-FFF2-40B4-BE49-F238E27FC236}">
                <a16:creationId xmlns:a16="http://schemas.microsoft.com/office/drawing/2014/main" id="{A34973A0-1F72-F9B1-2235-7C39FACA42B1}"/>
              </a:ext>
            </a:extLst>
          </p:cNvPr>
          <p:cNvGrpSpPr/>
          <p:nvPr/>
        </p:nvGrpSpPr>
        <p:grpSpPr>
          <a:xfrm>
            <a:off x="5333300" y="826277"/>
            <a:ext cx="25400" cy="5882640"/>
            <a:chOff x="5333300" y="826277"/>
            <a:chExt cx="25400" cy="5882640"/>
          </a:xfrm>
        </p:grpSpPr>
        <p:sp>
          <p:nvSpPr>
            <p:cNvPr id="9" name="object 16">
              <a:extLst>
                <a:ext uri="{FF2B5EF4-FFF2-40B4-BE49-F238E27FC236}">
                  <a16:creationId xmlns:a16="http://schemas.microsoft.com/office/drawing/2014/main" id="{2964704D-0441-6273-3212-EECF2C4C41E0}"/>
                </a:ext>
              </a:extLst>
            </p:cNvPr>
            <p:cNvSpPr/>
            <p:nvPr/>
          </p:nvSpPr>
          <p:spPr>
            <a:xfrm>
              <a:off x="5346000" y="826277"/>
              <a:ext cx="0" cy="5831840"/>
            </a:xfrm>
            <a:custGeom>
              <a:avLst/>
              <a:gdLst/>
              <a:ahLst/>
              <a:cxnLst/>
              <a:rect l="l" t="t" r="r" b="b"/>
              <a:pathLst>
                <a:path h="5831840">
                  <a:moveTo>
                    <a:pt x="0" y="0"/>
                  </a:moveTo>
                  <a:lnTo>
                    <a:pt x="0" y="5831624"/>
                  </a:lnTo>
                </a:path>
              </a:pathLst>
            </a:custGeom>
            <a:ln w="25400">
              <a:solidFill>
                <a:srgbClr val="2A3E67"/>
              </a:solidFill>
              <a:prstDash val="dot"/>
            </a:ln>
          </p:spPr>
          <p:txBody>
            <a:bodyPr wrap="square" lIns="0" tIns="0" rIns="0" bIns="0" rtlCol="0"/>
            <a:lstStyle/>
            <a:p>
              <a:endParaRPr/>
            </a:p>
          </p:txBody>
        </p:sp>
        <p:sp>
          <p:nvSpPr>
            <p:cNvPr id="10" name="object 17">
              <a:extLst>
                <a:ext uri="{FF2B5EF4-FFF2-40B4-BE49-F238E27FC236}">
                  <a16:creationId xmlns:a16="http://schemas.microsoft.com/office/drawing/2014/main" id="{35C61BA5-2506-3669-9EF8-3F9DFE5571A8}"/>
                </a:ext>
              </a:extLst>
            </p:cNvPr>
            <p:cNvSpPr/>
            <p:nvPr/>
          </p:nvSpPr>
          <p:spPr>
            <a:xfrm>
              <a:off x="5333300" y="6683307"/>
              <a:ext cx="25400" cy="25400"/>
            </a:xfrm>
            <a:custGeom>
              <a:avLst/>
              <a:gdLst/>
              <a:ahLst/>
              <a:cxnLst/>
              <a:rect l="l" t="t" r="r" b="b"/>
              <a:pathLst>
                <a:path w="25400" h="25400">
                  <a:moveTo>
                    <a:pt x="0" y="12700"/>
                  </a:moveTo>
                  <a:lnTo>
                    <a:pt x="3719" y="3719"/>
                  </a:lnTo>
                  <a:lnTo>
                    <a:pt x="12700" y="0"/>
                  </a:lnTo>
                  <a:lnTo>
                    <a:pt x="21680" y="3719"/>
                  </a:lnTo>
                  <a:lnTo>
                    <a:pt x="25400" y="12700"/>
                  </a:lnTo>
                  <a:lnTo>
                    <a:pt x="21680" y="21680"/>
                  </a:lnTo>
                  <a:lnTo>
                    <a:pt x="12700" y="25400"/>
                  </a:lnTo>
                  <a:lnTo>
                    <a:pt x="3719" y="21680"/>
                  </a:lnTo>
                  <a:lnTo>
                    <a:pt x="0" y="12700"/>
                  </a:lnTo>
                  <a:close/>
                </a:path>
              </a:pathLst>
            </a:custGeom>
            <a:solidFill>
              <a:srgbClr val="2A3E67"/>
            </a:solidFill>
          </p:spPr>
          <p:txBody>
            <a:bodyPr wrap="square" lIns="0" tIns="0" rIns="0" bIns="0" rtlCol="0"/>
            <a:lstStyle/>
            <a:p>
              <a:endParaRPr/>
            </a:p>
          </p:txBody>
        </p:sp>
      </p:grpSp>
      <p:sp>
        <p:nvSpPr>
          <p:cNvPr id="11" name="object 3">
            <a:extLst>
              <a:ext uri="{FF2B5EF4-FFF2-40B4-BE49-F238E27FC236}">
                <a16:creationId xmlns:a16="http://schemas.microsoft.com/office/drawing/2014/main" id="{64D66D2D-91B0-21E6-30A1-63658F5D65D5}"/>
              </a:ext>
            </a:extLst>
          </p:cNvPr>
          <p:cNvSpPr txBox="1"/>
          <p:nvPr/>
        </p:nvSpPr>
        <p:spPr>
          <a:xfrm>
            <a:off x="491299" y="812541"/>
            <a:ext cx="4647565" cy="8333050"/>
          </a:xfrm>
          <a:prstGeom prst="rect">
            <a:avLst/>
          </a:prstGeom>
        </p:spPr>
        <p:txBody>
          <a:bodyPr vert="horz" wrap="square" lIns="0" tIns="12700" rIns="0" bIns="0" rtlCol="0">
            <a:spAutoFit/>
          </a:bodyPr>
          <a:lstStyle/>
          <a:p>
            <a:pPr marL="12700">
              <a:lnSpc>
                <a:spcPct val="100000"/>
              </a:lnSpc>
              <a:spcBef>
                <a:spcPts val="5"/>
              </a:spcBef>
            </a:pPr>
            <a:r>
              <a:rPr lang="fr-FR" sz="1400" b="1" dirty="0">
                <a:solidFill>
                  <a:srgbClr val="C50A4C"/>
                </a:solidFill>
                <a:latin typeface="Century Gothic"/>
                <a:cs typeface="Century Gothic"/>
              </a:rPr>
              <a:t>3</a:t>
            </a:r>
            <a:r>
              <a:rPr sz="1400" b="1" dirty="0">
                <a:solidFill>
                  <a:srgbClr val="C50A4C"/>
                </a:solidFill>
                <a:latin typeface="Century Gothic"/>
                <a:cs typeface="Century Gothic"/>
              </a:rPr>
              <a:t>.</a:t>
            </a:r>
            <a:r>
              <a:rPr sz="1400" b="1" spc="-10" dirty="0">
                <a:solidFill>
                  <a:srgbClr val="C50A4C"/>
                </a:solidFill>
                <a:latin typeface="Century Gothic"/>
                <a:cs typeface="Century Gothic"/>
              </a:rPr>
              <a:t> </a:t>
            </a:r>
            <a:r>
              <a:rPr lang="fr-FR" sz="1400" b="1" dirty="0">
                <a:solidFill>
                  <a:srgbClr val="C50A4C"/>
                </a:solidFill>
                <a:latin typeface="Century Gothic"/>
                <a:cs typeface="Century Gothic"/>
              </a:rPr>
              <a:t>LES ENJEUX DE L’OPERATION (suite)</a:t>
            </a:r>
            <a:endParaRPr sz="1400" dirty="0">
              <a:latin typeface="Century Gothic"/>
              <a:cs typeface="Century Gothic"/>
            </a:endParaRPr>
          </a:p>
          <a:p>
            <a:pPr marL="12700" algn="just">
              <a:lnSpc>
                <a:spcPct val="100000"/>
              </a:lnSpc>
              <a:spcBef>
                <a:spcPts val="1255"/>
              </a:spcBef>
            </a:pPr>
            <a:r>
              <a:rPr lang="fr-FR" sz="1100" dirty="0">
                <a:solidFill>
                  <a:srgbClr val="2A3E67"/>
                </a:solidFill>
                <a:latin typeface="Century Gothic"/>
                <a:cs typeface="Century Gothic"/>
              </a:rPr>
              <a:t>B – ENVELOPPE FINANCIERE ET METHODOLOGIE DE CHIFFRAGE</a:t>
            </a:r>
            <a:endParaRPr lang="fr-FR" sz="1100" dirty="0">
              <a:latin typeface="Century Gothic"/>
              <a:cs typeface="Century Gothic"/>
            </a:endParaRPr>
          </a:p>
          <a:p>
            <a:pPr marL="12700" marR="5080" indent="-635" algn="just">
              <a:spcBef>
                <a:spcPts val="1320"/>
              </a:spcBef>
            </a:pPr>
            <a:r>
              <a:rPr lang="fr-FR" sz="1100" dirty="0">
                <a:latin typeface="Century Gothic"/>
              </a:rPr>
              <a:t>Les ratios proposés pour la réhabilitation et la surélévation nous semblent en cohérence avec le programme.</a:t>
            </a:r>
          </a:p>
          <a:p>
            <a:pPr marL="12700" marR="5080" indent="-635" algn="just">
              <a:spcBef>
                <a:spcPts val="1320"/>
              </a:spcBef>
            </a:pPr>
            <a:r>
              <a:rPr lang="fr-FR" sz="1100" dirty="0">
                <a:latin typeface="Century Gothic"/>
              </a:rPr>
              <a:t>Le cabinet IPC s'appuiera sur sa base de données interne enrichie et mise à jour au fil des appels d'offres. Le chiffrage s'appuie sur un métré précis qui évolue en fonction de l'avancement du projet et des demandes de la maîtrise d'ouvrage. Les prix unitaires appliqués sont extraits de notre base de données et revalorisés selon la date de valeur en cours. </a:t>
            </a:r>
            <a:r>
              <a:rPr lang="fr-FR" sz="1100" dirty="0">
                <a:solidFill>
                  <a:srgbClr val="FF0000"/>
                </a:solidFill>
                <a:latin typeface="Century Gothic"/>
              </a:rPr>
              <a:t>La méthodologie de chiffrage est établie selon des actions de travaux qui peuvent concerner un ou plusieurs lots techniques. Les actions sont regroupées selon les thématiques suivantes : enveloppe du bâtiment, parties communes, équipements communs, logements, espaces extérieurs. Les thématiques peuvent être également liées au mode de financement de l'opération : amélioration des performances thermiques, accessibilité handicapés, qualité de service, résidentialisation …</a:t>
            </a:r>
          </a:p>
          <a:p>
            <a:pPr marL="12700" marR="5080" indent="-635" algn="just">
              <a:spcBef>
                <a:spcPts val="1320"/>
              </a:spcBef>
            </a:pPr>
            <a:r>
              <a:rPr lang="fr-FR" sz="1100" dirty="0">
                <a:solidFill>
                  <a:srgbClr val="FF0000"/>
                </a:solidFill>
                <a:latin typeface="Century Gothic"/>
              </a:rPr>
              <a:t>Un tableau de synthèse de ces actions (dès le DIAG jusqu’au DCE) permet au maître d’ouvrage d’établir différents scénarii et de les décliner en projet de base, en tranche conditionnelle ou en option en fonction de l'avancement du projet et du budget. Ces scénarii peuvent aussi permettre de définir les degrés de priorité des actions. </a:t>
            </a:r>
          </a:p>
          <a:p>
            <a:pPr marL="12700" marR="5080" indent="-635" algn="just">
              <a:spcBef>
                <a:spcPts val="1320"/>
              </a:spcBef>
            </a:pPr>
            <a:r>
              <a:rPr lang="fr-FR" sz="1100" dirty="0">
                <a:latin typeface="Century Gothic"/>
              </a:rPr>
              <a:t>Nous nous engageons à mettre tout en œuvre pour le respecter le budget du maître d’ouvrage en proposant des solutions adaptées à ses besoins et en l’accompagnant dans les choix techniques à réaliser et notamment en fonction des résultats du diagnostic. </a:t>
            </a:r>
          </a:p>
          <a:p>
            <a:pPr marL="12700" algn="just">
              <a:lnSpc>
                <a:spcPct val="100000"/>
              </a:lnSpc>
              <a:spcBef>
                <a:spcPts val="1255"/>
              </a:spcBef>
            </a:pPr>
            <a:r>
              <a:rPr lang="fr-FR" sz="1100" dirty="0">
                <a:solidFill>
                  <a:srgbClr val="2A3E67"/>
                </a:solidFill>
                <a:latin typeface="Century Gothic"/>
                <a:cs typeface="Century Gothic"/>
              </a:rPr>
              <a:t>C – SURELEVATION EN STRUCTURE BOIS</a:t>
            </a:r>
            <a:endParaRPr lang="fr-FR" sz="1100" dirty="0">
              <a:latin typeface="Century Gothic"/>
              <a:cs typeface="Century Gothic"/>
            </a:endParaRPr>
          </a:p>
          <a:p>
            <a:pPr marL="12700" marR="5080" indent="-635" algn="just">
              <a:lnSpc>
                <a:spcPct val="100000"/>
              </a:lnSpc>
              <a:spcBef>
                <a:spcPts val="1320"/>
              </a:spcBef>
            </a:pPr>
            <a:r>
              <a:rPr lang="fr-FR" sz="1100" dirty="0">
                <a:highlight>
                  <a:srgbClr val="FF00FF"/>
                </a:highlight>
                <a:latin typeface="Century Gothic"/>
                <a:cs typeface="Century Gothic"/>
              </a:rPr>
              <a:t>A&amp;B</a:t>
            </a:r>
            <a:r>
              <a:rPr lang="fr-FR" sz="1100" spc="-25" dirty="0">
                <a:highlight>
                  <a:srgbClr val="FF00FF"/>
                </a:highlight>
                <a:latin typeface="Century Gothic"/>
                <a:cs typeface="Century Gothic"/>
              </a:rPr>
              <a:t> </a:t>
            </a:r>
            <a:r>
              <a:rPr lang="fr-FR" sz="1100" spc="-10" dirty="0">
                <a:highlight>
                  <a:srgbClr val="FF00FF"/>
                </a:highlight>
                <a:latin typeface="Century Gothic"/>
                <a:cs typeface="Century Gothic"/>
              </a:rPr>
              <a:t>Architectes</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s’attachera</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à</a:t>
            </a:r>
            <a:r>
              <a:rPr lang="fr-FR" sz="1100" spc="-25" dirty="0">
                <a:highlight>
                  <a:srgbClr val="FF00FF"/>
                </a:highlight>
                <a:latin typeface="Century Gothic"/>
                <a:cs typeface="Century Gothic"/>
              </a:rPr>
              <a:t> </a:t>
            </a:r>
            <a:r>
              <a:rPr lang="fr-FR" sz="1100" spc="-10" dirty="0">
                <a:highlight>
                  <a:srgbClr val="FF00FF"/>
                </a:highlight>
                <a:latin typeface="Century Gothic"/>
                <a:cs typeface="Century Gothic"/>
              </a:rPr>
              <a:t>définir</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et</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faire</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partager</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la</a:t>
            </a:r>
            <a:r>
              <a:rPr lang="fr-FR" sz="1100" spc="-25" dirty="0">
                <a:highlight>
                  <a:srgbClr val="FF00FF"/>
                </a:highlight>
                <a:latin typeface="Century Gothic"/>
                <a:cs typeface="Century Gothic"/>
              </a:rPr>
              <a:t> </a:t>
            </a:r>
            <a:r>
              <a:rPr lang="fr-FR" sz="1100" spc="-10" dirty="0">
                <a:highlight>
                  <a:srgbClr val="FF00FF"/>
                </a:highlight>
                <a:latin typeface="Century Gothic"/>
                <a:cs typeface="Century Gothic"/>
              </a:rPr>
              <a:t>philosophie </a:t>
            </a:r>
            <a:r>
              <a:rPr lang="fr-FR" sz="1100" dirty="0">
                <a:highlight>
                  <a:srgbClr val="FF00FF"/>
                </a:highlight>
                <a:latin typeface="Century Gothic"/>
                <a:cs typeface="Century Gothic"/>
              </a:rPr>
              <a:t>globale</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du</a:t>
            </a:r>
            <a:r>
              <a:rPr lang="fr-FR" sz="1100" spc="120" dirty="0">
                <a:highlight>
                  <a:srgbClr val="FF00FF"/>
                </a:highlight>
                <a:latin typeface="Century Gothic"/>
                <a:cs typeface="Century Gothic"/>
              </a:rPr>
              <a:t>  </a:t>
            </a:r>
            <a:r>
              <a:rPr lang="fr-FR" sz="1100" dirty="0">
                <a:highlight>
                  <a:srgbClr val="FF00FF"/>
                </a:highlight>
                <a:latin typeface="Century Gothic"/>
                <a:cs typeface="Century Gothic"/>
              </a:rPr>
              <a:t>projet</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architectural</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où</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il</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apparait</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dès</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à</a:t>
            </a:r>
            <a:r>
              <a:rPr lang="fr-FR" sz="1100" spc="120" dirty="0">
                <a:highlight>
                  <a:srgbClr val="FF00FF"/>
                </a:highlight>
                <a:latin typeface="Century Gothic"/>
                <a:cs typeface="Century Gothic"/>
              </a:rPr>
              <a:t>  </a:t>
            </a:r>
            <a:r>
              <a:rPr lang="fr-FR" sz="1100" spc="-10" dirty="0">
                <a:highlight>
                  <a:srgbClr val="FF00FF"/>
                </a:highlight>
                <a:latin typeface="Century Gothic"/>
                <a:cs typeface="Century Gothic"/>
              </a:rPr>
              <a:t>présent </a:t>
            </a:r>
            <a:r>
              <a:rPr lang="fr-FR" sz="1100" dirty="0">
                <a:highlight>
                  <a:srgbClr val="FF00FF"/>
                </a:highlight>
                <a:latin typeface="Century Gothic"/>
                <a:cs typeface="Century Gothic"/>
              </a:rPr>
              <a:t>important</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d’inscrire</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la</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réhabilitation</a:t>
            </a:r>
            <a:r>
              <a:rPr lang="fr-FR" sz="1100" spc="165" dirty="0">
                <a:highlight>
                  <a:srgbClr val="FF00FF"/>
                </a:highlight>
                <a:latin typeface="Century Gothic"/>
                <a:cs typeface="Century Gothic"/>
              </a:rPr>
              <a:t> </a:t>
            </a:r>
            <a:r>
              <a:rPr lang="fr-FR" sz="1100" dirty="0">
                <a:highlight>
                  <a:srgbClr val="FF00FF"/>
                </a:highlight>
                <a:latin typeface="Century Gothic"/>
                <a:cs typeface="Century Gothic"/>
              </a:rPr>
              <a:t>de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la</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résidence</a:t>
            </a:r>
            <a:r>
              <a:rPr lang="fr-FR" sz="1100" spc="-10" dirty="0">
                <a:highlight>
                  <a:srgbClr val="FF00FF"/>
                </a:highlight>
                <a:latin typeface="Century Gothic"/>
                <a:cs typeface="Century Gothic"/>
              </a:rPr>
              <a:t>, </a:t>
            </a:r>
            <a:r>
              <a:rPr lang="fr-FR" sz="1100" dirty="0">
                <a:highlight>
                  <a:srgbClr val="FF00FF"/>
                </a:highlight>
                <a:latin typeface="Century Gothic"/>
                <a:cs typeface="Century Gothic"/>
              </a:rPr>
              <a:t>dans</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une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dynamique</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élégante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et</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d’envergure.</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A</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savoir</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celle</a:t>
            </a:r>
            <a:r>
              <a:rPr lang="fr-FR" sz="1100" spc="160" dirty="0">
                <a:highlight>
                  <a:srgbClr val="FF00FF"/>
                </a:highlight>
                <a:latin typeface="Century Gothic"/>
                <a:cs typeface="Century Gothic"/>
              </a:rPr>
              <a:t> </a:t>
            </a:r>
            <a:r>
              <a:rPr lang="fr-FR" sz="1100" spc="-25" dirty="0">
                <a:highlight>
                  <a:srgbClr val="FF00FF"/>
                </a:highlight>
                <a:latin typeface="Century Gothic"/>
                <a:cs typeface="Century Gothic"/>
              </a:rPr>
              <a:t>des </a:t>
            </a:r>
            <a:r>
              <a:rPr lang="fr-FR" sz="1100" dirty="0">
                <a:highlight>
                  <a:srgbClr val="FF00FF"/>
                </a:highlight>
                <a:latin typeface="Century Gothic"/>
                <a:cs typeface="Century Gothic"/>
              </a:rPr>
              <a:t>caractéristiques</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et</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ambitions</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d’un</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habitat,</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où</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le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souci</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du</a:t>
            </a:r>
            <a:r>
              <a:rPr lang="fr-FR" sz="1100" spc="155" dirty="0">
                <a:highlight>
                  <a:srgbClr val="FF00FF"/>
                </a:highlight>
                <a:latin typeface="Century Gothic"/>
                <a:cs typeface="Century Gothic"/>
              </a:rPr>
              <a:t> </a:t>
            </a:r>
            <a:r>
              <a:rPr lang="fr-FR" sz="1100" spc="-10" dirty="0">
                <a:highlight>
                  <a:srgbClr val="FF00FF"/>
                </a:highlight>
                <a:latin typeface="Century Gothic"/>
                <a:cs typeface="Century Gothic"/>
              </a:rPr>
              <a:t>progrès </a:t>
            </a:r>
            <a:r>
              <a:rPr lang="fr-FR" sz="1100" dirty="0">
                <a:highlight>
                  <a:srgbClr val="FF00FF"/>
                </a:highlight>
                <a:latin typeface="Century Gothic"/>
                <a:cs typeface="Century Gothic"/>
              </a:rPr>
              <a:t>social</a:t>
            </a:r>
            <a:r>
              <a:rPr lang="fr-FR" sz="1100" spc="130" dirty="0">
                <a:highlight>
                  <a:srgbClr val="FF00FF"/>
                </a:highlight>
                <a:latin typeface="Century Gothic"/>
                <a:cs typeface="Century Gothic"/>
              </a:rPr>
              <a:t> </a:t>
            </a:r>
            <a:r>
              <a:rPr lang="fr-FR" sz="1100" dirty="0">
                <a:highlight>
                  <a:srgbClr val="FF00FF"/>
                </a:highlight>
                <a:latin typeface="Century Gothic"/>
                <a:cs typeface="Century Gothic"/>
              </a:rPr>
              <a:t>va</a:t>
            </a:r>
            <a:r>
              <a:rPr lang="fr-FR" sz="1100" spc="130" dirty="0">
                <a:highlight>
                  <a:srgbClr val="FF00FF"/>
                </a:highlight>
                <a:latin typeface="Century Gothic"/>
                <a:cs typeface="Century Gothic"/>
              </a:rPr>
              <a:t> </a:t>
            </a:r>
            <a:r>
              <a:rPr lang="fr-FR" sz="1100" dirty="0">
                <a:highlight>
                  <a:srgbClr val="FF00FF"/>
                </a:highlight>
                <a:latin typeface="Century Gothic"/>
                <a:cs typeface="Century Gothic"/>
              </a:rPr>
              <a:t>de</a:t>
            </a:r>
            <a:r>
              <a:rPr lang="fr-FR" sz="1100" spc="130" dirty="0">
                <a:highlight>
                  <a:srgbClr val="FF00FF"/>
                </a:highlight>
                <a:latin typeface="Century Gothic"/>
                <a:cs typeface="Century Gothic"/>
              </a:rPr>
              <a:t> </a:t>
            </a:r>
            <a:r>
              <a:rPr lang="fr-FR" sz="1100" dirty="0">
                <a:highlight>
                  <a:srgbClr val="FF00FF"/>
                </a:highlight>
                <a:latin typeface="Century Gothic"/>
                <a:cs typeface="Century Gothic"/>
              </a:rPr>
              <a:t>pair</a:t>
            </a:r>
            <a:r>
              <a:rPr lang="fr-FR" sz="1100" spc="130" dirty="0">
                <a:highlight>
                  <a:srgbClr val="FF00FF"/>
                </a:highlight>
                <a:latin typeface="Century Gothic"/>
                <a:cs typeface="Century Gothic"/>
              </a:rPr>
              <a:t> </a:t>
            </a:r>
            <a:r>
              <a:rPr lang="fr-FR" sz="1100" dirty="0">
                <a:highlight>
                  <a:srgbClr val="FF00FF"/>
                </a:highlight>
                <a:latin typeface="Century Gothic"/>
                <a:cs typeface="Century Gothic"/>
              </a:rPr>
              <a:t>avec</a:t>
            </a:r>
            <a:r>
              <a:rPr lang="fr-FR" sz="1100" spc="130" dirty="0">
                <a:highlight>
                  <a:srgbClr val="FF00FF"/>
                </a:highlight>
                <a:latin typeface="Century Gothic"/>
                <a:cs typeface="Century Gothic"/>
              </a:rPr>
              <a:t> </a:t>
            </a:r>
            <a:r>
              <a:rPr lang="fr-FR" sz="1100" dirty="0">
                <a:highlight>
                  <a:srgbClr val="FF00FF"/>
                </a:highlight>
                <a:latin typeface="Century Gothic"/>
                <a:cs typeface="Century Gothic"/>
              </a:rPr>
              <a:t>une</a:t>
            </a:r>
            <a:r>
              <a:rPr lang="fr-FR" sz="1100" spc="130" dirty="0">
                <a:highlight>
                  <a:srgbClr val="FF00FF"/>
                </a:highlight>
                <a:latin typeface="Century Gothic"/>
                <a:cs typeface="Century Gothic"/>
              </a:rPr>
              <a:t> </a:t>
            </a:r>
            <a:r>
              <a:rPr lang="fr-FR" sz="1100" dirty="0">
                <a:highlight>
                  <a:srgbClr val="FF00FF"/>
                </a:highlight>
                <a:latin typeface="Century Gothic"/>
                <a:cs typeface="Century Gothic"/>
              </a:rPr>
              <a:t>rationalisation</a:t>
            </a:r>
            <a:r>
              <a:rPr lang="fr-FR" sz="1100" spc="130" dirty="0">
                <a:highlight>
                  <a:srgbClr val="FF00FF"/>
                </a:highlight>
                <a:latin typeface="Century Gothic"/>
                <a:cs typeface="Century Gothic"/>
              </a:rPr>
              <a:t> </a:t>
            </a:r>
            <a:r>
              <a:rPr lang="fr-FR" sz="1100" dirty="0">
                <a:highlight>
                  <a:srgbClr val="FF00FF"/>
                </a:highlight>
                <a:latin typeface="Century Gothic"/>
                <a:cs typeface="Century Gothic"/>
              </a:rPr>
              <a:t>et</a:t>
            </a:r>
            <a:r>
              <a:rPr lang="fr-FR" sz="1100" spc="130" dirty="0">
                <a:highlight>
                  <a:srgbClr val="FF00FF"/>
                </a:highlight>
                <a:latin typeface="Century Gothic"/>
                <a:cs typeface="Century Gothic"/>
              </a:rPr>
              <a:t> </a:t>
            </a:r>
            <a:r>
              <a:rPr lang="fr-FR" sz="1100" dirty="0">
                <a:highlight>
                  <a:srgbClr val="FF00FF"/>
                </a:highlight>
                <a:latin typeface="Century Gothic"/>
                <a:cs typeface="Century Gothic"/>
              </a:rPr>
              <a:t>un</a:t>
            </a:r>
            <a:r>
              <a:rPr lang="fr-FR" sz="1100" spc="130" dirty="0">
                <a:highlight>
                  <a:srgbClr val="FF00FF"/>
                </a:highlight>
                <a:latin typeface="Century Gothic"/>
                <a:cs typeface="Century Gothic"/>
              </a:rPr>
              <a:t> </a:t>
            </a:r>
            <a:r>
              <a:rPr lang="fr-FR" sz="1100" dirty="0">
                <a:highlight>
                  <a:srgbClr val="FF00FF"/>
                </a:highlight>
                <a:latin typeface="Century Gothic"/>
                <a:cs typeface="Century Gothic"/>
              </a:rPr>
              <a:t>caractère</a:t>
            </a:r>
            <a:r>
              <a:rPr lang="fr-FR" sz="1100" spc="125" dirty="0">
                <a:highlight>
                  <a:srgbClr val="FF00FF"/>
                </a:highlight>
                <a:latin typeface="Century Gothic"/>
                <a:cs typeface="Century Gothic"/>
              </a:rPr>
              <a:t> </a:t>
            </a:r>
            <a:r>
              <a:rPr lang="fr-FR" sz="1100" spc="-10" dirty="0">
                <a:highlight>
                  <a:srgbClr val="FF00FF"/>
                </a:highlight>
                <a:latin typeface="Century Gothic"/>
                <a:cs typeface="Century Gothic"/>
              </a:rPr>
              <a:t>évolutif </a:t>
            </a:r>
            <a:r>
              <a:rPr lang="fr-FR" sz="1100" dirty="0">
                <a:highlight>
                  <a:srgbClr val="FF00FF"/>
                </a:highlight>
                <a:latin typeface="Century Gothic"/>
                <a:cs typeface="Century Gothic"/>
              </a:rPr>
              <a:t>et</a:t>
            </a:r>
            <a:r>
              <a:rPr lang="fr-FR" sz="1100" spc="20" dirty="0">
                <a:highlight>
                  <a:srgbClr val="FF00FF"/>
                </a:highlight>
                <a:latin typeface="Century Gothic"/>
                <a:cs typeface="Century Gothic"/>
              </a:rPr>
              <a:t> </a:t>
            </a:r>
            <a:r>
              <a:rPr lang="fr-FR" sz="1100" dirty="0">
                <a:highlight>
                  <a:srgbClr val="FF00FF"/>
                </a:highlight>
                <a:latin typeface="Century Gothic"/>
                <a:cs typeface="Century Gothic"/>
              </a:rPr>
              <a:t>où</a:t>
            </a:r>
            <a:r>
              <a:rPr lang="fr-FR" sz="1100" spc="20" dirty="0">
                <a:highlight>
                  <a:srgbClr val="FF00FF"/>
                </a:highlight>
                <a:latin typeface="Century Gothic"/>
                <a:cs typeface="Century Gothic"/>
              </a:rPr>
              <a:t> </a:t>
            </a:r>
            <a:r>
              <a:rPr lang="fr-FR" sz="1100" dirty="0">
                <a:highlight>
                  <a:srgbClr val="FF00FF"/>
                </a:highlight>
                <a:latin typeface="Century Gothic"/>
                <a:cs typeface="Century Gothic"/>
              </a:rPr>
              <a:t>la</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modernité</a:t>
            </a:r>
            <a:r>
              <a:rPr lang="fr-FR" sz="1100" spc="20" dirty="0">
                <a:highlight>
                  <a:srgbClr val="FF00FF"/>
                </a:highlight>
                <a:latin typeface="Century Gothic"/>
                <a:cs typeface="Century Gothic"/>
              </a:rPr>
              <a:t> </a:t>
            </a:r>
            <a:r>
              <a:rPr lang="fr-FR" sz="1100" dirty="0">
                <a:highlight>
                  <a:srgbClr val="FF00FF"/>
                </a:highlight>
                <a:latin typeface="Century Gothic"/>
                <a:cs typeface="Century Gothic"/>
              </a:rPr>
              <a:t>visait</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efficacité</a:t>
            </a:r>
            <a:r>
              <a:rPr lang="fr-FR" sz="1100" spc="20" dirty="0">
                <a:highlight>
                  <a:srgbClr val="FF00FF"/>
                </a:highlight>
                <a:latin typeface="Century Gothic"/>
                <a:cs typeface="Century Gothic"/>
              </a:rPr>
              <a:t> </a:t>
            </a:r>
            <a:r>
              <a:rPr lang="fr-FR" sz="1100" dirty="0">
                <a:highlight>
                  <a:srgbClr val="FF00FF"/>
                </a:highlight>
                <a:latin typeface="Century Gothic"/>
                <a:cs typeface="Century Gothic"/>
              </a:rPr>
              <a:t>et</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maîtrise</a:t>
            </a:r>
            <a:r>
              <a:rPr lang="fr-FR" sz="1100" spc="20" dirty="0">
                <a:highlight>
                  <a:srgbClr val="FF00FF"/>
                </a:highlight>
                <a:latin typeface="Century Gothic"/>
                <a:cs typeface="Century Gothic"/>
              </a:rPr>
              <a:t> </a:t>
            </a:r>
            <a:r>
              <a:rPr lang="fr-FR" sz="1100" dirty="0">
                <a:highlight>
                  <a:srgbClr val="FF00FF"/>
                </a:highlight>
                <a:latin typeface="Century Gothic"/>
                <a:cs typeface="Century Gothic"/>
              </a:rPr>
              <a:t>des</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coûts</a:t>
            </a:r>
            <a:r>
              <a:rPr lang="fr-FR" sz="1100" spc="20" dirty="0">
                <a:highlight>
                  <a:srgbClr val="FF00FF"/>
                </a:highlight>
                <a:latin typeface="Century Gothic"/>
                <a:cs typeface="Century Gothic"/>
              </a:rPr>
              <a:t> </a:t>
            </a:r>
            <a:r>
              <a:rPr lang="fr-FR" sz="1100" dirty="0">
                <a:highlight>
                  <a:srgbClr val="FF00FF"/>
                </a:highlight>
                <a:latin typeface="Century Gothic"/>
                <a:cs typeface="Century Gothic"/>
              </a:rPr>
              <a:t>au</a:t>
            </a:r>
            <a:r>
              <a:rPr lang="fr-FR" sz="1100" spc="20" dirty="0">
                <a:highlight>
                  <a:srgbClr val="FF00FF"/>
                </a:highlight>
                <a:latin typeface="Century Gothic"/>
                <a:cs typeface="Century Gothic"/>
              </a:rPr>
              <a:t> </a:t>
            </a:r>
            <a:r>
              <a:rPr lang="fr-FR" sz="1100" dirty="0">
                <a:highlight>
                  <a:srgbClr val="FF00FF"/>
                </a:highlight>
                <a:latin typeface="Century Gothic"/>
                <a:cs typeface="Century Gothic"/>
              </a:rPr>
              <a:t>profit</a:t>
            </a:r>
            <a:r>
              <a:rPr lang="fr-FR" sz="1100" spc="25" dirty="0">
                <a:highlight>
                  <a:srgbClr val="FF00FF"/>
                </a:highlight>
                <a:latin typeface="Century Gothic"/>
                <a:cs typeface="Century Gothic"/>
              </a:rPr>
              <a:t> </a:t>
            </a:r>
            <a:r>
              <a:rPr lang="fr-FR" sz="1100" spc="-25" dirty="0">
                <a:highlight>
                  <a:srgbClr val="FF00FF"/>
                </a:highlight>
                <a:latin typeface="Century Gothic"/>
                <a:cs typeface="Century Gothic"/>
              </a:rPr>
              <a:t>du </a:t>
            </a:r>
            <a:r>
              <a:rPr lang="fr-FR" sz="1100" dirty="0">
                <a:highlight>
                  <a:srgbClr val="FF00FF"/>
                </a:highlight>
                <a:latin typeface="Century Gothic"/>
                <a:cs typeface="Century Gothic"/>
              </a:rPr>
              <a:t>confort</a:t>
            </a:r>
            <a:r>
              <a:rPr lang="fr-FR" sz="1100" spc="-20" dirty="0">
                <a:highlight>
                  <a:srgbClr val="FF00FF"/>
                </a:highlight>
                <a:latin typeface="Century Gothic"/>
                <a:cs typeface="Century Gothic"/>
              </a:rPr>
              <a:t> </a:t>
            </a:r>
            <a:r>
              <a:rPr lang="fr-FR" sz="1100" dirty="0">
                <a:highlight>
                  <a:srgbClr val="FF00FF"/>
                </a:highlight>
                <a:latin typeface="Century Gothic"/>
                <a:cs typeface="Century Gothic"/>
              </a:rPr>
              <a:t>pour</a:t>
            </a:r>
            <a:r>
              <a:rPr lang="fr-FR" sz="1100" spc="-15" dirty="0">
                <a:highlight>
                  <a:srgbClr val="FF00FF"/>
                </a:highlight>
                <a:latin typeface="Century Gothic"/>
                <a:cs typeface="Century Gothic"/>
              </a:rPr>
              <a:t> </a:t>
            </a:r>
            <a:r>
              <a:rPr lang="fr-FR" sz="1100" dirty="0">
                <a:highlight>
                  <a:srgbClr val="FF00FF"/>
                </a:highlight>
                <a:latin typeface="Century Gothic"/>
                <a:cs typeface="Century Gothic"/>
              </a:rPr>
              <a:t>le</a:t>
            </a:r>
            <a:r>
              <a:rPr lang="fr-FR" sz="1100" spc="-15" dirty="0">
                <a:highlight>
                  <a:srgbClr val="FF00FF"/>
                </a:highlight>
                <a:latin typeface="Century Gothic"/>
                <a:cs typeface="Century Gothic"/>
              </a:rPr>
              <a:t> </a:t>
            </a:r>
            <a:r>
              <a:rPr lang="fr-FR" sz="1100" dirty="0">
                <a:highlight>
                  <a:srgbClr val="FF00FF"/>
                </a:highlight>
                <a:latin typeface="Century Gothic"/>
                <a:cs typeface="Century Gothic"/>
              </a:rPr>
              <a:t>plus</a:t>
            </a:r>
            <a:r>
              <a:rPr lang="fr-FR" sz="1100" spc="-20" dirty="0">
                <a:highlight>
                  <a:srgbClr val="FF00FF"/>
                </a:highlight>
                <a:latin typeface="Century Gothic"/>
                <a:cs typeface="Century Gothic"/>
              </a:rPr>
              <a:t> </a:t>
            </a:r>
            <a:r>
              <a:rPr lang="fr-FR" sz="1100" dirty="0">
                <a:highlight>
                  <a:srgbClr val="FF00FF"/>
                </a:highlight>
                <a:latin typeface="Century Gothic"/>
                <a:cs typeface="Century Gothic"/>
              </a:rPr>
              <a:t>grand</a:t>
            </a:r>
            <a:r>
              <a:rPr lang="fr-FR" sz="1100" spc="-15" dirty="0">
                <a:highlight>
                  <a:srgbClr val="FF00FF"/>
                </a:highlight>
                <a:latin typeface="Century Gothic"/>
                <a:cs typeface="Century Gothic"/>
              </a:rPr>
              <a:t> </a:t>
            </a:r>
            <a:r>
              <a:rPr lang="fr-FR" sz="1100" spc="-10" dirty="0">
                <a:highlight>
                  <a:srgbClr val="FF00FF"/>
                </a:highlight>
                <a:latin typeface="Century Gothic"/>
                <a:cs typeface="Century Gothic"/>
              </a:rPr>
              <a:t>nombre.</a:t>
            </a:r>
          </a:p>
          <a:p>
            <a:pPr marL="12700" marR="5080" indent="-635" algn="just">
              <a:lnSpc>
                <a:spcPct val="100000"/>
              </a:lnSpc>
              <a:spcBef>
                <a:spcPts val="1320"/>
              </a:spcBef>
            </a:pPr>
            <a:r>
              <a:rPr lang="fr-FR" sz="1100" dirty="0">
                <a:highlight>
                  <a:srgbClr val="FF00FF"/>
                </a:highlight>
                <a:latin typeface="Century Gothic"/>
                <a:cs typeface="Century Gothic"/>
              </a:rPr>
              <a:t>A&amp;B</a:t>
            </a:r>
            <a:r>
              <a:rPr lang="fr-FR" sz="1100" spc="-25" dirty="0">
                <a:highlight>
                  <a:srgbClr val="FF00FF"/>
                </a:highlight>
                <a:latin typeface="Century Gothic"/>
                <a:cs typeface="Century Gothic"/>
              </a:rPr>
              <a:t> </a:t>
            </a:r>
            <a:r>
              <a:rPr lang="fr-FR" sz="1100" spc="-10" dirty="0">
                <a:highlight>
                  <a:srgbClr val="FF00FF"/>
                </a:highlight>
                <a:latin typeface="Century Gothic"/>
                <a:cs typeface="Century Gothic"/>
              </a:rPr>
              <a:t>Architectes</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s’attachera</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à</a:t>
            </a:r>
            <a:r>
              <a:rPr lang="fr-FR" sz="1100" spc="-25" dirty="0">
                <a:highlight>
                  <a:srgbClr val="FF00FF"/>
                </a:highlight>
                <a:latin typeface="Century Gothic"/>
                <a:cs typeface="Century Gothic"/>
              </a:rPr>
              <a:t> </a:t>
            </a:r>
            <a:r>
              <a:rPr lang="fr-FR" sz="1100" spc="-10" dirty="0">
                <a:highlight>
                  <a:srgbClr val="FF00FF"/>
                </a:highlight>
                <a:latin typeface="Century Gothic"/>
                <a:cs typeface="Century Gothic"/>
              </a:rPr>
              <a:t>définir</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et</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faire</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partager</a:t>
            </a:r>
            <a:r>
              <a:rPr lang="fr-FR" sz="1100" spc="-25" dirty="0">
                <a:highlight>
                  <a:srgbClr val="FF00FF"/>
                </a:highlight>
                <a:latin typeface="Century Gothic"/>
                <a:cs typeface="Century Gothic"/>
              </a:rPr>
              <a:t> </a:t>
            </a:r>
            <a:r>
              <a:rPr lang="fr-FR" sz="1100" dirty="0">
                <a:highlight>
                  <a:srgbClr val="FF00FF"/>
                </a:highlight>
                <a:latin typeface="Century Gothic"/>
                <a:cs typeface="Century Gothic"/>
              </a:rPr>
              <a:t>la</a:t>
            </a:r>
            <a:r>
              <a:rPr lang="fr-FR" sz="1100" spc="-25" dirty="0">
                <a:highlight>
                  <a:srgbClr val="FF00FF"/>
                </a:highlight>
                <a:latin typeface="Century Gothic"/>
                <a:cs typeface="Century Gothic"/>
              </a:rPr>
              <a:t> </a:t>
            </a:r>
            <a:r>
              <a:rPr lang="fr-FR" sz="1100" spc="-10" dirty="0">
                <a:highlight>
                  <a:srgbClr val="FF00FF"/>
                </a:highlight>
                <a:latin typeface="Century Gothic"/>
                <a:cs typeface="Century Gothic"/>
              </a:rPr>
              <a:t>philosophie </a:t>
            </a:r>
            <a:r>
              <a:rPr lang="fr-FR" sz="1100" dirty="0">
                <a:highlight>
                  <a:srgbClr val="FF00FF"/>
                </a:highlight>
                <a:latin typeface="Century Gothic"/>
                <a:cs typeface="Century Gothic"/>
              </a:rPr>
              <a:t>globale</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du</a:t>
            </a:r>
            <a:r>
              <a:rPr lang="fr-FR" sz="1100" spc="120" dirty="0">
                <a:highlight>
                  <a:srgbClr val="FF00FF"/>
                </a:highlight>
                <a:latin typeface="Century Gothic"/>
                <a:cs typeface="Century Gothic"/>
              </a:rPr>
              <a:t>  </a:t>
            </a:r>
            <a:r>
              <a:rPr lang="fr-FR" sz="1100" dirty="0">
                <a:highlight>
                  <a:srgbClr val="FF00FF"/>
                </a:highlight>
                <a:latin typeface="Century Gothic"/>
                <a:cs typeface="Century Gothic"/>
              </a:rPr>
              <a:t>projet</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architectural</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où</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il</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apparait</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dès</a:t>
            </a:r>
            <a:r>
              <a:rPr lang="fr-FR" sz="1100" spc="114" dirty="0">
                <a:highlight>
                  <a:srgbClr val="FF00FF"/>
                </a:highlight>
                <a:latin typeface="Century Gothic"/>
                <a:cs typeface="Century Gothic"/>
              </a:rPr>
              <a:t>  </a:t>
            </a:r>
            <a:r>
              <a:rPr lang="fr-FR" sz="1100" dirty="0">
                <a:highlight>
                  <a:srgbClr val="FF00FF"/>
                </a:highlight>
                <a:latin typeface="Century Gothic"/>
                <a:cs typeface="Century Gothic"/>
              </a:rPr>
              <a:t>à</a:t>
            </a:r>
            <a:r>
              <a:rPr lang="fr-FR" sz="1100" spc="120" dirty="0">
                <a:highlight>
                  <a:srgbClr val="FF00FF"/>
                </a:highlight>
                <a:latin typeface="Century Gothic"/>
                <a:cs typeface="Century Gothic"/>
              </a:rPr>
              <a:t>  </a:t>
            </a:r>
            <a:r>
              <a:rPr lang="fr-FR" sz="1100" spc="-10" dirty="0">
                <a:highlight>
                  <a:srgbClr val="FF00FF"/>
                </a:highlight>
                <a:latin typeface="Century Gothic"/>
                <a:cs typeface="Century Gothic"/>
              </a:rPr>
              <a:t>présent </a:t>
            </a:r>
            <a:r>
              <a:rPr lang="fr-FR" sz="1100" dirty="0">
                <a:highlight>
                  <a:srgbClr val="FF00FF"/>
                </a:highlight>
                <a:latin typeface="Century Gothic"/>
                <a:cs typeface="Century Gothic"/>
              </a:rPr>
              <a:t>important</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d’inscrire</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la</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réhabilitation</a:t>
            </a:r>
            <a:r>
              <a:rPr lang="fr-FR" sz="1100" spc="165" dirty="0">
                <a:highlight>
                  <a:srgbClr val="FF00FF"/>
                </a:highlight>
                <a:latin typeface="Century Gothic"/>
                <a:cs typeface="Century Gothic"/>
              </a:rPr>
              <a:t> </a:t>
            </a:r>
            <a:r>
              <a:rPr lang="fr-FR" sz="1100" dirty="0">
                <a:highlight>
                  <a:srgbClr val="FF00FF"/>
                </a:highlight>
                <a:latin typeface="Century Gothic"/>
                <a:cs typeface="Century Gothic"/>
              </a:rPr>
              <a:t>de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la</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résidence</a:t>
            </a:r>
            <a:r>
              <a:rPr lang="fr-FR" sz="1100" spc="-10" dirty="0">
                <a:highlight>
                  <a:srgbClr val="FF00FF"/>
                </a:highlight>
                <a:latin typeface="Century Gothic"/>
                <a:cs typeface="Century Gothic"/>
              </a:rPr>
              <a:t>, </a:t>
            </a:r>
            <a:r>
              <a:rPr lang="fr-FR" sz="1100" dirty="0">
                <a:highlight>
                  <a:srgbClr val="FF00FF"/>
                </a:highlight>
                <a:latin typeface="Century Gothic"/>
                <a:cs typeface="Century Gothic"/>
              </a:rPr>
              <a:t>dans</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une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dynamique</a:t>
            </a:r>
            <a:r>
              <a:rPr lang="fr-FR" sz="1100" spc="160" dirty="0">
                <a:highlight>
                  <a:srgbClr val="FF00FF"/>
                </a:highlight>
                <a:latin typeface="Century Gothic"/>
                <a:cs typeface="Century Gothic"/>
              </a:rPr>
              <a:t> </a:t>
            </a:r>
            <a:r>
              <a:rPr lang="fr-FR" sz="1100" dirty="0">
                <a:highlight>
                  <a:srgbClr val="FF00FF"/>
                </a:highlight>
                <a:latin typeface="Century Gothic"/>
                <a:cs typeface="Century Gothic"/>
              </a:rPr>
              <a:t>élégante</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et</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d’envergure. A</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savoir</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celle</a:t>
            </a:r>
            <a:r>
              <a:rPr lang="fr-FR" sz="1100" spc="160" dirty="0">
                <a:highlight>
                  <a:srgbClr val="FF00FF"/>
                </a:highlight>
                <a:latin typeface="Century Gothic"/>
                <a:cs typeface="Century Gothic"/>
              </a:rPr>
              <a:t> </a:t>
            </a:r>
            <a:r>
              <a:rPr lang="fr-FR" sz="1100" spc="-25" dirty="0">
                <a:highlight>
                  <a:srgbClr val="FF00FF"/>
                </a:highlight>
                <a:latin typeface="Century Gothic"/>
                <a:cs typeface="Century Gothic"/>
              </a:rPr>
              <a:t>des </a:t>
            </a:r>
            <a:r>
              <a:rPr lang="fr-FR" sz="1100" dirty="0">
                <a:highlight>
                  <a:srgbClr val="FF00FF"/>
                </a:highlight>
                <a:latin typeface="Century Gothic"/>
                <a:cs typeface="Century Gothic"/>
              </a:rPr>
              <a:t>caractéristiques</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et</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ambitions</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d’un</a:t>
            </a:r>
            <a:r>
              <a:rPr lang="fr-FR" sz="1100" spc="155" dirty="0">
                <a:highlight>
                  <a:srgbClr val="FF00FF"/>
                </a:highlight>
                <a:latin typeface="Century Gothic"/>
                <a:cs typeface="Century Gothic"/>
              </a:rPr>
              <a:t> </a:t>
            </a:r>
            <a:r>
              <a:rPr lang="fr-FR" sz="1100" dirty="0">
                <a:highlight>
                  <a:srgbClr val="FF00FF"/>
                </a:highlight>
                <a:latin typeface="Century Gothic"/>
                <a:cs typeface="Century Gothic"/>
              </a:rPr>
              <a:t>habitat.</a:t>
            </a:r>
          </a:p>
        </p:txBody>
      </p:sp>
    </p:spTree>
    <p:extLst>
      <p:ext uri="{BB962C8B-B14F-4D97-AF65-F5344CB8AC3E}">
        <p14:creationId xmlns:p14="http://schemas.microsoft.com/office/powerpoint/2010/main" val="757275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276</TotalTime>
  <Words>2105</Words>
  <Application>Microsoft Macintosh PowerPoint</Application>
  <PresentationFormat>Personnalisé</PresentationFormat>
  <Paragraphs>186</Paragraphs>
  <Slides>6</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6</vt:i4>
      </vt:variant>
    </vt:vector>
  </HeadingPairs>
  <TitlesOfParts>
    <vt:vector size="9" baseType="lpstr">
      <vt:lpstr>Calibri</vt:lpstr>
      <vt:lpstr>Century Gothic</vt:lpstr>
      <vt:lpstr>Office Theme</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noelle.hays</dc:creator>
  <cp:lastModifiedBy>Fatima Meghit</cp:lastModifiedBy>
  <cp:revision>36</cp:revision>
  <dcterms:created xsi:type="dcterms:W3CDTF">2025-10-14T15:42:31Z</dcterms:created>
  <dcterms:modified xsi:type="dcterms:W3CDTF">2025-11-03T20:07:49Z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2025-10-14T00:00:00Z</vt:filetime>
  </property>
  <property fmtid="{D5CDD505-2E9C-101B-9397-08002B2CF9AE}" pid="3" name="Creator">
    <vt:lpwstr>Adobe InDesign 20.5 (Windows)</vt:lpwstr>
  </property>
  <property fmtid="{D5CDD505-2E9C-101B-9397-08002B2CF9AE}" pid="4" name="LastSaved">
    <vt:filetime>2025-10-14T00:00:00Z</vt:filetime>
  </property>
  <property fmtid="{D5CDD505-2E9C-101B-9397-08002B2CF9AE}" pid="5" name="Producer">
    <vt:lpwstr>Adobe PDF Library 17.0</vt:lpwstr>
  </property>
</Properties>
</file>